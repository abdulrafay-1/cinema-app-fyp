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4"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a56f6c4-d14d-ba85-faeb-c4c68601b684}">
          <p14:sldIdLst>
            <p14:sldId id="256"/>
            <p14:sldId id="257"/>
            <p14:sldId id="258"/>
            <p14:sldId id="259"/>
            <p14:sldId id="260"/>
            <p14:sldId id="261"/>
            <p14:sldId id="262"/>
          </p14:sldIdLst>
        </p14:section>
        <p14:section name="Customer website" id="{70c65106-f2c1-7930-7d88-9591386b671b}">
          <p14:sldIdLst>
            <p14:sldId id="263"/>
            <p14:sldId id="264"/>
            <p14:sldId id="265"/>
            <p14:sldId id="266"/>
            <p14:sldId id="267"/>
            <p14:sldId id="268"/>
            <p14:sldId id="269"/>
            <p14:sldId id="270"/>
            <p14:sldId id="271"/>
            <p14:sldId id="272"/>
            <p14:sldId id="273"/>
            <p14:sldId id="274"/>
          </p14:sldIdLst>
        </p14:section>
        <p14:section name="Admin panel" id="{13ccf124-e058-3621-e994-d7a3c923989f}">
          <p14:sldIdLst>
            <p14:sldId id="275"/>
            <p14:sldId id="276"/>
            <p14:sldId id="277"/>
            <p14:sldId id="278"/>
            <p14:sldId id="279"/>
            <p14:sldId id="280"/>
            <p14:sldId id="281"/>
            <p14:sldId id="282"/>
            <p14:sldId id="283"/>
            <p14:sldId id="284"/>
            <p14:sldId id="285"/>
          </p14:sldIdLst>
        </p14:section>
        <p14:section name="Engineering" id="{21583986-84d7-448c-708b-796a4b40ddce}">
          <p14:sldIdLst>
            <p14:sldId id="286"/>
            <p14:sldId id="287"/>
            <p14:sldId id="288"/>
            <p14:sldId id="289"/>
            <p14:sldId id="290"/>
          </p14:sldIdLst>
        </p14:section>
        <p14:section name="Conclusion" id="{9b194ab8-3ac9-0116-6e21-3dd2dc7fc5d8}">
          <p14:sldIdLst>
            <p14:sldId id="291"/>
            <p14:sldId id="292"/>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500" b="0" i="0" u="none" strike="noStrike" kern="1200" baseline="0">
                <a:solidFill>
                  <a:srgbClr val="FFFFFF"/>
                </a:solidFill>
                <a:latin typeface="+mn-lt"/>
                <a:ea typeface="+mn-ea"/>
                <a:cs typeface="+mn-cs"/>
              </a:defRPr>
            </a:pPr>
            <a:r>
              <a:rPr sz="1500" b="0" i="0" u="none" strike="noStrike">
                <a:solidFill>
                  <a:srgbClr val="FFFFFF"/>
                </a:solidFill>
                <a:latin typeface="+mn-lt"/>
              </a:rPr>
              <a:t>Top 5 movies by revenue (PKR)</a:t>
            </a:r>
            <a:endParaRPr sz="1500" b="0" i="0" u="none" strike="noStrike">
              <a:solidFill>
                <a:srgbClr val="FFFFFF"/>
              </a:solidFill>
              <a:latin typeface="+mn-lt"/>
            </a:endParaRPr>
          </a:p>
        </c:rich>
      </c:tx>
      <c:layout/>
      <c:overlay val="0"/>
    </c:title>
    <c:autoTitleDeleted val="0"/>
    <c:plotArea>
      <c:layout/>
      <c:barChart>
        <c:barDir val="bar"/>
        <c:grouping val="clustered"/>
        <c:varyColors val="0"/>
        <c:ser>
          <c:idx val="0"/>
          <c:order val="0"/>
          <c:tx>
            <c:strRef>
              <c:f>Sheet1!$B$1</c:f>
              <c:strCache>
                <c:ptCount val="1"/>
                <c:pt idx="0">
                  <c:v>Revenue (PKR)</c:v>
                </c:pt>
              </c:strCache>
            </c:strRef>
          </c:tx>
          <c:spPr>
            <a:solidFill>
              <a:srgbClr val="FF4F9A"/>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FFFFFF"/>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Resident Evil</c:v>
                </c:pt>
                <c:pt idx="1">
                  <c:v>Runner</c:v>
                </c:pt>
                <c:pt idx="2">
                  <c:v>The Fix</c:v>
                </c:pt>
                <c:pt idx="3">
                  <c:v>Gandhari</c:v>
                </c:pt>
                <c:pt idx="4">
                  <c:v>Verity</c:v>
                </c:pt>
              </c:strCache>
            </c:strRef>
          </c:cat>
          <c:val>
            <c:numRef>
              <c:f>Sheet1!$B$2:$B$6</c:f>
              <c:numCache>
                <c:formatCode>General</c:formatCode>
                <c:ptCount val="5"/>
                <c:pt idx="0">
                  <c:v>18150</c:v>
                </c:pt>
                <c:pt idx="1">
                  <c:v>15800</c:v>
                </c:pt>
                <c:pt idx="2">
                  <c:v>12440</c:v>
                </c:pt>
                <c:pt idx="3">
                  <c:v>8400</c:v>
                </c:pt>
                <c:pt idx="4">
                  <c:v>5440</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A9ABB8"/>
                </a:solidFill>
                <a:latin typeface="+mn-lt"/>
                <a:ea typeface="+mn-ea"/>
                <a:cs typeface="+mn-cs"/>
              </a:defRPr>
            </a:pPr>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txPr>
          <a:bodyPr rot="-60000000" spcFirstLastPara="0" vertOverflow="ellipsis" vert="horz" wrap="square" anchor="ctr" anchorCtr="1"/>
          <a:lstStyle/>
          <a:p>
            <a:pPr>
              <a:defRPr lang="en-US" sz="1100" b="0" i="0" u="none" strike="noStrike" kern="1200" baseline="0">
                <a:solidFill>
                  <a:srgbClr val="A9ABB8"/>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e5e9f250-cbbb-4ae1-ab0a-c32870a9a2bf}"/>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500" b="0" i="0" u="none" strike="noStrike" kern="1200" baseline="0">
                <a:solidFill>
                  <a:srgbClr val="FFFFFF"/>
                </a:solidFill>
                <a:latin typeface="+mn-lt"/>
                <a:ea typeface="+mn-ea"/>
                <a:cs typeface="+mn-cs"/>
              </a:defRPr>
            </a:pPr>
            <a:r>
              <a:rPr sz="1500" b="0" i="0" u="none" strike="noStrike">
                <a:solidFill>
                  <a:srgbClr val="FFFFFF"/>
                </a:solidFill>
                <a:latin typeface="+mn-lt"/>
              </a:rPr>
              <a:t>26 bookings by status</a:t>
            </a:r>
            <a:endParaRPr sz="1500" b="0" i="0" u="none" strike="noStrike">
              <a:solidFill>
                <a:srgbClr val="FFFFFF"/>
              </a:solidFill>
              <a:latin typeface="+mn-lt"/>
            </a:endParaRPr>
          </a:p>
        </c:rich>
      </c:tx>
      <c:layout/>
      <c:overlay val="0"/>
    </c:title>
    <c:autoTitleDeleted val="0"/>
    <c:plotArea>
      <c:layout/>
      <c:doughnutChart>
        <c:varyColors val="1"/>
        <c:ser>
          <c:idx val="0"/>
          <c:order val="0"/>
          <c:tx>
            <c:strRef>
              <c:f>Sheet1!$B$1</c:f>
              <c:strCache>
                <c:ptCount val="1"/>
                <c:pt idx="0">
                  <c:v>Bookings</c:v>
                </c:pt>
              </c:strCache>
            </c:strRef>
          </c:tx>
          <c:spPr>
            <a:solidFill>
              <a:schemeClr val="accent1"/>
            </a:solidFill>
            <a:ln w="9525" cap="flat">
              <a:solidFill>
                <a:srgbClr val="F9F9F9"/>
              </a:solidFill>
              <a:prstDash val="solid"/>
              <a:round/>
            </a:ln>
            <a:effectLst/>
          </c:spPr>
          <c:explosion val="0"/>
          <c:dPt>
            <c:idx val="0"/>
            <c:bubble3D val="0"/>
            <c:spPr>
              <a:solidFill>
                <a:srgbClr val="22C55E"/>
              </a:solidFill>
              <a:effectLst/>
            </c:spPr>
          </c:dPt>
          <c:dPt>
            <c:idx val="1"/>
            <c:bubble3D val="0"/>
            <c:spPr>
              <a:solidFill>
                <a:srgbClr val="3B82F6"/>
              </a:solidFill>
              <a:effectLst/>
            </c:spPr>
          </c:dPt>
          <c:dPt>
            <c:idx val="2"/>
            <c:bubble3D val="0"/>
            <c:spPr>
              <a:solidFill>
                <a:srgbClr val="FF4F9A"/>
              </a:solidFill>
              <a:effectLst/>
            </c:spPr>
          </c:dPt>
          <c:dLbls>
            <c:dLbl>
              <c:idx val="0"/>
              <c:layout/>
              <c:numFmt formatCode="General" sourceLinked="0"/>
              <c:spPr>
                <a:noFill/>
                <a:ln>
                  <a:noFill/>
                </a:ln>
                <a:effectLst/>
              </c:spPr>
              <c:txPr>
                <a:bodyPr rot="0" spcFirstLastPara="0" vertOverflow="ellipsis" vert="horz" wrap="square" lIns="38100" tIns="19050" rIns="38100" bIns="19050" anchor="ctr" anchorCtr="1"/>
                <a:lstStyle/>
                <a:p>
                  <a:pPr>
                    <a:defRPr lang="en-US" sz="1300" b="0" i="0" u="none" strike="noStrike" kern="1200" baseline="0">
                      <a:solidFill>
                        <a:srgbClr val="FFFFFF"/>
                      </a:solidFill>
                      <a:latin typeface="+mn-lt"/>
                      <a:ea typeface="+mn-ea"/>
                      <a:cs typeface="+mn-cs"/>
                    </a:defRPr>
                  </a:pPr>
                </a:p>
              </c:txPr>
              <c:showLegendKey val="0"/>
              <c:showVal val="1"/>
              <c:showCatName val="0"/>
              <c:showSerName val="0"/>
              <c:showPercent val="0"/>
              <c:showBubbleSize val="0"/>
              <c:extLst>
                <c:ext xmlns:c15="http://schemas.microsoft.com/office/drawing/2012/chart" uri="{CE6537A1-D6FC-4f65-9D91-7224C49458BB}"/>
              </c:extLst>
            </c:dLbl>
            <c:dLbl>
              <c:idx val="1"/>
              <c:layout/>
              <c:numFmt formatCode="General" sourceLinked="0"/>
              <c:spPr>
                <a:noFill/>
                <a:ln>
                  <a:noFill/>
                </a:ln>
                <a:effectLst/>
              </c:spPr>
              <c:txPr>
                <a:bodyPr rot="0" spcFirstLastPara="0" vertOverflow="ellipsis" vert="horz" wrap="square" lIns="38100" tIns="19050" rIns="38100" bIns="19050" anchor="ctr" anchorCtr="1"/>
                <a:lstStyle/>
                <a:p>
                  <a:pPr>
                    <a:defRPr lang="en-US" sz="1300" b="0" i="0" u="none" strike="noStrike" kern="1200" baseline="0">
                      <a:solidFill>
                        <a:srgbClr val="FFFFFF"/>
                      </a:solidFill>
                      <a:latin typeface="+mn-lt"/>
                      <a:ea typeface="+mn-ea"/>
                      <a:cs typeface="+mn-cs"/>
                    </a:defRPr>
                  </a:pPr>
                </a:p>
              </c:txPr>
              <c:showLegendKey val="0"/>
              <c:showVal val="1"/>
              <c:showCatName val="0"/>
              <c:showSerName val="0"/>
              <c:showPercent val="0"/>
              <c:showBubbleSize val="0"/>
              <c:extLst>
                <c:ext xmlns:c15="http://schemas.microsoft.com/office/drawing/2012/chart" uri="{CE6537A1-D6FC-4f65-9D91-7224C49458BB}"/>
              </c:extLst>
            </c:dLbl>
            <c:dLbl>
              <c:idx val="2"/>
              <c:layout/>
              <c:numFmt formatCode="General" sourceLinked="0"/>
              <c:spPr>
                <a:noFill/>
                <a:ln>
                  <a:noFill/>
                </a:ln>
                <a:effectLst/>
              </c:spPr>
              <c:txPr>
                <a:bodyPr rot="0" spcFirstLastPara="0" vertOverflow="ellipsis" vert="horz" wrap="square" lIns="38100" tIns="19050" rIns="38100" bIns="19050" anchor="ctr" anchorCtr="1"/>
                <a:lstStyle/>
                <a:p>
                  <a:pPr>
                    <a:defRPr lang="en-US" sz="1300" b="0" i="0" u="none" strike="noStrike" kern="1200" baseline="0">
                      <a:solidFill>
                        <a:srgbClr val="FFFFFF"/>
                      </a:solidFill>
                      <a:latin typeface="+mn-lt"/>
                      <a:ea typeface="+mn-ea"/>
                      <a:cs typeface="+mn-cs"/>
                    </a:defRPr>
                  </a:pPr>
                </a:p>
              </c:txPr>
              <c:showLegendKey val="0"/>
              <c:showVal val="1"/>
              <c:showCatName val="0"/>
              <c:showSerName val="0"/>
              <c:showPercent val="0"/>
              <c:showBubbleSize val="0"/>
              <c:extLst>
                <c:ext xmlns:c15="http://schemas.microsoft.com/office/drawing/2012/chart" uri="{CE6537A1-D6FC-4f65-9D91-7224C49458BB}"/>
              </c:extLst>
            </c:dLbl>
            <c:numFmt formatCode="General"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rgbClr val="000000"/>
                    </a:solidFill>
                    <a:latin typeface="Arial" panose="020B0604020202020204"/>
                    <a:ea typeface="+mn-ea"/>
                    <a:cs typeface="+mn-cs"/>
                  </a:defRPr>
                </a:pPr>
              </a:p>
            </c:txP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Sheet1!$A$2:$A$4</c:f>
              <c:strCache>
                <c:ptCount val="3"/>
                <c:pt idx="0">
                  <c:v>Booked</c:v>
                </c:pt>
                <c:pt idx="1">
                  <c:v>Used (checked in)</c:v>
                </c:pt>
                <c:pt idx="2">
                  <c:v>Cancelled</c:v>
                </c:pt>
              </c:strCache>
            </c:strRef>
          </c:cat>
          <c:val>
            <c:numRef>
              <c:f>Sheet1!$B$2:$B$4</c:f>
              <c:numCache>
                <c:formatCode>General</c:formatCode>
                <c:ptCount val="3"/>
                <c:pt idx="0">
                  <c:v>14</c:v>
                </c:pt>
                <c:pt idx="1">
                  <c:v>8</c:v>
                </c:pt>
                <c:pt idx="2">
                  <c:v>4</c:v>
                </c:pt>
              </c:numCache>
            </c:numRef>
          </c:val>
        </c:ser>
        <c:dLbls>
          <c:showLegendKey val="0"/>
          <c:showVal val="0"/>
          <c:showCatName val="1"/>
          <c:showSerName val="0"/>
          <c:showPercent val="1"/>
          <c:showBubbleSize val="0"/>
          <c:showLeaderLines val="1"/>
        </c:dLbls>
        <c:firstSliceAng val="0"/>
        <c:holeSize val="55"/>
      </c:doughnutChart>
      <c:spPr>
        <a:noFill/>
        <a:ln>
          <a:noFill/>
        </a:ln>
        <a:effectLst/>
      </c:spPr>
    </c:plotArea>
    <c:legend>
      <c:legendPos val="b"/>
      <c:layout/>
      <c:overlay val="0"/>
      <c:txPr>
        <a:bodyPr rot="0" spcFirstLastPara="0" vertOverflow="ellipsis" vert="horz" wrap="square" anchor="ctr" anchorCtr="1"/>
        <a:lstStyle/>
        <a:p>
          <a:pPr>
            <a:defRPr lang="en-US" sz="1200" b="0" i="0" u="none" strike="noStrike" kern="1200" baseline="0">
              <a:solidFill>
                <a:srgbClr val="FFFFFF"/>
              </a:solidFill>
              <a:latin typeface="+mn-lt"/>
              <a:ea typeface="+mn-ea"/>
              <a:cs typeface="+mn-lt"/>
            </a:defRPr>
          </a:pPr>
        </a:p>
      </c:txPr>
    </c:legend>
    <c:plotVisOnly val="1"/>
    <c:dispBlanksAs val="span"/>
    <c:showDLblsOverMax val="0"/>
    <c:extLst>
      <c:ext uri="{0b15fc19-7d7d-44ad-8c2d-2c3a37ce22c3}">
        <chartProps xmlns="https://web.wps.cn/et/2018/main" chartId="{d2d672f9-7731-4fb2-a8f6-a3576c5e326c}"/>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Abdul Rafay and Umair, and our final year project is CineMax Karachi: an online movie ticket booking system for cinemas in Karachi. In the next few minutes we will show the problem, how the system is built, a walk through every customer and admin feature, and how we kept bookings safe and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for the presentation: the problem, the design, the customer side, the admin side, the engineering decisions, and then our conclusion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most cinema tickets in Karachi are still bought at a counter. You cannot pick your seat, queues are long, and the admin side is manual. Our objectives were to move the whole journey online, make double booking impossible, support local payment methods, and give staff a proper admin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CineMax Karachi is two applications on one shared MariaDB database: the customer website and the admin panel. The numbers on the right are from the actual project: 21 tables, 83 PHP files, 96 seats per hall in three classes, and a five minute seat hold during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 classic, proven web stack. PHP on the server, MariaDB for data, Bootstrap for the interface, and small JavaScript for interactive parts like the seat map. Chart.js powers the dashboard, qrcode.js draws the ticket QR and html5-qrcode lets staff scan it with a camera. The movie catalog comes from the TMDB API, and Docker or XAMPP runs everything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classic server-side architecture. The browser requests a PHP page; the page uses our shared helpers in the includes folder, which talk to MariaDB using prepared statements, and the page returns HTML. Small AJAX endpoints handle interactive parts like holding seats and live search. The admin panel is a separate set of pages protected by auth.php. The catalog is loaded from TMDB by a command-line seeder, which also downloads posters.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has 21 tables in four groups. addmovie is the centre of the catalog. A show is one screening of a movie in a cinema hall. booking_details holds one booking and keeps copies of the movie name and date so old tickets never change. Seats being bought go into seat_holds, sold seats into booking_seats; both have a unique key on show and seat, so the database itself refuses a double booking. All schema changes were made through numbered migration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will walk through the customer journey, in the same order a real customer would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booking journey: browse, pick a show, choose seats, checkout with snacks and promo codes, pay, and receive the e-ticket. Each of the next slides shows one of these steps from the running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page opens with a slider of now-showing movies using real TMDB backdrops, ratings and runtimes, with a Book Now button. Below it, movie cards show rating and the next show. Hollywood, Bollywood and Lollywood have their own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works as you type: an AJAX endpoint returns matching movies with posters, and you can use the arrow keys and Enter. The filters for genre, language and cinema can be combined. A cinema filter only lists movies that actually have upcoming shows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movie page shows all details in one card, the trailer, the TMDB rating next to our own audience rating, and the upcoming shows. Logged-in users can write one review per movie, which they can edit or delete, and add the movie to favorites.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clicking Book, the customer picks a date and a showtime. Showtimes are grouped by cinema and show the hall and seats left. The three seat class prices are visible before they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seat map. The screen is at the top, and the colours show the three classes. When you click seats they turn green and the total updates live. Pressing Continue holds the seats for five minutes, so another customer looking at the same show sees them as on hold and cannot click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checkout the customer adds snacks and applies a promo code. Here EID20 gives twenty percent off: tickets plus snacks minus discount. The countdown in the corner shows how long the seats remain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is a realistic demo. Card payment formats the number as you type; JazzCash and Easypaisa use a mobile number and an OTP. When the payment succeeds, finalize_booking saves the booking, seats, snacks, promo usage and loyalty points inside one database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payment the customer gets an e-ticket with a reference like CNX-2026-00001 and a QR code. The QR contains only the reference, no personal data. The ticket can be printed or saved as PDF, and only its owner can open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Bookings groups bookings into upcoming, past and cancelled. A customer can cancel an upcoming booking; the refund is calculated automatically: one hundred percent if it is at least 24 hours before the show, fifty percent otherwise. The seats are released and the refund waits for admin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account also has a profile page with photo upload and password change, a favorites list, and the Coming Soon section on the home page, which is managed from the admin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admin side. Every admin page is protected by auth.php, which redirects to the login page if no admin is signed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login is separate from customer accounts. After login, every admin page, including delete handlers, starts with auth.php, so nothing can be viewed or changed without an admin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shows live numbers straight from the database: total revenue, tickets sold, cancellations, refunds and users, plus four charts and the most recent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charts use the actual demo data in our database at the time of this presentation: the five highest earning movies, and the 26 bookings split into booked, checked in and cancelled. Together they made PKR 84,950 in net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manage the catalog: movies with poster, trailer and description, the lookup tables, and the three seat prices per movie. To have realistic data we wrote a TMDB seeder that loads the current now-playing movies with their posters and trailers.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Shows page schedules screenings. It checks for clashes in the same hall and time, shows occupancy for each show, and refuses to delete a show that already has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Bookings lists every booking with filters and a details view. When a customer cancels, the refund appears under Pending. The admin approves it, or rejects it with a reason, and the customer sees the result in My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entrance staff open the scanner and point the camera at the ticket. A valid ticket is checked in and marked as used. Scanning it again shows Already Used, and cancelled or fake references are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summarise sales for any date range and can be filtered by movie or cinema. They can be exported as CSV for Excel or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also manage the snack menu, promo codes with usage limits and expiry dates, and the Coming Soon list shown on the home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users page shows each customer with points and bookings and lets the admin block them. Reviews can be hidden, which also removes them from the average rating. The activity log records every admin change for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engineering decisions that make the system reliable and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booking is prevented in three layers. First, seat holds with a unique key, so even if two requests arrive at the same moment the database accepts only one. Second, holds expire after five minutes. Third, payment moves the seats into booking_seats, which also has a unique key, inside a transaction, so either the whole booking is saved or nothing is. We tested this with two users racing for the same seat.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part of every page we wrote. Prepared statements stop SQL injection, the e function escapes output against XSS, CSRF tokens protect every form, auth.php guards the admin panel, uploads are checked to be real images with random names, and we store only the last four card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business rules the system enforces. Refunds are 100 percent at least 24 hours before the show and 50 percent after that, and no cancellation once the show starts. One loyalty point per hundred rupees, and at most ten seats per booking. All money is whole rupees, and this is the formula with a real example from our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every feature end to end, on both XAMPP with PHP 8.2 and Docker with PHP 7.4. Each of us tested the other person's features. These are the main scenarios; all passed, and the security tests confirmed that script injection and unauthenticated admin access are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how we split the work, what we would improve next, and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Rafay built the booking engine: the database, shows, seat holds, checkout, payment, tickets, the scanner, refunds, the dashboard and reports. Umair built the admin management pages and the customer account features. We worked in one repository with clear file ownership, so we never overwrote each other's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CineMax Karachi brings the full cinema experience online, from browsing to scanning the ticket at the door, with double booking made impossible by the database itself. The demo logins are on the slide if you would like to try it.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2148840"/>
            <a:ext cx="6949440" cy="1737360"/>
          </a:xfrm>
          <a:prstGeom prst="rect">
            <a:avLst/>
          </a:prstGeom>
          <a:noFill/>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p:nvPr>
            <p:ph type="body" idx="101" hasCustomPrompt="1"/>
          </p:nvPr>
        </p:nvSpPr>
        <p:spPr>
          <a:xfrm>
            <a:off x="548640" y="4023360"/>
            <a:ext cx="6583680" cy="914400"/>
          </a:xfrm>
          <a:prstGeom prst="rect">
            <a:avLst/>
          </a:prstGeom>
          <a:noFill/>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2788920"/>
            <a:ext cx="5852160" cy="1097280"/>
          </a:xfrm>
          <a:prstGeom prst="rect">
            <a:avLst/>
          </a:prstGeom>
          <a:noFill/>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p:nvPr>
            <p:ph type="body" idx="101" hasCustomPrompt="1"/>
          </p:nvPr>
        </p:nvSpPr>
        <p:spPr>
          <a:xfrm>
            <a:off x="548640" y="3931920"/>
            <a:ext cx="5669280" cy="1097280"/>
          </a:xfrm>
          <a:prstGeom prst="rect">
            <a:avLst/>
          </a:prstGeom>
          <a:noFill/>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p:nvPr/>
        </p:nvSpPr>
        <p:spPr>
          <a:xfrm>
            <a:off x="548640" y="6400800"/>
            <a:ext cx="5486400" cy="274320"/>
          </a:xfrm>
          <a:prstGeom prst="rect">
            <a:avLst/>
          </a:prstGeom>
          <a:noFill/>
        </p:spPr>
        <p:txBody>
          <a:bodyPr wrap="square" lIns="0" tIns="0" rIns="0" bIns="0" rtlCol="0" anchor="ctr"/>
          <a:lstStyle/>
          <a:p>
            <a:pPr marL="0" indent="0">
              <a:buNone/>
            </a:pPr>
            <a:r>
              <a:rPr lang="en-US" sz="1000" dirty="0">
                <a:solidFill>
                  <a:schemeClr val="bg2"/>
                </a:solidFill>
              </a:rPr>
              <a:t>CineMax Karachi  |  Final Year Project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4.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2" Type="http://schemas.openxmlformats.org/officeDocument/2006/relationships/notesSlide" Target="../notesSlides/notesSlide5.xml"/><Relationship Id="rId11" Type="http://schemas.openxmlformats.org/officeDocument/2006/relationships/slideLayout" Target="../slideLayouts/slideLayout4.xml"/><Relationship Id="rId10" Type="http://schemas.openxmlformats.org/officeDocument/2006/relationships/image" Target="../media/image22.png"/><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4.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25.jpe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4.xml"/><Relationship Id="rId7" Type="http://schemas.openxmlformats.org/officeDocument/2006/relationships/image" Target="../media/image19.png"/><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0.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4.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4.xml"/><Relationship Id="rId4" Type="http://schemas.openxmlformats.org/officeDocument/2006/relationships/image" Target="../media/image28.png"/><Relationship Id="rId3" Type="http://schemas.openxmlformats.org/officeDocument/2006/relationships/image" Target="../media/image34.png"/><Relationship Id="rId2" Type="http://schemas.openxmlformats.org/officeDocument/2006/relationships/image" Target="../media/image26.png"/><Relationship Id="rId1" Type="http://schemas.openxmlformats.org/officeDocument/2006/relationships/image" Target="../media/image33.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4.xml"/><Relationship Id="rId4" Type="http://schemas.openxmlformats.org/officeDocument/2006/relationships/image" Target="../media/image37.png"/><Relationship Id="rId3" Type="http://schemas.openxmlformats.org/officeDocument/2006/relationships/image" Target="../media/image31.png"/><Relationship Id="rId2" Type="http://schemas.openxmlformats.org/officeDocument/2006/relationships/image" Target="../media/image36.png"/><Relationship Id="rId1" Type="http://schemas.openxmlformats.org/officeDocument/2006/relationships/image" Target="../media/image35.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4.xml"/><Relationship Id="rId4" Type="http://schemas.openxmlformats.org/officeDocument/2006/relationships/image" Target="../media/image39.png"/><Relationship Id="rId3" Type="http://schemas.openxmlformats.org/officeDocument/2006/relationships/image" Target="../media/image9.png"/><Relationship Id="rId2" Type="http://schemas.openxmlformats.org/officeDocument/2006/relationships/image" Target="../media/image28.png"/><Relationship Id="rId1" Type="http://schemas.openxmlformats.org/officeDocument/2006/relationships/image" Target="../media/image38.jpe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10.png"/><Relationship Id="rId1" Type="http://schemas.openxmlformats.org/officeDocument/2006/relationships/image" Target="../media/image40.jpe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29.png"/><Relationship Id="rId1" Type="http://schemas.openxmlformats.org/officeDocument/2006/relationships/image" Target="../media/image43.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4.xml"/><Relationship Id="rId4" Type="http://schemas.openxmlformats.org/officeDocument/2006/relationships/image" Target="../media/image15.png"/><Relationship Id="rId3" Type="http://schemas.openxmlformats.org/officeDocument/2006/relationships/image" Target="../media/image47.png"/><Relationship Id="rId2" Type="http://schemas.openxmlformats.org/officeDocument/2006/relationships/image" Target="../media/image30.png"/><Relationship Id="rId1" Type="http://schemas.openxmlformats.org/officeDocument/2006/relationships/image" Target="../media/image46.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4.xml"/><Relationship Id="rId4" Type="http://schemas.openxmlformats.org/officeDocument/2006/relationships/image" Target="../media/image49.png"/><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image" Target="../media/image48.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4.xml"/><Relationship Id="rId4" Type="http://schemas.openxmlformats.org/officeDocument/2006/relationships/image" Target="../media/image8.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jpe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56.jpeg"/><Relationship Id="rId4" Type="http://schemas.openxmlformats.org/officeDocument/2006/relationships/image" Target="../media/image37.png"/><Relationship Id="rId3" Type="http://schemas.openxmlformats.org/officeDocument/2006/relationships/image" Target="../media/image55.jpeg"/><Relationship Id="rId2" Type="http://schemas.openxmlformats.org/officeDocument/2006/relationships/image" Target="../media/image54.png"/><Relationship Id="rId1" Type="http://schemas.openxmlformats.org/officeDocument/2006/relationships/image" Target="../media/image5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57.jpe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jpe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4.xml"/><Relationship Id="rId3" Type="http://schemas.openxmlformats.org/officeDocument/2006/relationships/image" Target="../media/image61.jpeg"/><Relationship Id="rId2" Type="http://schemas.openxmlformats.org/officeDocument/2006/relationships/image" Target="../media/image18.png"/><Relationship Id="rId1" Type="http://schemas.openxmlformats.org/officeDocument/2006/relationships/image" Target="../media/image57.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4.xml"/><Relationship Id="rId2" Type="http://schemas.openxmlformats.org/officeDocument/2006/relationships/chart" Target="../charts/chart2.xml"/><Relationship Id="rId1" Type="http://schemas.openxmlformats.org/officeDocument/2006/relationships/chart" Target="../charts/chart1.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9.png"/><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image" Target="../media/image62.jpe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8.png"/><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image" Target="../media/image63.jpe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4.xml"/><Relationship Id="rId4" Type="http://schemas.openxmlformats.org/officeDocument/2006/relationships/image" Target="../media/image52.png"/><Relationship Id="rId3" Type="http://schemas.openxmlformats.org/officeDocument/2006/relationships/image" Target="../media/image65.jpeg"/><Relationship Id="rId2" Type="http://schemas.openxmlformats.org/officeDocument/2006/relationships/image" Target="../media/image51.png"/><Relationship Id="rId1" Type="http://schemas.openxmlformats.org/officeDocument/2006/relationships/image" Target="../media/image64.jpe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3.png"/><Relationship Id="rId3" Type="http://schemas.openxmlformats.org/officeDocument/2006/relationships/image" Target="../media/image8.png"/><Relationship Id="rId2" Type="http://schemas.openxmlformats.org/officeDocument/2006/relationships/image" Target="../media/image67.png"/><Relationship Id="rId1" Type="http://schemas.openxmlformats.org/officeDocument/2006/relationships/image" Target="../media/image66.jpeg"/></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69.png"/><Relationship Id="rId3" Type="http://schemas.openxmlformats.org/officeDocument/2006/relationships/image" Target="../media/image18.png"/><Relationship Id="rId2" Type="http://schemas.openxmlformats.org/officeDocument/2006/relationships/image" Target="../media/image28.png"/><Relationship Id="rId1" Type="http://schemas.openxmlformats.org/officeDocument/2006/relationships/image" Target="../media/image68.jpe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72.jpeg"/><Relationship Id="rId4" Type="http://schemas.openxmlformats.org/officeDocument/2006/relationships/image" Target="../media/image44.png"/><Relationship Id="rId3" Type="http://schemas.openxmlformats.org/officeDocument/2006/relationships/image" Target="../media/image71.jpeg"/><Relationship Id="rId2" Type="http://schemas.openxmlformats.org/officeDocument/2006/relationships/image" Target="../media/image29.png"/><Relationship Id="rId1" Type="http://schemas.openxmlformats.org/officeDocument/2006/relationships/image" Target="../media/image70.jpeg"/></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75.jpeg"/><Relationship Id="rId4" Type="http://schemas.openxmlformats.org/officeDocument/2006/relationships/image" Target="../media/image31.png"/><Relationship Id="rId3" Type="http://schemas.openxmlformats.org/officeDocument/2006/relationships/image" Target="../media/image74.jpeg"/><Relationship Id="rId2" Type="http://schemas.openxmlformats.org/officeDocument/2006/relationships/image" Target="../media/image23.png"/><Relationship Id="rId1" Type="http://schemas.openxmlformats.org/officeDocument/2006/relationships/image" Target="../media/image73.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image" Target="../media/image46.jpe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4.xml"/><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image" Target="../media/image42.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77.png"/><Relationship Id="rId4" Type="http://schemas.openxmlformats.org/officeDocument/2006/relationships/image" Target="../media/image6.png"/><Relationship Id="rId3" Type="http://schemas.openxmlformats.org/officeDocument/2006/relationships/image" Target="../media/image59.png"/><Relationship Id="rId2" Type="http://schemas.openxmlformats.org/officeDocument/2006/relationships/image" Target="../media/image76.png"/><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image" Target="../media/image48.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4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CineMax Karachi home page"/>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chemeClr val="tx1">
              <a:alpha val="94000"/>
            </a:schemeClr>
          </a:solidFill>
          <a:ln w="12700">
            <a:solidFill>
              <a:srgbClr val="14151B"/>
            </a:solidFill>
            <a:prstDash val="solid"/>
          </a:ln>
        </p:spPr>
      </p:sp>
      <p:sp>
        <p:nvSpPr>
          <p:cNvPr id="4" name="Shape 1"/>
          <p:cNvSpPr/>
          <p:nvPr/>
        </p:nvSpPr>
        <p:spPr>
          <a:xfrm>
            <a:off x="548640" y="1143000"/>
            <a:ext cx="731520" cy="731520"/>
          </a:xfrm>
          <a:prstGeom prst="ellipse">
            <a:avLst/>
          </a:prstGeom>
          <a:solidFill>
            <a:schemeClr val="accent1"/>
          </a:solidFill>
          <a:ln w="12700">
            <a:solidFill>
              <a:schemeClr val="accent1"/>
            </a:solidFill>
            <a:prstDash val="solid"/>
          </a:ln>
        </p:spPr>
      </p:sp>
      <p:pic>
        <p:nvPicPr>
          <p:cNvPr id="5" name="Image 1" descr="preencoded.png"/>
          <p:cNvPicPr>
            <a:picLocks noChangeAspect="1"/>
          </p:cNvPicPr>
          <p:nvPr/>
        </p:nvPicPr>
        <p:blipFill>
          <a:blip r:embed="rId2"/>
          <a:stretch>
            <a:fillRect/>
          </a:stretch>
        </p:blipFill>
        <p:spPr>
          <a:xfrm>
            <a:off x="731520" y="1325880"/>
            <a:ext cx="365760" cy="365760"/>
          </a:xfrm>
          <a:prstGeom prst="rect">
            <a:avLst/>
          </a:prstGeom>
        </p:spPr>
      </p:pic>
      <p:sp>
        <p:nvSpPr>
          <p:cNvPr id="6" name="Text 2"/>
          <p:cNvSpPr txBox="1"/>
          <p:nvPr/>
        </p:nvSpPr>
        <p:spPr>
          <a:xfrm>
            <a:off x="1463040" y="1234440"/>
            <a:ext cx="5486400" cy="548640"/>
          </a:xfrm>
          <a:prstGeom prst="rect">
            <a:avLst/>
          </a:prstGeom>
          <a:noFill/>
        </p:spPr>
        <p:txBody>
          <a:bodyPr wrap="square" lIns="0" tIns="0" rIns="0" bIns="0" rtlCol="0" anchor="ctr"/>
          <a:lstStyle/>
          <a:p>
            <a:pPr marL="0" indent="0">
              <a:buNone/>
            </a:pPr>
            <a:r>
              <a:rPr lang="en-US" sz="1600" b="1" kern="0" spc="400" dirty="0">
                <a:solidFill>
                  <a:schemeClr val="accent1"/>
                </a:solidFill>
              </a:rPr>
              <a:t>FINAL YEAR PROJECT 2026</a:t>
            </a:r>
            <a:endParaRPr lang="en-US" sz="1600" dirty="0"/>
          </a:p>
        </p:txBody>
      </p:sp>
      <p:sp>
        <p:nvSpPr>
          <p:cNvPr id="7" name="Text 0"/>
          <p:cNvSpPr/>
          <p:nvPr>
            <p:ph type="title" idx="100" hasCustomPrompt="1"/>
          </p:nvPr>
        </p:nvSpPr>
        <p:spPr>
          <a:xfrm>
            <a:off x="548640" y="2148840"/>
            <a:ext cx="6949440" cy="1737360"/>
          </a:xfrm>
          <a:prstGeom prst="rect">
            <a:avLst/>
          </a:prstGeom>
          <a:noFill/>
        </p:spPr>
        <p:txBody>
          <a:bodyPr wrap="square" lIns="0" tIns="0" rIns="0" bIns="0" rtlCol="0" anchor="b"/>
          <a:lstStyle/>
          <a:p>
            <a:pPr marL="0" indent="0" algn="l">
              <a:buNone/>
            </a:pPr>
            <a:r>
              <a:rPr lang="en-US" sz="4800" b="1" dirty="0">
                <a:solidFill>
                  <a:schemeClr val="bg1"/>
                </a:solidFill>
              </a:rPr>
              <a:t>CineMax Karachi</a:t>
            </a:r>
            <a:endParaRPr lang="en-US" sz="4800" dirty="0"/>
          </a:p>
        </p:txBody>
      </p:sp>
      <p:sp>
        <p:nvSpPr>
          <p:cNvPr id="8" name="Text 0"/>
          <p:cNvSpPr/>
          <p:nvPr>
            <p:ph type="body" idx="101" hasCustomPrompt="1"/>
          </p:nvPr>
        </p:nvSpPr>
        <p:spPr>
          <a:xfrm>
            <a:off x="548640" y="4023360"/>
            <a:ext cx="6583680" cy="914400"/>
          </a:xfrm>
          <a:prstGeom prst="rect">
            <a:avLst/>
          </a:prstGeom>
          <a:noFill/>
        </p:spPr>
        <p:txBody>
          <a:bodyPr wrap="square" lIns="0" tIns="0" rIns="0" bIns="0" rtlCol="0" anchor="t"/>
          <a:lstStyle/>
          <a:p>
            <a:pPr marL="0" indent="0">
              <a:buNone/>
            </a:pPr>
            <a:r>
              <a:rPr lang="en-US" sz="2000" dirty="0">
                <a:solidFill>
                  <a:schemeClr val="bg2"/>
                </a:solidFill>
              </a:rPr>
              <a:t>Online Movie Ticket Booking System, from browsing to a QR e-ticket, with a full admin panel</a:t>
            </a:r>
            <a:endParaRPr lang="en-US" sz="2000" dirty="0"/>
          </a:p>
        </p:txBody>
      </p:sp>
      <p:sp>
        <p:nvSpPr>
          <p:cNvPr id="9" name="Text 5"/>
          <p:cNvSpPr txBox="1"/>
          <p:nvPr/>
        </p:nvSpPr>
        <p:spPr>
          <a:xfrm>
            <a:off x="548640" y="5349240"/>
            <a:ext cx="7315200" cy="457200"/>
          </a:xfrm>
          <a:prstGeom prst="rect">
            <a:avLst/>
          </a:prstGeom>
          <a:noFill/>
        </p:spPr>
        <p:txBody>
          <a:bodyPr wrap="square" lIns="0" tIns="0" rIns="0" bIns="0" rtlCol="0" anchor="ctr"/>
          <a:lstStyle/>
          <a:p>
            <a:pPr marL="0" indent="0">
              <a:buNone/>
            </a:pPr>
            <a:r>
              <a:rPr lang="en-US" sz="1800" dirty="0">
                <a:solidFill>
                  <a:schemeClr val="bg2"/>
                </a:solidFill>
              </a:rPr>
              <a:t>Presented by  </a:t>
            </a:r>
            <a:r>
              <a:rPr lang="en-US" sz="1800" b="1" dirty="0">
                <a:solidFill>
                  <a:schemeClr val="bg1"/>
                </a:solidFill>
              </a:rPr>
              <a:t>Abdul Rafay  ·  Umair </a:t>
            </a:r>
            <a:r>
              <a:rPr lang="en-US" b="1" dirty="0">
                <a:solidFill>
                  <a:schemeClr val="bg1"/>
                </a:solidFill>
                <a:sym typeface="+mn-ea"/>
              </a:rPr>
              <a:t>· Arqam</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Agenda</a:t>
            </a:r>
            <a:endParaRPr lang="en-US" sz="3200" dirty="0"/>
          </a:p>
        </p:txBody>
      </p:sp>
      <p:sp>
        <p:nvSpPr>
          <p:cNvPr id="3" name="Shape 1"/>
          <p:cNvSpPr/>
          <p:nvPr/>
        </p:nvSpPr>
        <p:spPr>
          <a:xfrm>
            <a:off x="548640" y="1600200"/>
            <a:ext cx="3454298" cy="1874520"/>
          </a:xfrm>
          <a:prstGeom prst="roundRect">
            <a:avLst>
              <a:gd name="adj" fmla="val 4878"/>
            </a:avLst>
          </a:prstGeom>
          <a:solidFill>
            <a:schemeClr val="tx2"/>
          </a:solidFill>
          <a:ln w="9525">
            <a:solidFill>
              <a:srgbClr val="3A3B48"/>
            </a:solidFill>
            <a:prstDash val="solid"/>
          </a:ln>
        </p:spPr>
      </p:sp>
      <p:sp>
        <p:nvSpPr>
          <p:cNvPr id="4" name="Text 2"/>
          <p:cNvSpPr txBox="1"/>
          <p:nvPr/>
        </p:nvSpPr>
        <p:spPr>
          <a:xfrm>
            <a:off x="822960" y="1828800"/>
            <a:ext cx="1097280" cy="548640"/>
          </a:xfrm>
          <a:prstGeom prst="rect">
            <a:avLst/>
          </a:prstGeom>
          <a:noFill/>
        </p:spPr>
        <p:txBody>
          <a:bodyPr wrap="square" lIns="0" tIns="0" rIns="0" bIns="0" rtlCol="0" anchor="ctr"/>
          <a:lstStyle/>
          <a:p>
            <a:pPr marL="0" indent="0">
              <a:buNone/>
            </a:pPr>
            <a:r>
              <a:rPr lang="en-US" sz="3000" b="1" dirty="0">
                <a:solidFill>
                  <a:schemeClr val="accent1"/>
                </a:solidFill>
                <a:latin typeface="Arial" panose="020B0604020202020204" pitchFamily="34" charset="0"/>
                <a:ea typeface="Arial" panose="020B0604020202020204" pitchFamily="34" charset="-122"/>
                <a:cs typeface="Arial" panose="020B0604020202020204" pitchFamily="34" charset="-120"/>
              </a:rPr>
              <a:t>01</a:t>
            </a:r>
            <a:endParaRPr lang="en-US" sz="3000" dirty="0"/>
          </a:p>
        </p:txBody>
      </p:sp>
      <p:sp>
        <p:nvSpPr>
          <p:cNvPr id="5" name="Shape 3"/>
          <p:cNvSpPr/>
          <p:nvPr/>
        </p:nvSpPr>
        <p:spPr>
          <a:xfrm>
            <a:off x="3225698" y="1828800"/>
            <a:ext cx="502920" cy="502920"/>
          </a:xfrm>
          <a:prstGeom prst="ellipse">
            <a:avLst/>
          </a:prstGeom>
          <a:solidFill>
            <a:schemeClr val="accent1"/>
          </a:solidFill>
          <a:ln w="12700">
            <a:solidFill>
              <a:schemeClr val="accent1"/>
            </a:solidFill>
            <a:prstDash val="solid"/>
          </a:ln>
        </p:spPr>
      </p:sp>
      <p:pic>
        <p:nvPicPr>
          <p:cNvPr id="6" name="Image 0" descr="preencoded.png"/>
          <p:cNvPicPr>
            <a:picLocks noChangeAspect="1"/>
          </p:cNvPicPr>
          <p:nvPr/>
        </p:nvPicPr>
        <p:blipFill>
          <a:blip r:embed="rId1"/>
          <a:stretch>
            <a:fillRect/>
          </a:stretch>
        </p:blipFill>
        <p:spPr>
          <a:xfrm>
            <a:off x="3351428" y="1954530"/>
            <a:ext cx="251460" cy="251460"/>
          </a:xfrm>
          <a:prstGeom prst="rect">
            <a:avLst/>
          </a:prstGeom>
        </p:spPr>
      </p:pic>
      <p:sp>
        <p:nvSpPr>
          <p:cNvPr id="7" name="Text 4"/>
          <p:cNvSpPr txBox="1"/>
          <p:nvPr/>
        </p:nvSpPr>
        <p:spPr>
          <a:xfrm>
            <a:off x="822960" y="2468880"/>
            <a:ext cx="2905658" cy="868680"/>
          </a:xfrm>
          <a:prstGeom prst="rect">
            <a:avLst/>
          </a:prstGeom>
          <a:noFill/>
        </p:spPr>
        <p:txBody>
          <a:bodyPr wrap="square" lIns="0" tIns="0" rIns="0" bIns="0" rtlCol="0" anchor="t"/>
          <a:lstStyle/>
          <a:p>
            <a:pPr marL="0" indent="0">
              <a:buNone/>
            </a:pPr>
            <a:r>
              <a:rPr lang="en-US" sz="1800" b="1" dirty="0">
                <a:solidFill>
                  <a:schemeClr val="bg1"/>
                </a:solidFill>
              </a:rPr>
              <a:t>Problem and objectives</a:t>
            </a:r>
            <a:endParaRPr lang="en-US" sz="1800" dirty="0"/>
          </a:p>
          <a:p>
            <a:pPr marL="0" indent="0">
              <a:buNone/>
            </a:pPr>
            <a:r>
              <a:rPr lang="en-US" sz="1400" dirty="0">
                <a:solidFill>
                  <a:schemeClr val="bg2"/>
                </a:solidFill>
              </a:rPr>
              <a:t>Why cinemas need online booking</a:t>
            </a:r>
            <a:endParaRPr lang="en-US" sz="1800" dirty="0"/>
          </a:p>
        </p:txBody>
      </p:sp>
      <p:sp>
        <p:nvSpPr>
          <p:cNvPr id="8" name="Shape 5"/>
          <p:cNvSpPr/>
          <p:nvPr/>
        </p:nvSpPr>
        <p:spPr>
          <a:xfrm>
            <a:off x="4368698" y="1600200"/>
            <a:ext cx="3454298" cy="1874520"/>
          </a:xfrm>
          <a:prstGeom prst="roundRect">
            <a:avLst>
              <a:gd name="adj" fmla="val 4878"/>
            </a:avLst>
          </a:prstGeom>
          <a:solidFill>
            <a:schemeClr val="tx2"/>
          </a:solidFill>
          <a:ln w="9525">
            <a:solidFill>
              <a:srgbClr val="3A3B48"/>
            </a:solidFill>
            <a:prstDash val="solid"/>
          </a:ln>
        </p:spPr>
      </p:sp>
      <p:sp>
        <p:nvSpPr>
          <p:cNvPr id="9" name="Text 6"/>
          <p:cNvSpPr txBox="1"/>
          <p:nvPr/>
        </p:nvSpPr>
        <p:spPr>
          <a:xfrm>
            <a:off x="4643018" y="1828800"/>
            <a:ext cx="1097280" cy="548640"/>
          </a:xfrm>
          <a:prstGeom prst="rect">
            <a:avLst/>
          </a:prstGeom>
          <a:noFill/>
        </p:spPr>
        <p:txBody>
          <a:bodyPr wrap="square" lIns="0" tIns="0" rIns="0" bIns="0" rtlCol="0" anchor="ctr"/>
          <a:lstStyle/>
          <a:p>
            <a:pPr marL="0" indent="0">
              <a:buNone/>
            </a:pPr>
            <a:r>
              <a:rPr lang="en-US" sz="3000" b="1" dirty="0">
                <a:solidFill>
                  <a:schemeClr val="accent1"/>
                </a:solidFill>
                <a:latin typeface="Arial" panose="020B0604020202020204" pitchFamily="34" charset="0"/>
                <a:ea typeface="Arial" panose="020B0604020202020204" pitchFamily="34" charset="-122"/>
                <a:cs typeface="Arial" panose="020B0604020202020204" pitchFamily="34" charset="-120"/>
              </a:rPr>
              <a:t>02</a:t>
            </a:r>
            <a:endParaRPr lang="en-US" sz="3000" dirty="0"/>
          </a:p>
        </p:txBody>
      </p:sp>
      <p:sp>
        <p:nvSpPr>
          <p:cNvPr id="10" name="Shape 7"/>
          <p:cNvSpPr/>
          <p:nvPr/>
        </p:nvSpPr>
        <p:spPr>
          <a:xfrm>
            <a:off x="7045757" y="1828800"/>
            <a:ext cx="502920" cy="502920"/>
          </a:xfrm>
          <a:prstGeom prst="ellipse">
            <a:avLst/>
          </a:prstGeom>
          <a:solidFill>
            <a:schemeClr val="accent1"/>
          </a:solidFill>
          <a:ln w="12700">
            <a:solidFill>
              <a:schemeClr val="accent1"/>
            </a:solidFill>
            <a:prstDash val="solid"/>
          </a:ln>
        </p:spPr>
      </p:sp>
      <p:pic>
        <p:nvPicPr>
          <p:cNvPr id="11" name="Image 1" descr="preencoded.png"/>
          <p:cNvPicPr>
            <a:picLocks noChangeAspect="1"/>
          </p:cNvPicPr>
          <p:nvPr/>
        </p:nvPicPr>
        <p:blipFill>
          <a:blip r:embed="rId2"/>
          <a:stretch>
            <a:fillRect/>
          </a:stretch>
        </p:blipFill>
        <p:spPr>
          <a:xfrm>
            <a:off x="7171487" y="1954530"/>
            <a:ext cx="251460" cy="251460"/>
          </a:xfrm>
          <a:prstGeom prst="rect">
            <a:avLst/>
          </a:prstGeom>
        </p:spPr>
      </p:pic>
      <p:sp>
        <p:nvSpPr>
          <p:cNvPr id="12" name="Text 8"/>
          <p:cNvSpPr txBox="1"/>
          <p:nvPr/>
        </p:nvSpPr>
        <p:spPr>
          <a:xfrm>
            <a:off x="4643018" y="2468880"/>
            <a:ext cx="2905658" cy="868680"/>
          </a:xfrm>
          <a:prstGeom prst="rect">
            <a:avLst/>
          </a:prstGeom>
          <a:noFill/>
        </p:spPr>
        <p:txBody>
          <a:bodyPr wrap="square" lIns="0" tIns="0" rIns="0" bIns="0" rtlCol="0" anchor="t"/>
          <a:lstStyle/>
          <a:p>
            <a:pPr marL="0" indent="0">
              <a:buNone/>
            </a:pPr>
            <a:r>
              <a:rPr lang="en-US" sz="1800" b="1" dirty="0">
                <a:solidFill>
                  <a:schemeClr val="bg1"/>
                </a:solidFill>
              </a:rPr>
              <a:t>System design</a:t>
            </a:r>
            <a:endParaRPr lang="en-US" sz="1800" dirty="0"/>
          </a:p>
          <a:p>
            <a:pPr marL="0" indent="0">
              <a:buNone/>
            </a:pPr>
            <a:r>
              <a:rPr lang="en-US" sz="1400" dirty="0">
                <a:solidFill>
                  <a:schemeClr val="bg2"/>
                </a:solidFill>
              </a:rPr>
              <a:t>Tech stack, architecture and database</a:t>
            </a:r>
            <a:endParaRPr lang="en-US" sz="1800" dirty="0"/>
          </a:p>
        </p:txBody>
      </p:sp>
      <p:sp>
        <p:nvSpPr>
          <p:cNvPr id="13" name="Shape 9"/>
          <p:cNvSpPr/>
          <p:nvPr/>
        </p:nvSpPr>
        <p:spPr>
          <a:xfrm>
            <a:off x="8188757" y="1600200"/>
            <a:ext cx="3454298" cy="1874520"/>
          </a:xfrm>
          <a:prstGeom prst="roundRect">
            <a:avLst>
              <a:gd name="adj" fmla="val 4878"/>
            </a:avLst>
          </a:prstGeom>
          <a:solidFill>
            <a:schemeClr val="tx2"/>
          </a:solidFill>
          <a:ln w="9525">
            <a:solidFill>
              <a:srgbClr val="3A3B48"/>
            </a:solidFill>
            <a:prstDash val="solid"/>
          </a:ln>
        </p:spPr>
      </p:sp>
      <p:sp>
        <p:nvSpPr>
          <p:cNvPr id="14" name="Text 10"/>
          <p:cNvSpPr txBox="1"/>
          <p:nvPr/>
        </p:nvSpPr>
        <p:spPr>
          <a:xfrm>
            <a:off x="8463077" y="1828800"/>
            <a:ext cx="1097280" cy="548640"/>
          </a:xfrm>
          <a:prstGeom prst="rect">
            <a:avLst/>
          </a:prstGeom>
          <a:noFill/>
        </p:spPr>
        <p:txBody>
          <a:bodyPr wrap="square" lIns="0" tIns="0" rIns="0" bIns="0" rtlCol="0" anchor="ctr"/>
          <a:lstStyle/>
          <a:p>
            <a:pPr marL="0" indent="0">
              <a:buNone/>
            </a:pPr>
            <a:r>
              <a:rPr lang="en-US" sz="3000" b="1" dirty="0">
                <a:solidFill>
                  <a:schemeClr val="accent1"/>
                </a:solidFill>
                <a:latin typeface="Arial" panose="020B0604020202020204" pitchFamily="34" charset="0"/>
                <a:ea typeface="Arial" panose="020B0604020202020204" pitchFamily="34" charset="-122"/>
                <a:cs typeface="Arial" panose="020B0604020202020204" pitchFamily="34" charset="-120"/>
              </a:rPr>
              <a:t>03</a:t>
            </a:r>
            <a:endParaRPr lang="en-US" sz="3000" dirty="0"/>
          </a:p>
        </p:txBody>
      </p:sp>
      <p:sp>
        <p:nvSpPr>
          <p:cNvPr id="15" name="Shape 11"/>
          <p:cNvSpPr/>
          <p:nvPr/>
        </p:nvSpPr>
        <p:spPr>
          <a:xfrm>
            <a:off x="10865815" y="1828800"/>
            <a:ext cx="502920" cy="502920"/>
          </a:xfrm>
          <a:prstGeom prst="ellipse">
            <a:avLst/>
          </a:prstGeom>
          <a:solidFill>
            <a:schemeClr val="accent1"/>
          </a:solidFill>
          <a:ln w="12700">
            <a:solidFill>
              <a:schemeClr val="accent1"/>
            </a:solidFill>
            <a:prstDash val="solid"/>
          </a:ln>
        </p:spPr>
      </p:sp>
      <p:pic>
        <p:nvPicPr>
          <p:cNvPr id="16" name="Image 2" descr="preencoded.png"/>
          <p:cNvPicPr>
            <a:picLocks noChangeAspect="1"/>
          </p:cNvPicPr>
          <p:nvPr/>
        </p:nvPicPr>
        <p:blipFill>
          <a:blip r:embed="rId3"/>
          <a:stretch>
            <a:fillRect/>
          </a:stretch>
        </p:blipFill>
        <p:spPr>
          <a:xfrm>
            <a:off x="10991545" y="1954530"/>
            <a:ext cx="251460" cy="251460"/>
          </a:xfrm>
          <a:prstGeom prst="rect">
            <a:avLst/>
          </a:prstGeom>
        </p:spPr>
      </p:pic>
      <p:sp>
        <p:nvSpPr>
          <p:cNvPr id="17" name="Text 12"/>
          <p:cNvSpPr txBox="1"/>
          <p:nvPr/>
        </p:nvSpPr>
        <p:spPr>
          <a:xfrm>
            <a:off x="8463077" y="2468880"/>
            <a:ext cx="2905658" cy="868680"/>
          </a:xfrm>
          <a:prstGeom prst="rect">
            <a:avLst/>
          </a:prstGeom>
          <a:noFill/>
        </p:spPr>
        <p:txBody>
          <a:bodyPr wrap="square" lIns="0" tIns="0" rIns="0" bIns="0" rtlCol="0" anchor="t"/>
          <a:lstStyle/>
          <a:p>
            <a:pPr marL="0" indent="0">
              <a:buNone/>
            </a:pPr>
            <a:r>
              <a:rPr lang="en-US" sz="1800" b="1" dirty="0">
                <a:solidFill>
                  <a:schemeClr val="bg1"/>
                </a:solidFill>
              </a:rPr>
              <a:t>Customer website</a:t>
            </a:r>
            <a:endParaRPr lang="en-US" sz="1800" dirty="0"/>
          </a:p>
          <a:p>
            <a:pPr marL="0" indent="0">
              <a:buNone/>
            </a:pPr>
            <a:r>
              <a:rPr lang="en-US" sz="1400" dirty="0">
                <a:solidFill>
                  <a:schemeClr val="bg2"/>
                </a:solidFill>
              </a:rPr>
              <a:t>Browse, pick seats, pay, get a QR e-ticket</a:t>
            </a:r>
            <a:endParaRPr lang="en-US" sz="1800" dirty="0"/>
          </a:p>
        </p:txBody>
      </p:sp>
      <p:sp>
        <p:nvSpPr>
          <p:cNvPr id="18" name="Shape 13"/>
          <p:cNvSpPr/>
          <p:nvPr/>
        </p:nvSpPr>
        <p:spPr>
          <a:xfrm>
            <a:off x="548640" y="3840480"/>
            <a:ext cx="3454298" cy="1874520"/>
          </a:xfrm>
          <a:prstGeom prst="roundRect">
            <a:avLst>
              <a:gd name="adj" fmla="val 4878"/>
            </a:avLst>
          </a:prstGeom>
          <a:solidFill>
            <a:schemeClr val="tx2"/>
          </a:solidFill>
          <a:ln w="9525">
            <a:solidFill>
              <a:srgbClr val="3A3B48"/>
            </a:solidFill>
            <a:prstDash val="solid"/>
          </a:ln>
        </p:spPr>
      </p:sp>
      <p:sp>
        <p:nvSpPr>
          <p:cNvPr id="19" name="Text 14"/>
          <p:cNvSpPr txBox="1"/>
          <p:nvPr/>
        </p:nvSpPr>
        <p:spPr>
          <a:xfrm>
            <a:off x="822960" y="4069080"/>
            <a:ext cx="1097280" cy="548640"/>
          </a:xfrm>
          <a:prstGeom prst="rect">
            <a:avLst/>
          </a:prstGeom>
          <a:noFill/>
        </p:spPr>
        <p:txBody>
          <a:bodyPr wrap="square" lIns="0" tIns="0" rIns="0" bIns="0" rtlCol="0" anchor="ctr"/>
          <a:lstStyle/>
          <a:p>
            <a:pPr marL="0" indent="0">
              <a:buNone/>
            </a:pPr>
            <a:r>
              <a:rPr lang="en-US" sz="3000" b="1" dirty="0">
                <a:solidFill>
                  <a:schemeClr val="accent1"/>
                </a:solidFill>
                <a:latin typeface="Arial" panose="020B0604020202020204" pitchFamily="34" charset="0"/>
                <a:ea typeface="Arial" panose="020B0604020202020204" pitchFamily="34" charset="-122"/>
                <a:cs typeface="Arial" panose="020B0604020202020204" pitchFamily="34" charset="-120"/>
              </a:rPr>
              <a:t>04</a:t>
            </a:r>
            <a:endParaRPr lang="en-US" sz="3000" dirty="0"/>
          </a:p>
        </p:txBody>
      </p:sp>
      <p:sp>
        <p:nvSpPr>
          <p:cNvPr id="20" name="Shape 15"/>
          <p:cNvSpPr/>
          <p:nvPr/>
        </p:nvSpPr>
        <p:spPr>
          <a:xfrm>
            <a:off x="3225698" y="4069080"/>
            <a:ext cx="502920" cy="502920"/>
          </a:xfrm>
          <a:prstGeom prst="ellipse">
            <a:avLst/>
          </a:prstGeom>
          <a:solidFill>
            <a:schemeClr val="accent1"/>
          </a:solidFill>
          <a:ln w="12700">
            <a:solidFill>
              <a:schemeClr val="accent1"/>
            </a:solidFill>
            <a:prstDash val="solid"/>
          </a:ln>
        </p:spPr>
      </p:sp>
      <p:pic>
        <p:nvPicPr>
          <p:cNvPr id="21" name="Image 3" descr="preencoded.png"/>
          <p:cNvPicPr>
            <a:picLocks noChangeAspect="1"/>
          </p:cNvPicPr>
          <p:nvPr/>
        </p:nvPicPr>
        <p:blipFill>
          <a:blip r:embed="rId4"/>
          <a:stretch>
            <a:fillRect/>
          </a:stretch>
        </p:blipFill>
        <p:spPr>
          <a:xfrm>
            <a:off x="3351428" y="4194810"/>
            <a:ext cx="251460" cy="251460"/>
          </a:xfrm>
          <a:prstGeom prst="rect">
            <a:avLst/>
          </a:prstGeom>
        </p:spPr>
      </p:pic>
      <p:sp>
        <p:nvSpPr>
          <p:cNvPr id="22" name="Text 16"/>
          <p:cNvSpPr txBox="1"/>
          <p:nvPr/>
        </p:nvSpPr>
        <p:spPr>
          <a:xfrm>
            <a:off x="822960" y="4709160"/>
            <a:ext cx="2905658" cy="868680"/>
          </a:xfrm>
          <a:prstGeom prst="rect">
            <a:avLst/>
          </a:prstGeom>
          <a:noFill/>
        </p:spPr>
        <p:txBody>
          <a:bodyPr wrap="square" lIns="0" tIns="0" rIns="0" bIns="0" rtlCol="0" anchor="t"/>
          <a:lstStyle/>
          <a:p>
            <a:pPr marL="0" indent="0">
              <a:buNone/>
            </a:pPr>
            <a:r>
              <a:rPr lang="en-US" sz="1800" b="1" dirty="0">
                <a:solidFill>
                  <a:schemeClr val="bg1"/>
                </a:solidFill>
              </a:rPr>
              <a:t>Admin panel</a:t>
            </a:r>
            <a:endParaRPr lang="en-US" sz="1800" dirty="0"/>
          </a:p>
          <a:p>
            <a:pPr marL="0" indent="0">
              <a:buNone/>
            </a:pPr>
            <a:r>
              <a:rPr lang="en-US" sz="1400" dirty="0">
                <a:solidFill>
                  <a:schemeClr val="bg2"/>
                </a:solidFill>
              </a:rPr>
              <a:t>Dashboard, shows, refunds, scanner, reports</a:t>
            </a:r>
            <a:endParaRPr lang="en-US" sz="1800" dirty="0"/>
          </a:p>
        </p:txBody>
      </p:sp>
      <p:sp>
        <p:nvSpPr>
          <p:cNvPr id="23" name="Shape 17"/>
          <p:cNvSpPr/>
          <p:nvPr/>
        </p:nvSpPr>
        <p:spPr>
          <a:xfrm>
            <a:off x="4368698" y="3840480"/>
            <a:ext cx="3454298" cy="1874520"/>
          </a:xfrm>
          <a:prstGeom prst="roundRect">
            <a:avLst>
              <a:gd name="adj" fmla="val 4878"/>
            </a:avLst>
          </a:prstGeom>
          <a:solidFill>
            <a:schemeClr val="tx2"/>
          </a:solidFill>
          <a:ln w="9525">
            <a:solidFill>
              <a:srgbClr val="3A3B48"/>
            </a:solidFill>
            <a:prstDash val="solid"/>
          </a:ln>
        </p:spPr>
      </p:sp>
      <p:sp>
        <p:nvSpPr>
          <p:cNvPr id="24" name="Text 18"/>
          <p:cNvSpPr txBox="1"/>
          <p:nvPr/>
        </p:nvSpPr>
        <p:spPr>
          <a:xfrm>
            <a:off x="4643018" y="4069080"/>
            <a:ext cx="1097280" cy="548640"/>
          </a:xfrm>
          <a:prstGeom prst="rect">
            <a:avLst/>
          </a:prstGeom>
          <a:noFill/>
        </p:spPr>
        <p:txBody>
          <a:bodyPr wrap="square" lIns="0" tIns="0" rIns="0" bIns="0" rtlCol="0" anchor="ctr"/>
          <a:lstStyle/>
          <a:p>
            <a:pPr marL="0" indent="0">
              <a:buNone/>
            </a:pPr>
            <a:r>
              <a:rPr lang="en-US" sz="3000" b="1" dirty="0">
                <a:solidFill>
                  <a:schemeClr val="accent1"/>
                </a:solidFill>
                <a:latin typeface="Arial" panose="020B0604020202020204" pitchFamily="34" charset="0"/>
                <a:ea typeface="Arial" panose="020B0604020202020204" pitchFamily="34" charset="-122"/>
                <a:cs typeface="Arial" panose="020B0604020202020204" pitchFamily="34" charset="-120"/>
              </a:rPr>
              <a:t>05</a:t>
            </a:r>
            <a:endParaRPr lang="en-US" sz="3000" dirty="0"/>
          </a:p>
        </p:txBody>
      </p:sp>
      <p:sp>
        <p:nvSpPr>
          <p:cNvPr id="25" name="Shape 19"/>
          <p:cNvSpPr/>
          <p:nvPr/>
        </p:nvSpPr>
        <p:spPr>
          <a:xfrm>
            <a:off x="7045757" y="4069080"/>
            <a:ext cx="502920" cy="502920"/>
          </a:xfrm>
          <a:prstGeom prst="ellipse">
            <a:avLst/>
          </a:prstGeom>
          <a:solidFill>
            <a:schemeClr val="accent1"/>
          </a:solidFill>
          <a:ln w="12700">
            <a:solidFill>
              <a:schemeClr val="accent1"/>
            </a:solidFill>
            <a:prstDash val="solid"/>
          </a:ln>
        </p:spPr>
      </p:sp>
      <p:pic>
        <p:nvPicPr>
          <p:cNvPr id="26" name="Image 4" descr="preencoded.png"/>
          <p:cNvPicPr>
            <a:picLocks noChangeAspect="1"/>
          </p:cNvPicPr>
          <p:nvPr/>
        </p:nvPicPr>
        <p:blipFill>
          <a:blip r:embed="rId5"/>
          <a:stretch>
            <a:fillRect/>
          </a:stretch>
        </p:blipFill>
        <p:spPr>
          <a:xfrm>
            <a:off x="7171487" y="4194810"/>
            <a:ext cx="251460" cy="251460"/>
          </a:xfrm>
          <a:prstGeom prst="rect">
            <a:avLst/>
          </a:prstGeom>
        </p:spPr>
      </p:pic>
      <p:sp>
        <p:nvSpPr>
          <p:cNvPr id="27" name="Text 20"/>
          <p:cNvSpPr txBox="1"/>
          <p:nvPr/>
        </p:nvSpPr>
        <p:spPr>
          <a:xfrm>
            <a:off x="4643018" y="4709160"/>
            <a:ext cx="2905658" cy="868680"/>
          </a:xfrm>
          <a:prstGeom prst="rect">
            <a:avLst/>
          </a:prstGeom>
          <a:noFill/>
        </p:spPr>
        <p:txBody>
          <a:bodyPr wrap="square" lIns="0" tIns="0" rIns="0" bIns="0" rtlCol="0" anchor="t"/>
          <a:lstStyle/>
          <a:p>
            <a:pPr marL="0" indent="0">
              <a:buNone/>
            </a:pPr>
            <a:r>
              <a:rPr lang="en-US" sz="1800" b="1" dirty="0">
                <a:solidFill>
                  <a:schemeClr val="bg1"/>
                </a:solidFill>
              </a:rPr>
              <a:t>Engineering and quality</a:t>
            </a:r>
            <a:endParaRPr lang="en-US" sz="1800" dirty="0"/>
          </a:p>
          <a:p>
            <a:pPr marL="0" indent="0">
              <a:buNone/>
            </a:pPr>
            <a:r>
              <a:rPr lang="en-US" sz="1400" dirty="0">
                <a:solidFill>
                  <a:schemeClr val="bg2"/>
                </a:solidFill>
              </a:rPr>
              <a:t>Double-booking safety, security, testing</a:t>
            </a:r>
            <a:endParaRPr lang="en-US" sz="1800" dirty="0"/>
          </a:p>
        </p:txBody>
      </p:sp>
      <p:sp>
        <p:nvSpPr>
          <p:cNvPr id="28" name="Shape 21"/>
          <p:cNvSpPr/>
          <p:nvPr/>
        </p:nvSpPr>
        <p:spPr>
          <a:xfrm>
            <a:off x="8188757" y="3840480"/>
            <a:ext cx="3454298" cy="1874520"/>
          </a:xfrm>
          <a:prstGeom prst="roundRect">
            <a:avLst>
              <a:gd name="adj" fmla="val 4878"/>
            </a:avLst>
          </a:prstGeom>
          <a:solidFill>
            <a:schemeClr val="tx2"/>
          </a:solidFill>
          <a:ln w="9525">
            <a:solidFill>
              <a:srgbClr val="3A3B48"/>
            </a:solidFill>
            <a:prstDash val="solid"/>
          </a:ln>
        </p:spPr>
      </p:sp>
      <p:sp>
        <p:nvSpPr>
          <p:cNvPr id="29" name="Text 22"/>
          <p:cNvSpPr txBox="1"/>
          <p:nvPr/>
        </p:nvSpPr>
        <p:spPr>
          <a:xfrm>
            <a:off x="8463077" y="4069080"/>
            <a:ext cx="1097280" cy="548640"/>
          </a:xfrm>
          <a:prstGeom prst="rect">
            <a:avLst/>
          </a:prstGeom>
          <a:noFill/>
        </p:spPr>
        <p:txBody>
          <a:bodyPr wrap="square" lIns="0" tIns="0" rIns="0" bIns="0" rtlCol="0" anchor="ctr"/>
          <a:lstStyle/>
          <a:p>
            <a:pPr marL="0" indent="0">
              <a:buNone/>
            </a:pPr>
            <a:r>
              <a:rPr lang="en-US" sz="3000" b="1" dirty="0">
                <a:solidFill>
                  <a:schemeClr val="accent1"/>
                </a:solidFill>
                <a:latin typeface="Arial" panose="020B0604020202020204" pitchFamily="34" charset="0"/>
                <a:ea typeface="Arial" panose="020B0604020202020204" pitchFamily="34" charset="-122"/>
                <a:cs typeface="Arial" panose="020B0604020202020204" pitchFamily="34" charset="-120"/>
              </a:rPr>
              <a:t>06</a:t>
            </a:r>
            <a:endParaRPr lang="en-US" sz="3000" dirty="0"/>
          </a:p>
        </p:txBody>
      </p:sp>
      <p:sp>
        <p:nvSpPr>
          <p:cNvPr id="30" name="Shape 23"/>
          <p:cNvSpPr/>
          <p:nvPr/>
        </p:nvSpPr>
        <p:spPr>
          <a:xfrm>
            <a:off x="10865815" y="4069080"/>
            <a:ext cx="502920" cy="502920"/>
          </a:xfrm>
          <a:prstGeom prst="ellipse">
            <a:avLst/>
          </a:prstGeom>
          <a:solidFill>
            <a:schemeClr val="accent1"/>
          </a:solidFill>
          <a:ln w="12700">
            <a:solidFill>
              <a:schemeClr val="accent1"/>
            </a:solidFill>
            <a:prstDash val="solid"/>
          </a:ln>
        </p:spPr>
      </p:sp>
      <p:pic>
        <p:nvPicPr>
          <p:cNvPr id="31" name="Image 5" descr="preencoded.png"/>
          <p:cNvPicPr>
            <a:picLocks noChangeAspect="1"/>
          </p:cNvPicPr>
          <p:nvPr/>
        </p:nvPicPr>
        <p:blipFill>
          <a:blip r:embed="rId6"/>
          <a:stretch>
            <a:fillRect/>
          </a:stretch>
        </p:blipFill>
        <p:spPr>
          <a:xfrm>
            <a:off x="10991545" y="4194810"/>
            <a:ext cx="251460" cy="251460"/>
          </a:xfrm>
          <a:prstGeom prst="rect">
            <a:avLst/>
          </a:prstGeom>
        </p:spPr>
      </p:pic>
      <p:sp>
        <p:nvSpPr>
          <p:cNvPr id="32" name="Text 24"/>
          <p:cNvSpPr txBox="1"/>
          <p:nvPr/>
        </p:nvSpPr>
        <p:spPr>
          <a:xfrm>
            <a:off x="8463077" y="4709160"/>
            <a:ext cx="2905658" cy="868680"/>
          </a:xfrm>
          <a:prstGeom prst="rect">
            <a:avLst/>
          </a:prstGeom>
          <a:noFill/>
        </p:spPr>
        <p:txBody>
          <a:bodyPr wrap="square" lIns="0" tIns="0" rIns="0" bIns="0" rtlCol="0" anchor="t"/>
          <a:lstStyle/>
          <a:p>
            <a:pPr marL="0" indent="0">
              <a:buNone/>
            </a:pPr>
            <a:r>
              <a:rPr lang="en-US" sz="1800" b="1" dirty="0">
                <a:solidFill>
                  <a:schemeClr val="bg1"/>
                </a:solidFill>
              </a:rPr>
              <a:t>Conclusion</a:t>
            </a:r>
            <a:endParaRPr lang="en-US" sz="1800" dirty="0"/>
          </a:p>
          <a:p>
            <a:pPr marL="0" indent="0">
              <a:buNone/>
            </a:pPr>
            <a:r>
              <a:rPr lang="en-US" sz="1400" dirty="0">
                <a:solidFill>
                  <a:schemeClr val="bg2"/>
                </a:solidFill>
              </a:rPr>
              <a:t>Team roles, limitations, future work, Q&amp;A</a:t>
            </a:r>
            <a:endParaRPr lang="en-US" sz="1800" dirty="0"/>
          </a:p>
        </p:txBody>
      </p:sp>
      <p:sp>
        <p:nvSpPr>
          <p:cNvPr id="33"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The problem with buying cinema tickets today</a:t>
            </a:r>
            <a:endParaRPr lang="en-US" sz="3200" dirty="0"/>
          </a:p>
        </p:txBody>
      </p:sp>
      <p:sp>
        <p:nvSpPr>
          <p:cNvPr id="3" name="Shape 1"/>
          <p:cNvSpPr/>
          <p:nvPr/>
        </p:nvSpPr>
        <p:spPr>
          <a:xfrm>
            <a:off x="548640" y="1417320"/>
            <a:ext cx="5394960" cy="4709160"/>
          </a:xfrm>
          <a:prstGeom prst="roundRect">
            <a:avLst>
              <a:gd name="adj" fmla="val 1942"/>
            </a:avLst>
          </a:prstGeom>
          <a:solidFill>
            <a:schemeClr val="tx2"/>
          </a:solidFill>
          <a:ln w="9525">
            <a:solidFill>
              <a:srgbClr val="3A3B48"/>
            </a:solidFill>
            <a:prstDash val="solid"/>
          </a:ln>
        </p:spPr>
      </p:sp>
      <p:sp>
        <p:nvSpPr>
          <p:cNvPr id="4" name="Text 2"/>
          <p:cNvSpPr txBox="1"/>
          <p:nvPr/>
        </p:nvSpPr>
        <p:spPr>
          <a:xfrm>
            <a:off x="868680" y="1600200"/>
            <a:ext cx="4572000" cy="457200"/>
          </a:xfrm>
          <a:prstGeom prst="rect">
            <a:avLst/>
          </a:prstGeom>
          <a:noFill/>
        </p:spPr>
        <p:txBody>
          <a:bodyPr wrap="square" lIns="0" tIns="0" rIns="0" bIns="0" rtlCol="0" anchor="ctr"/>
          <a:lstStyle/>
          <a:p>
            <a:pPr marL="0" indent="0">
              <a:buNone/>
            </a:pPr>
            <a:r>
              <a:rPr lang="en-US" sz="2000" b="1" dirty="0">
                <a:solidFill>
                  <a:schemeClr val="accent1"/>
                </a:solidFill>
              </a:rPr>
              <a:t>Problems</a:t>
            </a:r>
            <a:endParaRPr lang="en-US" sz="2000" dirty="0"/>
          </a:p>
        </p:txBody>
      </p:sp>
      <p:sp>
        <p:nvSpPr>
          <p:cNvPr id="5" name="Shape 3"/>
          <p:cNvSpPr/>
          <p:nvPr/>
        </p:nvSpPr>
        <p:spPr>
          <a:xfrm>
            <a:off x="868680" y="2212848"/>
            <a:ext cx="475488" cy="475488"/>
          </a:xfrm>
          <a:prstGeom prst="ellipse">
            <a:avLst/>
          </a:prstGeom>
          <a:solidFill>
            <a:schemeClr val="accent1"/>
          </a:solidFill>
          <a:ln w="12700">
            <a:solidFill>
              <a:schemeClr val="accent1"/>
            </a:solidFill>
            <a:prstDash val="solid"/>
          </a:ln>
        </p:spPr>
      </p:sp>
      <p:pic>
        <p:nvPicPr>
          <p:cNvPr id="6" name="Image 0" descr="preencoded.png"/>
          <p:cNvPicPr>
            <a:picLocks noChangeAspect="1"/>
          </p:cNvPicPr>
          <p:nvPr/>
        </p:nvPicPr>
        <p:blipFill>
          <a:blip r:embed="rId1"/>
          <a:stretch>
            <a:fillRect/>
          </a:stretch>
        </p:blipFill>
        <p:spPr>
          <a:xfrm>
            <a:off x="987552" y="2331720"/>
            <a:ext cx="237744" cy="237744"/>
          </a:xfrm>
          <a:prstGeom prst="rect">
            <a:avLst/>
          </a:prstGeom>
        </p:spPr>
      </p:pic>
      <p:sp>
        <p:nvSpPr>
          <p:cNvPr id="7" name="Text 4"/>
          <p:cNvSpPr txBox="1"/>
          <p:nvPr/>
        </p:nvSpPr>
        <p:spPr>
          <a:xfrm>
            <a:off x="1527048" y="2194560"/>
            <a:ext cx="4187952" cy="886968"/>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Long queues</a:t>
            </a:r>
            <a:endParaRPr lang="en-US" sz="1600" dirty="0"/>
          </a:p>
          <a:p>
            <a:pPr marL="0" indent="0">
              <a:spcAft>
                <a:spcPts val="200"/>
              </a:spcAft>
              <a:buNone/>
            </a:pPr>
            <a:r>
              <a:rPr lang="en-US" sz="1400" dirty="0">
                <a:solidFill>
                  <a:schemeClr val="bg2"/>
                </a:solidFill>
              </a:rPr>
              <a:t>Tickets are bought at the counter, often minutes before the show</a:t>
            </a:r>
            <a:endParaRPr lang="en-US" sz="1600" dirty="0"/>
          </a:p>
        </p:txBody>
      </p:sp>
      <p:sp>
        <p:nvSpPr>
          <p:cNvPr id="8" name="Shape 5"/>
          <p:cNvSpPr/>
          <p:nvPr/>
        </p:nvSpPr>
        <p:spPr>
          <a:xfrm>
            <a:off x="868680" y="3191256"/>
            <a:ext cx="475488" cy="475488"/>
          </a:xfrm>
          <a:prstGeom prst="ellipse">
            <a:avLst/>
          </a:prstGeom>
          <a:solidFill>
            <a:schemeClr val="accent1"/>
          </a:solidFill>
          <a:ln w="12700">
            <a:solidFill>
              <a:schemeClr val="accent1"/>
            </a:solidFill>
            <a:prstDash val="solid"/>
          </a:ln>
        </p:spPr>
      </p:sp>
      <p:pic>
        <p:nvPicPr>
          <p:cNvPr id="9" name="Image 1" descr="preencoded.png"/>
          <p:cNvPicPr>
            <a:picLocks noChangeAspect="1"/>
          </p:cNvPicPr>
          <p:nvPr/>
        </p:nvPicPr>
        <p:blipFill>
          <a:blip r:embed="rId2"/>
          <a:stretch>
            <a:fillRect/>
          </a:stretch>
        </p:blipFill>
        <p:spPr>
          <a:xfrm>
            <a:off x="987552" y="3310128"/>
            <a:ext cx="237744" cy="237744"/>
          </a:xfrm>
          <a:prstGeom prst="rect">
            <a:avLst/>
          </a:prstGeom>
        </p:spPr>
      </p:pic>
      <p:sp>
        <p:nvSpPr>
          <p:cNvPr id="10" name="Text 6"/>
          <p:cNvSpPr txBox="1"/>
          <p:nvPr/>
        </p:nvSpPr>
        <p:spPr>
          <a:xfrm>
            <a:off x="1527048" y="3172968"/>
            <a:ext cx="4187952" cy="886968"/>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No seat choice</a:t>
            </a:r>
            <a:endParaRPr lang="en-US" sz="1600" dirty="0"/>
          </a:p>
          <a:p>
            <a:pPr marL="0" indent="0">
              <a:spcAft>
                <a:spcPts val="200"/>
              </a:spcAft>
              <a:buNone/>
            </a:pPr>
            <a:r>
              <a:rPr lang="en-US" sz="1400" dirty="0">
                <a:solidFill>
                  <a:schemeClr val="bg2"/>
                </a:solidFill>
              </a:rPr>
              <a:t>Customers cannot see or pick their exact seats in advance</a:t>
            </a:r>
            <a:endParaRPr lang="en-US" sz="1600" dirty="0"/>
          </a:p>
        </p:txBody>
      </p:sp>
      <p:sp>
        <p:nvSpPr>
          <p:cNvPr id="11" name="Shape 7"/>
          <p:cNvSpPr/>
          <p:nvPr/>
        </p:nvSpPr>
        <p:spPr>
          <a:xfrm>
            <a:off x="868680" y="4169664"/>
            <a:ext cx="475488" cy="475488"/>
          </a:xfrm>
          <a:prstGeom prst="ellipse">
            <a:avLst/>
          </a:prstGeom>
          <a:solidFill>
            <a:schemeClr val="accent1"/>
          </a:solidFill>
          <a:ln w="12700">
            <a:solidFill>
              <a:schemeClr val="accent1"/>
            </a:solidFill>
            <a:prstDash val="solid"/>
          </a:ln>
        </p:spPr>
      </p:sp>
      <p:pic>
        <p:nvPicPr>
          <p:cNvPr id="12" name="Image 2" descr="preencoded.png"/>
          <p:cNvPicPr>
            <a:picLocks noChangeAspect="1"/>
          </p:cNvPicPr>
          <p:nvPr/>
        </p:nvPicPr>
        <p:blipFill>
          <a:blip r:embed="rId3"/>
          <a:stretch>
            <a:fillRect/>
          </a:stretch>
        </p:blipFill>
        <p:spPr>
          <a:xfrm>
            <a:off x="987552" y="4288536"/>
            <a:ext cx="237744" cy="237744"/>
          </a:xfrm>
          <a:prstGeom prst="rect">
            <a:avLst/>
          </a:prstGeom>
        </p:spPr>
      </p:pic>
      <p:sp>
        <p:nvSpPr>
          <p:cNvPr id="13" name="Text 8"/>
          <p:cNvSpPr txBox="1"/>
          <p:nvPr/>
        </p:nvSpPr>
        <p:spPr>
          <a:xfrm>
            <a:off x="1527048" y="4151376"/>
            <a:ext cx="4187952" cy="886968"/>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Double bookings</a:t>
            </a:r>
            <a:endParaRPr lang="en-US" sz="1600" dirty="0"/>
          </a:p>
          <a:p>
            <a:pPr marL="0" indent="0">
              <a:spcAft>
                <a:spcPts val="200"/>
              </a:spcAft>
              <a:buNone/>
            </a:pPr>
            <a:r>
              <a:rPr lang="en-US" sz="1400" dirty="0">
                <a:solidFill>
                  <a:schemeClr val="bg2"/>
                </a:solidFill>
              </a:rPr>
              <a:t>Manual or naive systems can sell the same seat twice</a:t>
            </a:r>
            <a:endParaRPr lang="en-US" sz="1600" dirty="0"/>
          </a:p>
        </p:txBody>
      </p:sp>
      <p:sp>
        <p:nvSpPr>
          <p:cNvPr id="14" name="Shape 9"/>
          <p:cNvSpPr/>
          <p:nvPr/>
        </p:nvSpPr>
        <p:spPr>
          <a:xfrm>
            <a:off x="868680" y="5148072"/>
            <a:ext cx="475488" cy="475488"/>
          </a:xfrm>
          <a:prstGeom prst="ellipse">
            <a:avLst/>
          </a:prstGeom>
          <a:solidFill>
            <a:schemeClr val="accent1"/>
          </a:solidFill>
          <a:ln w="12700">
            <a:solidFill>
              <a:schemeClr val="accent1"/>
            </a:solidFill>
            <a:prstDash val="solid"/>
          </a:ln>
        </p:spPr>
      </p:sp>
      <p:pic>
        <p:nvPicPr>
          <p:cNvPr id="15" name="Image 3" descr="preencoded.png"/>
          <p:cNvPicPr>
            <a:picLocks noChangeAspect="1"/>
          </p:cNvPicPr>
          <p:nvPr/>
        </p:nvPicPr>
        <p:blipFill>
          <a:blip r:embed="rId4"/>
          <a:stretch>
            <a:fillRect/>
          </a:stretch>
        </p:blipFill>
        <p:spPr>
          <a:xfrm>
            <a:off x="987552" y="5266944"/>
            <a:ext cx="237744" cy="237744"/>
          </a:xfrm>
          <a:prstGeom prst="rect">
            <a:avLst/>
          </a:prstGeom>
        </p:spPr>
      </p:pic>
      <p:sp>
        <p:nvSpPr>
          <p:cNvPr id="16" name="Text 10"/>
          <p:cNvSpPr txBox="1"/>
          <p:nvPr/>
        </p:nvSpPr>
        <p:spPr>
          <a:xfrm>
            <a:off x="1527048" y="5129784"/>
            <a:ext cx="4187952" cy="886968"/>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Paper-based admin</a:t>
            </a:r>
            <a:endParaRPr lang="en-US" sz="1600" dirty="0"/>
          </a:p>
          <a:p>
            <a:pPr marL="0" indent="0">
              <a:spcAft>
                <a:spcPts val="200"/>
              </a:spcAft>
              <a:buNone/>
            </a:pPr>
            <a:r>
              <a:rPr lang="en-US" sz="1400" dirty="0">
                <a:solidFill>
                  <a:schemeClr val="bg2"/>
                </a:solidFill>
              </a:rPr>
              <a:t>Shows, refunds and sales are tracked by hand</a:t>
            </a:r>
            <a:endParaRPr lang="en-US" sz="1600" dirty="0"/>
          </a:p>
        </p:txBody>
      </p:sp>
      <p:sp>
        <p:nvSpPr>
          <p:cNvPr id="17" name="Shape 11"/>
          <p:cNvSpPr/>
          <p:nvPr/>
        </p:nvSpPr>
        <p:spPr>
          <a:xfrm>
            <a:off x="6309360" y="1417320"/>
            <a:ext cx="5333695" cy="4709160"/>
          </a:xfrm>
          <a:prstGeom prst="roundRect">
            <a:avLst>
              <a:gd name="adj" fmla="val 1942"/>
            </a:avLst>
          </a:prstGeom>
          <a:solidFill>
            <a:schemeClr val="tx2"/>
          </a:solidFill>
          <a:ln w="9525">
            <a:solidFill>
              <a:srgbClr val="3A3B48"/>
            </a:solidFill>
            <a:prstDash val="solid"/>
          </a:ln>
        </p:spPr>
      </p:sp>
      <p:sp>
        <p:nvSpPr>
          <p:cNvPr id="18" name="Text 12"/>
          <p:cNvSpPr txBox="1"/>
          <p:nvPr/>
        </p:nvSpPr>
        <p:spPr>
          <a:xfrm>
            <a:off x="6629400" y="1600200"/>
            <a:ext cx="4572000" cy="457200"/>
          </a:xfrm>
          <a:prstGeom prst="rect">
            <a:avLst/>
          </a:prstGeom>
          <a:noFill/>
        </p:spPr>
        <p:txBody>
          <a:bodyPr wrap="square" lIns="0" tIns="0" rIns="0" bIns="0" rtlCol="0" anchor="ctr"/>
          <a:lstStyle/>
          <a:p>
            <a:pPr marL="0" indent="0">
              <a:buNone/>
            </a:pPr>
            <a:r>
              <a:rPr lang="en-US" sz="2000" b="1" dirty="0">
                <a:solidFill>
                  <a:schemeClr val="accent5"/>
                </a:solidFill>
              </a:rPr>
              <a:t>Our objectives</a:t>
            </a:r>
            <a:endParaRPr lang="en-US" sz="2000" dirty="0"/>
          </a:p>
        </p:txBody>
      </p:sp>
      <p:sp>
        <p:nvSpPr>
          <p:cNvPr id="19" name="Text 13"/>
          <p:cNvSpPr txBox="1"/>
          <p:nvPr/>
        </p:nvSpPr>
        <p:spPr>
          <a:xfrm>
            <a:off x="6629400" y="2194560"/>
            <a:ext cx="4693615" cy="3749040"/>
          </a:xfrm>
          <a:prstGeom prst="rect">
            <a:avLst/>
          </a:prstGeom>
          <a:noFill/>
        </p:spPr>
        <p:txBody>
          <a:bodyPr wrap="square" lIns="0" tIns="0" rIns="0" bIns="0" rtlCol="0" anchor="t"/>
          <a:lstStyle/>
          <a:p>
            <a:pPr marL="342900" indent="-342900">
              <a:spcAft>
                <a:spcPts val="1000"/>
              </a:spcAft>
              <a:buSzPct val="100000"/>
              <a:buChar char="✓"/>
            </a:pPr>
            <a:r>
              <a:rPr lang="en-US" sz="1600" dirty="0">
                <a:solidFill>
                  <a:schemeClr val="bg1"/>
                </a:solidFill>
              </a:rPr>
              <a:t>Let customers browse movies, choose a show and pick exact seats online</a:t>
            </a:r>
            <a:endParaRPr lang="en-US" sz="1600" dirty="0"/>
          </a:p>
          <a:p>
            <a:pPr marL="342900" indent="-342900">
              <a:spcAft>
                <a:spcPts val="1000"/>
              </a:spcAft>
              <a:buSzPct val="100000"/>
              <a:buChar char="✓"/>
            </a:pPr>
            <a:r>
              <a:rPr lang="en-US" sz="1600" dirty="0">
                <a:solidFill>
                  <a:schemeClr val="bg1"/>
                </a:solidFill>
              </a:rPr>
              <a:t>Guarantee that one seat can never be sold twice</a:t>
            </a:r>
            <a:endParaRPr lang="en-US" sz="1600" dirty="0"/>
          </a:p>
          <a:p>
            <a:pPr marL="342900" indent="-342900">
              <a:spcAft>
                <a:spcPts val="1000"/>
              </a:spcAft>
              <a:buSzPct val="100000"/>
              <a:buChar char="✓"/>
            </a:pPr>
            <a:r>
              <a:rPr lang="en-US" sz="1600" dirty="0">
                <a:solidFill>
                  <a:schemeClr val="bg1"/>
                </a:solidFill>
              </a:rPr>
              <a:t>Support snacks, promo codes, demo card / JazzCash / Easypaisa payment</a:t>
            </a:r>
            <a:endParaRPr lang="en-US" sz="1600" dirty="0"/>
          </a:p>
          <a:p>
            <a:pPr marL="342900" indent="-342900">
              <a:spcAft>
                <a:spcPts val="1000"/>
              </a:spcAft>
              <a:buSzPct val="100000"/>
              <a:buChar char="✓"/>
            </a:pPr>
            <a:r>
              <a:rPr lang="en-US" sz="1600" dirty="0">
                <a:solidFill>
                  <a:schemeClr val="bg1"/>
                </a:solidFill>
              </a:rPr>
              <a:t>Issue an e-ticket with a QR code that staff scan at the door</a:t>
            </a:r>
            <a:endParaRPr lang="en-US" sz="1600" dirty="0"/>
          </a:p>
          <a:p>
            <a:pPr marL="342900" indent="-342900">
              <a:spcAft>
                <a:spcPts val="1000"/>
              </a:spcAft>
              <a:buSzPct val="100000"/>
              <a:buChar char="✓"/>
            </a:pPr>
            <a:r>
              <a:rPr lang="en-US" sz="1600" dirty="0">
                <a:solidFill>
                  <a:schemeClr val="bg1"/>
                </a:solidFill>
              </a:rPr>
              <a:t>Handle cancellations with an automatic refund policy</a:t>
            </a:r>
            <a:endParaRPr lang="en-US" sz="1600" dirty="0"/>
          </a:p>
          <a:p>
            <a:pPr marL="342900" indent="-342900">
              <a:spcAft>
                <a:spcPts val="1000"/>
              </a:spcAft>
              <a:buSzPct val="100000"/>
              <a:buChar char="✓"/>
            </a:pPr>
            <a:r>
              <a:rPr lang="en-US" sz="1600" dirty="0">
                <a:solidFill>
                  <a:schemeClr val="bg1"/>
                </a:solidFill>
              </a:rPr>
              <a:t>Give staff a secure admin panel with live sales reports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The solution: one database, two applications</a:t>
            </a:r>
            <a:endParaRPr lang="en-US" sz="3200" dirty="0"/>
          </a:p>
        </p:txBody>
      </p:sp>
      <p:sp>
        <p:nvSpPr>
          <p:cNvPr id="3" name="Shape 1"/>
          <p:cNvSpPr/>
          <p:nvPr/>
        </p:nvSpPr>
        <p:spPr>
          <a:xfrm>
            <a:off x="548640" y="1417320"/>
            <a:ext cx="3749040" cy="4709160"/>
          </a:xfrm>
          <a:prstGeom prst="roundRect">
            <a:avLst>
              <a:gd name="adj" fmla="val 2439"/>
            </a:avLst>
          </a:prstGeom>
          <a:solidFill>
            <a:schemeClr val="tx2"/>
          </a:solidFill>
          <a:ln w="9525">
            <a:solidFill>
              <a:srgbClr val="3A3B48"/>
            </a:solidFill>
            <a:prstDash val="solid"/>
          </a:ln>
        </p:spPr>
      </p:sp>
      <p:sp>
        <p:nvSpPr>
          <p:cNvPr id="4" name="Shape 2"/>
          <p:cNvSpPr/>
          <p:nvPr/>
        </p:nvSpPr>
        <p:spPr>
          <a:xfrm>
            <a:off x="822960" y="1645920"/>
            <a:ext cx="548640" cy="548640"/>
          </a:xfrm>
          <a:prstGeom prst="ellipse">
            <a:avLst/>
          </a:prstGeom>
          <a:solidFill>
            <a:schemeClr val="accent1"/>
          </a:solidFill>
          <a:ln w="12700">
            <a:solidFill>
              <a:schemeClr val="accent1"/>
            </a:solidFill>
            <a:prstDash val="solid"/>
          </a:ln>
        </p:spPr>
      </p:sp>
      <p:pic>
        <p:nvPicPr>
          <p:cNvPr id="5" name="Image 0" descr="preencoded.png"/>
          <p:cNvPicPr>
            <a:picLocks noChangeAspect="1"/>
          </p:cNvPicPr>
          <p:nvPr/>
        </p:nvPicPr>
        <p:blipFill>
          <a:blip r:embed="rId1"/>
          <a:stretch>
            <a:fillRect/>
          </a:stretch>
        </p:blipFill>
        <p:spPr>
          <a:xfrm>
            <a:off x="960120" y="1783080"/>
            <a:ext cx="274320" cy="274320"/>
          </a:xfrm>
          <a:prstGeom prst="rect">
            <a:avLst/>
          </a:prstGeom>
        </p:spPr>
      </p:pic>
      <p:sp>
        <p:nvSpPr>
          <p:cNvPr id="6" name="Text 3"/>
          <p:cNvSpPr txBox="1"/>
          <p:nvPr/>
        </p:nvSpPr>
        <p:spPr>
          <a:xfrm>
            <a:off x="1508760" y="1645920"/>
            <a:ext cx="2651760" cy="548640"/>
          </a:xfrm>
          <a:prstGeom prst="rect">
            <a:avLst/>
          </a:prstGeom>
          <a:noFill/>
        </p:spPr>
        <p:txBody>
          <a:bodyPr wrap="square" lIns="0" tIns="0" rIns="0" bIns="0" rtlCol="0" anchor="ctr"/>
          <a:lstStyle/>
          <a:p>
            <a:pPr marL="0" indent="0">
              <a:buNone/>
            </a:pPr>
            <a:r>
              <a:rPr lang="en-US" sz="2000" b="1" dirty="0">
                <a:solidFill>
                  <a:schemeClr val="bg1"/>
                </a:solidFill>
              </a:rPr>
              <a:t>Customer website</a:t>
            </a:r>
            <a:endParaRPr lang="en-US" sz="2000" dirty="0"/>
          </a:p>
        </p:txBody>
      </p:sp>
      <p:sp>
        <p:nvSpPr>
          <p:cNvPr id="7" name="Text 4"/>
          <p:cNvSpPr txBox="1"/>
          <p:nvPr/>
        </p:nvSpPr>
        <p:spPr>
          <a:xfrm>
            <a:off x="822960" y="2468880"/>
            <a:ext cx="3291840" cy="3520440"/>
          </a:xfrm>
          <a:prstGeom prst="rect">
            <a:avLst/>
          </a:prstGeom>
          <a:noFill/>
        </p:spPr>
        <p:txBody>
          <a:bodyPr wrap="square" lIns="0" tIns="0" rIns="0" bIns="0" rtlCol="0" anchor="t"/>
          <a:lstStyle/>
          <a:p>
            <a:pPr marL="342900" indent="-342900">
              <a:spcAft>
                <a:spcPts val="800"/>
              </a:spcAft>
              <a:buSzPct val="100000"/>
              <a:buChar char="•"/>
            </a:pPr>
            <a:r>
              <a:rPr lang="en-US" sz="1700" dirty="0">
                <a:solidFill>
                  <a:schemeClr val="bg1"/>
                </a:solidFill>
              </a:rPr>
              <a:t>Browse, live search and filters</a:t>
            </a:r>
            <a:endParaRPr lang="en-US" sz="1700" dirty="0"/>
          </a:p>
          <a:p>
            <a:pPr marL="342900" indent="-342900">
              <a:spcAft>
                <a:spcPts val="800"/>
              </a:spcAft>
              <a:buSzPct val="100000"/>
              <a:buChar char="•"/>
            </a:pPr>
            <a:r>
              <a:rPr lang="en-US" sz="1700" dirty="0">
                <a:solidFill>
                  <a:schemeClr val="bg1"/>
                </a:solidFill>
              </a:rPr>
              <a:t>Movie pages with trailer, ratings, reviews</a:t>
            </a:r>
            <a:endParaRPr lang="en-US" sz="1700" dirty="0"/>
          </a:p>
          <a:p>
            <a:pPr marL="342900" indent="-342900">
              <a:spcAft>
                <a:spcPts val="800"/>
              </a:spcAft>
              <a:buSzPct val="100000"/>
              <a:buChar char="•"/>
            </a:pPr>
            <a:r>
              <a:rPr lang="en-US" sz="1700" dirty="0">
                <a:solidFill>
                  <a:schemeClr val="bg1"/>
                </a:solidFill>
              </a:rPr>
              <a:t>Seat map with 3 seat classes</a:t>
            </a:r>
            <a:endParaRPr lang="en-US" sz="1700" dirty="0"/>
          </a:p>
          <a:p>
            <a:pPr marL="342900" indent="-342900">
              <a:spcAft>
                <a:spcPts val="800"/>
              </a:spcAft>
              <a:buSzPct val="100000"/>
              <a:buChar char="•"/>
            </a:pPr>
            <a:r>
              <a:rPr lang="en-US" sz="1700" dirty="0">
                <a:solidFill>
                  <a:schemeClr val="bg1"/>
                </a:solidFill>
              </a:rPr>
              <a:t>Snacks, promo codes, demo payment</a:t>
            </a:r>
            <a:endParaRPr lang="en-US" sz="1700" dirty="0"/>
          </a:p>
          <a:p>
            <a:pPr marL="342900" indent="-342900">
              <a:spcAft>
                <a:spcPts val="800"/>
              </a:spcAft>
              <a:buSzPct val="100000"/>
              <a:buChar char="•"/>
            </a:pPr>
            <a:r>
              <a:rPr lang="en-US" sz="1700" dirty="0">
                <a:solidFill>
                  <a:schemeClr val="bg1"/>
                </a:solidFill>
              </a:rPr>
              <a:t>QR e-ticket, My Bookings, refunds</a:t>
            </a:r>
            <a:endParaRPr lang="en-US" sz="1700" dirty="0"/>
          </a:p>
          <a:p>
            <a:pPr marL="342900" indent="-342900">
              <a:spcAft>
                <a:spcPts val="800"/>
              </a:spcAft>
              <a:buSzPct val="100000"/>
              <a:buChar char="•"/>
            </a:pPr>
            <a:r>
              <a:rPr lang="en-US" sz="1700" dirty="0">
                <a:solidFill>
                  <a:schemeClr val="bg1"/>
                </a:solidFill>
              </a:rPr>
              <a:t>Profile, favorites, loyalty points</a:t>
            </a:r>
            <a:endParaRPr lang="en-US" sz="1700" dirty="0"/>
          </a:p>
        </p:txBody>
      </p:sp>
      <p:sp>
        <p:nvSpPr>
          <p:cNvPr id="8" name="Shape 5"/>
          <p:cNvSpPr/>
          <p:nvPr/>
        </p:nvSpPr>
        <p:spPr>
          <a:xfrm>
            <a:off x="4663440" y="1417320"/>
            <a:ext cx="3749040" cy="4709160"/>
          </a:xfrm>
          <a:prstGeom prst="roundRect">
            <a:avLst>
              <a:gd name="adj" fmla="val 2439"/>
            </a:avLst>
          </a:prstGeom>
          <a:solidFill>
            <a:schemeClr val="tx2"/>
          </a:solidFill>
          <a:ln w="9525">
            <a:solidFill>
              <a:srgbClr val="3A3B48"/>
            </a:solidFill>
            <a:prstDash val="solid"/>
          </a:ln>
        </p:spPr>
      </p:sp>
      <p:sp>
        <p:nvSpPr>
          <p:cNvPr id="9" name="Shape 6"/>
          <p:cNvSpPr/>
          <p:nvPr/>
        </p:nvSpPr>
        <p:spPr>
          <a:xfrm>
            <a:off x="4937760" y="1645920"/>
            <a:ext cx="548640" cy="548640"/>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5074920" y="1783080"/>
            <a:ext cx="274320" cy="274320"/>
          </a:xfrm>
          <a:prstGeom prst="rect">
            <a:avLst/>
          </a:prstGeom>
        </p:spPr>
      </p:pic>
      <p:sp>
        <p:nvSpPr>
          <p:cNvPr id="11" name="Text 7"/>
          <p:cNvSpPr txBox="1"/>
          <p:nvPr/>
        </p:nvSpPr>
        <p:spPr>
          <a:xfrm>
            <a:off x="5623560" y="1645920"/>
            <a:ext cx="2651760" cy="548640"/>
          </a:xfrm>
          <a:prstGeom prst="rect">
            <a:avLst/>
          </a:prstGeom>
          <a:noFill/>
        </p:spPr>
        <p:txBody>
          <a:bodyPr wrap="square" lIns="0" tIns="0" rIns="0" bIns="0" rtlCol="0" anchor="ctr"/>
          <a:lstStyle/>
          <a:p>
            <a:pPr marL="0" indent="0">
              <a:buNone/>
            </a:pPr>
            <a:r>
              <a:rPr lang="en-US" sz="2000" b="1" dirty="0">
                <a:solidFill>
                  <a:schemeClr val="bg1"/>
                </a:solidFill>
              </a:rPr>
              <a:t>Admin panel</a:t>
            </a:r>
            <a:endParaRPr lang="en-US" sz="2000" dirty="0"/>
          </a:p>
        </p:txBody>
      </p:sp>
      <p:sp>
        <p:nvSpPr>
          <p:cNvPr id="12" name="Text 8"/>
          <p:cNvSpPr txBox="1"/>
          <p:nvPr/>
        </p:nvSpPr>
        <p:spPr>
          <a:xfrm>
            <a:off x="4937760" y="2468880"/>
            <a:ext cx="3291840" cy="3520440"/>
          </a:xfrm>
          <a:prstGeom prst="rect">
            <a:avLst/>
          </a:prstGeom>
          <a:noFill/>
        </p:spPr>
        <p:txBody>
          <a:bodyPr wrap="square" lIns="0" tIns="0" rIns="0" bIns="0" rtlCol="0" anchor="t"/>
          <a:lstStyle/>
          <a:p>
            <a:pPr marL="342900" indent="-342900">
              <a:spcAft>
                <a:spcPts val="800"/>
              </a:spcAft>
              <a:buSzPct val="100000"/>
              <a:buChar char="•"/>
            </a:pPr>
            <a:r>
              <a:rPr lang="en-US" sz="1700" dirty="0">
                <a:solidFill>
                  <a:schemeClr val="bg1"/>
                </a:solidFill>
              </a:rPr>
              <a:t>Dashboard with KPIs and 4 charts</a:t>
            </a:r>
            <a:endParaRPr lang="en-US" sz="1700" dirty="0"/>
          </a:p>
          <a:p>
            <a:pPr marL="342900" indent="-342900">
              <a:spcAft>
                <a:spcPts val="800"/>
              </a:spcAft>
              <a:buSzPct val="100000"/>
              <a:buChar char="•"/>
            </a:pPr>
            <a:r>
              <a:rPr lang="en-US" sz="1700" dirty="0">
                <a:solidFill>
                  <a:schemeClr val="bg1"/>
                </a:solidFill>
              </a:rPr>
              <a:t>Movies, shows, prices, snacks, promos</a:t>
            </a:r>
            <a:endParaRPr lang="en-US" sz="1700" dirty="0"/>
          </a:p>
          <a:p>
            <a:pPr marL="342900" indent="-342900">
              <a:spcAft>
                <a:spcPts val="800"/>
              </a:spcAft>
              <a:buSzPct val="100000"/>
              <a:buChar char="•"/>
            </a:pPr>
            <a:r>
              <a:rPr lang="en-US" sz="1700" dirty="0">
                <a:solidFill>
                  <a:schemeClr val="bg1"/>
                </a:solidFill>
              </a:rPr>
              <a:t>All bookings, refunds approve / reject</a:t>
            </a:r>
            <a:endParaRPr lang="en-US" sz="1700" dirty="0"/>
          </a:p>
          <a:p>
            <a:pPr marL="342900" indent="-342900">
              <a:spcAft>
                <a:spcPts val="800"/>
              </a:spcAft>
              <a:buSzPct val="100000"/>
              <a:buChar char="•"/>
            </a:pPr>
            <a:r>
              <a:rPr lang="en-US" sz="1700" dirty="0">
                <a:solidFill>
                  <a:schemeClr val="bg1"/>
                </a:solidFill>
              </a:rPr>
              <a:t>QR ticket scanner at the entrance</a:t>
            </a:r>
            <a:endParaRPr lang="en-US" sz="1700" dirty="0"/>
          </a:p>
          <a:p>
            <a:pPr marL="342900" indent="-342900">
              <a:spcAft>
                <a:spcPts val="800"/>
              </a:spcAft>
              <a:buSzPct val="100000"/>
              <a:buChar char="•"/>
            </a:pPr>
            <a:r>
              <a:rPr lang="en-US" sz="1700" dirty="0">
                <a:solidFill>
                  <a:schemeClr val="bg1"/>
                </a:solidFill>
              </a:rPr>
              <a:t>Reports with CSV export and print</a:t>
            </a:r>
            <a:endParaRPr lang="en-US" sz="1700" dirty="0"/>
          </a:p>
          <a:p>
            <a:pPr marL="342900" indent="-342900">
              <a:spcAft>
                <a:spcPts val="800"/>
              </a:spcAft>
              <a:buSzPct val="100000"/>
              <a:buChar char="•"/>
            </a:pPr>
            <a:r>
              <a:rPr lang="en-US" sz="1700" dirty="0">
                <a:solidFill>
                  <a:schemeClr val="bg1"/>
                </a:solidFill>
              </a:rPr>
              <a:t>Users, reviews, messages, activity log</a:t>
            </a:r>
            <a:endParaRPr lang="en-US" sz="1700" dirty="0"/>
          </a:p>
        </p:txBody>
      </p:sp>
      <p:sp>
        <p:nvSpPr>
          <p:cNvPr id="13" name="Shape 9"/>
          <p:cNvSpPr/>
          <p:nvPr/>
        </p:nvSpPr>
        <p:spPr>
          <a:xfrm>
            <a:off x="8778240" y="1417320"/>
            <a:ext cx="2864815" cy="1051560"/>
          </a:xfrm>
          <a:prstGeom prst="roundRect">
            <a:avLst>
              <a:gd name="adj" fmla="val 8696"/>
            </a:avLst>
          </a:prstGeom>
          <a:solidFill>
            <a:schemeClr val="tx2"/>
          </a:solidFill>
          <a:ln w="9525">
            <a:solidFill>
              <a:srgbClr val="3A3B48"/>
            </a:solidFill>
            <a:prstDash val="solid"/>
          </a:ln>
        </p:spPr>
      </p:sp>
      <p:sp>
        <p:nvSpPr>
          <p:cNvPr id="14" name="Text 10"/>
          <p:cNvSpPr txBox="1"/>
          <p:nvPr/>
        </p:nvSpPr>
        <p:spPr>
          <a:xfrm>
            <a:off x="9006840" y="1417320"/>
            <a:ext cx="1600200" cy="1051560"/>
          </a:xfrm>
          <a:prstGeom prst="rect">
            <a:avLst/>
          </a:prstGeom>
          <a:noFill/>
        </p:spPr>
        <p:txBody>
          <a:bodyPr wrap="square" lIns="0" tIns="0" rIns="0" bIns="0" rtlCol="0" anchor="ctr"/>
          <a:lstStyle/>
          <a:p>
            <a:pPr marL="0" indent="0">
              <a:buNone/>
            </a:pPr>
            <a:r>
              <a:rPr lang="en-US" sz="3000" b="1" dirty="0">
                <a:solidFill>
                  <a:schemeClr val="accent1"/>
                </a:solidFill>
                <a:latin typeface="Arial" panose="020B0604020202020204" pitchFamily="34" charset="0"/>
                <a:ea typeface="Arial" panose="020B0604020202020204" pitchFamily="34" charset="-122"/>
                <a:cs typeface="Arial" panose="020B0604020202020204" pitchFamily="34" charset="-120"/>
              </a:rPr>
              <a:t>21</a:t>
            </a:r>
            <a:endParaRPr lang="en-US" sz="3000" dirty="0"/>
          </a:p>
        </p:txBody>
      </p:sp>
      <p:sp>
        <p:nvSpPr>
          <p:cNvPr id="15" name="Text 11"/>
          <p:cNvSpPr txBox="1"/>
          <p:nvPr/>
        </p:nvSpPr>
        <p:spPr>
          <a:xfrm>
            <a:off x="10607040" y="1417320"/>
            <a:ext cx="898855" cy="1051560"/>
          </a:xfrm>
          <a:prstGeom prst="rect">
            <a:avLst/>
          </a:prstGeom>
          <a:noFill/>
        </p:spPr>
        <p:txBody>
          <a:bodyPr wrap="square" lIns="0" tIns="0" rIns="0" bIns="0" rtlCol="0" anchor="ctr"/>
          <a:lstStyle/>
          <a:p>
            <a:pPr marL="0" indent="0">
              <a:buNone/>
            </a:pPr>
            <a:r>
              <a:rPr lang="en-US" sz="1500" dirty="0">
                <a:solidFill>
                  <a:schemeClr val="bg1"/>
                </a:solidFill>
              </a:rPr>
              <a:t>database tables</a:t>
            </a:r>
            <a:endParaRPr lang="en-US" sz="1500" dirty="0"/>
          </a:p>
        </p:txBody>
      </p:sp>
      <p:sp>
        <p:nvSpPr>
          <p:cNvPr id="16" name="Shape 12"/>
          <p:cNvSpPr/>
          <p:nvPr/>
        </p:nvSpPr>
        <p:spPr>
          <a:xfrm>
            <a:off x="8778240" y="2624328"/>
            <a:ext cx="2864815" cy="1051560"/>
          </a:xfrm>
          <a:prstGeom prst="roundRect">
            <a:avLst>
              <a:gd name="adj" fmla="val 8696"/>
            </a:avLst>
          </a:prstGeom>
          <a:solidFill>
            <a:schemeClr val="tx2"/>
          </a:solidFill>
          <a:ln w="9525">
            <a:solidFill>
              <a:srgbClr val="3A3B48"/>
            </a:solidFill>
            <a:prstDash val="solid"/>
          </a:ln>
        </p:spPr>
      </p:sp>
      <p:sp>
        <p:nvSpPr>
          <p:cNvPr id="17" name="Text 13"/>
          <p:cNvSpPr txBox="1"/>
          <p:nvPr/>
        </p:nvSpPr>
        <p:spPr>
          <a:xfrm>
            <a:off x="9006840" y="2624328"/>
            <a:ext cx="1600200" cy="1051560"/>
          </a:xfrm>
          <a:prstGeom prst="rect">
            <a:avLst/>
          </a:prstGeom>
          <a:noFill/>
        </p:spPr>
        <p:txBody>
          <a:bodyPr wrap="square" lIns="0" tIns="0" rIns="0" bIns="0" rtlCol="0" anchor="ctr"/>
          <a:lstStyle/>
          <a:p>
            <a:pPr marL="0" indent="0">
              <a:buNone/>
            </a:pPr>
            <a:r>
              <a:rPr lang="en-US" sz="3000" b="1" dirty="0">
                <a:solidFill>
                  <a:schemeClr val="accent1"/>
                </a:solidFill>
                <a:latin typeface="Arial" panose="020B0604020202020204" pitchFamily="34" charset="0"/>
                <a:ea typeface="Arial" panose="020B0604020202020204" pitchFamily="34" charset="-122"/>
                <a:cs typeface="Arial" panose="020B0604020202020204" pitchFamily="34" charset="-120"/>
              </a:rPr>
              <a:t>83</a:t>
            </a:r>
            <a:endParaRPr lang="en-US" sz="3000" dirty="0"/>
          </a:p>
        </p:txBody>
      </p:sp>
      <p:sp>
        <p:nvSpPr>
          <p:cNvPr id="18" name="Text 14"/>
          <p:cNvSpPr txBox="1"/>
          <p:nvPr/>
        </p:nvSpPr>
        <p:spPr>
          <a:xfrm>
            <a:off x="10607040" y="2624328"/>
            <a:ext cx="898855" cy="1051560"/>
          </a:xfrm>
          <a:prstGeom prst="rect">
            <a:avLst/>
          </a:prstGeom>
          <a:noFill/>
        </p:spPr>
        <p:txBody>
          <a:bodyPr wrap="square" lIns="0" tIns="0" rIns="0" bIns="0" rtlCol="0" anchor="ctr"/>
          <a:lstStyle/>
          <a:p>
            <a:pPr marL="0" indent="0">
              <a:buNone/>
            </a:pPr>
            <a:r>
              <a:rPr lang="en-US" sz="1500" dirty="0">
                <a:solidFill>
                  <a:schemeClr val="bg1"/>
                </a:solidFill>
              </a:rPr>
              <a:t>PHP files, about 9,500 lines</a:t>
            </a:r>
            <a:endParaRPr lang="en-US" sz="1500" dirty="0"/>
          </a:p>
        </p:txBody>
      </p:sp>
      <p:sp>
        <p:nvSpPr>
          <p:cNvPr id="19" name="Shape 15"/>
          <p:cNvSpPr/>
          <p:nvPr/>
        </p:nvSpPr>
        <p:spPr>
          <a:xfrm>
            <a:off x="8778240" y="3831336"/>
            <a:ext cx="2864815" cy="1051560"/>
          </a:xfrm>
          <a:prstGeom prst="roundRect">
            <a:avLst>
              <a:gd name="adj" fmla="val 8696"/>
            </a:avLst>
          </a:prstGeom>
          <a:solidFill>
            <a:schemeClr val="tx2"/>
          </a:solidFill>
          <a:ln w="9525">
            <a:solidFill>
              <a:srgbClr val="3A3B48"/>
            </a:solidFill>
            <a:prstDash val="solid"/>
          </a:ln>
        </p:spPr>
      </p:sp>
      <p:sp>
        <p:nvSpPr>
          <p:cNvPr id="20" name="Text 16"/>
          <p:cNvSpPr txBox="1"/>
          <p:nvPr/>
        </p:nvSpPr>
        <p:spPr>
          <a:xfrm>
            <a:off x="9006840" y="3831336"/>
            <a:ext cx="1600200" cy="1051560"/>
          </a:xfrm>
          <a:prstGeom prst="rect">
            <a:avLst/>
          </a:prstGeom>
          <a:noFill/>
        </p:spPr>
        <p:txBody>
          <a:bodyPr wrap="square" lIns="0" tIns="0" rIns="0" bIns="0" rtlCol="0" anchor="ctr"/>
          <a:lstStyle/>
          <a:p>
            <a:pPr marL="0" indent="0">
              <a:buNone/>
            </a:pPr>
            <a:r>
              <a:rPr lang="en-US" sz="3000" b="1" dirty="0">
                <a:solidFill>
                  <a:schemeClr val="accent1"/>
                </a:solidFill>
                <a:latin typeface="Arial" panose="020B0604020202020204" pitchFamily="34" charset="0"/>
                <a:ea typeface="Arial" panose="020B0604020202020204" pitchFamily="34" charset="-122"/>
                <a:cs typeface="Arial" panose="020B0604020202020204" pitchFamily="34" charset="-120"/>
              </a:rPr>
              <a:t>96</a:t>
            </a:r>
            <a:endParaRPr lang="en-US" sz="3000" dirty="0"/>
          </a:p>
        </p:txBody>
      </p:sp>
      <p:sp>
        <p:nvSpPr>
          <p:cNvPr id="21" name="Text 17"/>
          <p:cNvSpPr txBox="1"/>
          <p:nvPr/>
        </p:nvSpPr>
        <p:spPr>
          <a:xfrm>
            <a:off x="10607040" y="3831336"/>
            <a:ext cx="898855" cy="1051560"/>
          </a:xfrm>
          <a:prstGeom prst="rect">
            <a:avLst/>
          </a:prstGeom>
          <a:noFill/>
        </p:spPr>
        <p:txBody>
          <a:bodyPr wrap="square" lIns="0" tIns="0" rIns="0" bIns="0" rtlCol="0" anchor="ctr"/>
          <a:lstStyle/>
          <a:p>
            <a:pPr marL="0" indent="0">
              <a:buNone/>
            </a:pPr>
            <a:r>
              <a:rPr lang="en-US" sz="1500" dirty="0">
                <a:solidFill>
                  <a:schemeClr val="bg1"/>
                </a:solidFill>
              </a:rPr>
              <a:t>seats per hall, 3 classes</a:t>
            </a:r>
            <a:endParaRPr lang="en-US" sz="1500" dirty="0"/>
          </a:p>
        </p:txBody>
      </p:sp>
      <p:sp>
        <p:nvSpPr>
          <p:cNvPr id="22" name="Shape 18"/>
          <p:cNvSpPr/>
          <p:nvPr/>
        </p:nvSpPr>
        <p:spPr>
          <a:xfrm>
            <a:off x="8778240" y="5038344"/>
            <a:ext cx="2864815" cy="1051560"/>
          </a:xfrm>
          <a:prstGeom prst="roundRect">
            <a:avLst>
              <a:gd name="adj" fmla="val 8696"/>
            </a:avLst>
          </a:prstGeom>
          <a:solidFill>
            <a:schemeClr val="tx2"/>
          </a:solidFill>
          <a:ln w="9525">
            <a:solidFill>
              <a:srgbClr val="3A3B48"/>
            </a:solidFill>
            <a:prstDash val="solid"/>
          </a:ln>
        </p:spPr>
      </p:sp>
      <p:sp>
        <p:nvSpPr>
          <p:cNvPr id="23" name="Text 19"/>
          <p:cNvSpPr txBox="1"/>
          <p:nvPr/>
        </p:nvSpPr>
        <p:spPr>
          <a:xfrm>
            <a:off x="9006840" y="5038344"/>
            <a:ext cx="1600200" cy="1051560"/>
          </a:xfrm>
          <a:prstGeom prst="rect">
            <a:avLst/>
          </a:prstGeom>
          <a:noFill/>
        </p:spPr>
        <p:txBody>
          <a:bodyPr wrap="square" lIns="0" tIns="0" rIns="0" bIns="0" rtlCol="0" anchor="ctr"/>
          <a:lstStyle/>
          <a:p>
            <a:pPr marL="0" indent="0">
              <a:buNone/>
            </a:pPr>
            <a:r>
              <a:rPr lang="en-US" sz="3000" b="1" dirty="0">
                <a:solidFill>
                  <a:schemeClr val="accent1"/>
                </a:solidFill>
                <a:latin typeface="Arial" panose="020B0604020202020204" pitchFamily="34" charset="0"/>
                <a:ea typeface="Arial" panose="020B0604020202020204" pitchFamily="34" charset="-122"/>
                <a:cs typeface="Arial" panose="020B0604020202020204" pitchFamily="34" charset="-120"/>
              </a:rPr>
              <a:t>5 min</a:t>
            </a:r>
            <a:endParaRPr lang="en-US" sz="3000" dirty="0"/>
          </a:p>
        </p:txBody>
      </p:sp>
      <p:sp>
        <p:nvSpPr>
          <p:cNvPr id="24" name="Text 20"/>
          <p:cNvSpPr txBox="1"/>
          <p:nvPr/>
        </p:nvSpPr>
        <p:spPr>
          <a:xfrm>
            <a:off x="10607040" y="5038344"/>
            <a:ext cx="898855" cy="1051560"/>
          </a:xfrm>
          <a:prstGeom prst="rect">
            <a:avLst/>
          </a:prstGeom>
          <a:noFill/>
        </p:spPr>
        <p:txBody>
          <a:bodyPr wrap="square" lIns="0" tIns="0" rIns="0" bIns="0" rtlCol="0" anchor="ctr"/>
          <a:lstStyle/>
          <a:p>
            <a:pPr marL="0" indent="0">
              <a:buNone/>
            </a:pPr>
            <a:r>
              <a:rPr lang="en-US" sz="1500" dirty="0">
                <a:solidFill>
                  <a:schemeClr val="bg1"/>
                </a:solidFill>
              </a:rPr>
              <a:t>seat hold during checkout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Technology stack</a:t>
            </a:r>
            <a:endParaRPr lang="en-US" sz="3200" dirty="0"/>
          </a:p>
        </p:txBody>
      </p:sp>
      <p:sp>
        <p:nvSpPr>
          <p:cNvPr id="3" name="Shape 1"/>
          <p:cNvSpPr/>
          <p:nvPr/>
        </p:nvSpPr>
        <p:spPr>
          <a:xfrm>
            <a:off x="548640" y="1508760"/>
            <a:ext cx="1999427" cy="2240280"/>
          </a:xfrm>
          <a:prstGeom prst="roundRect">
            <a:avLst>
              <a:gd name="adj" fmla="val 4573"/>
            </a:avLst>
          </a:prstGeom>
          <a:solidFill>
            <a:schemeClr val="tx2"/>
          </a:solidFill>
          <a:ln w="9525">
            <a:solidFill>
              <a:srgbClr val="3A3B48"/>
            </a:solidFill>
            <a:prstDash val="solid"/>
          </a:ln>
        </p:spPr>
      </p:sp>
      <p:sp>
        <p:nvSpPr>
          <p:cNvPr id="4" name="Shape 2"/>
          <p:cNvSpPr/>
          <p:nvPr/>
        </p:nvSpPr>
        <p:spPr>
          <a:xfrm>
            <a:off x="1205454" y="1783080"/>
            <a:ext cx="685800" cy="685800"/>
          </a:xfrm>
          <a:prstGeom prst="ellipse">
            <a:avLst/>
          </a:prstGeom>
          <a:solidFill>
            <a:schemeClr val="accent1"/>
          </a:solidFill>
          <a:ln w="12700">
            <a:solidFill>
              <a:schemeClr val="accent1"/>
            </a:solidFill>
            <a:prstDash val="solid"/>
          </a:ln>
        </p:spPr>
      </p:sp>
      <p:pic>
        <p:nvPicPr>
          <p:cNvPr id="5" name="Image 0" descr="preencoded.png"/>
          <p:cNvPicPr>
            <a:picLocks noChangeAspect="1"/>
          </p:cNvPicPr>
          <p:nvPr/>
        </p:nvPicPr>
        <p:blipFill>
          <a:blip r:embed="rId1"/>
          <a:stretch>
            <a:fillRect/>
          </a:stretch>
        </p:blipFill>
        <p:spPr>
          <a:xfrm>
            <a:off x="1376904" y="1954530"/>
            <a:ext cx="342900" cy="342900"/>
          </a:xfrm>
          <a:prstGeom prst="rect">
            <a:avLst/>
          </a:prstGeom>
        </p:spPr>
      </p:pic>
      <p:sp>
        <p:nvSpPr>
          <p:cNvPr id="6" name="Text 3"/>
          <p:cNvSpPr txBox="1"/>
          <p:nvPr/>
        </p:nvSpPr>
        <p:spPr>
          <a:xfrm>
            <a:off x="685800" y="2606040"/>
            <a:ext cx="1725107" cy="1051560"/>
          </a:xfrm>
          <a:prstGeom prst="rect">
            <a:avLst/>
          </a:prstGeom>
          <a:noFill/>
        </p:spPr>
        <p:txBody>
          <a:bodyPr wrap="square" lIns="0" tIns="0" rIns="0" bIns="0" rtlCol="0" anchor="t"/>
          <a:lstStyle/>
          <a:p>
            <a:pPr marL="0" indent="0" algn="ctr">
              <a:buNone/>
            </a:pPr>
            <a:r>
              <a:rPr lang="en-US" sz="1600" b="1" dirty="0">
                <a:solidFill>
                  <a:schemeClr val="bg1"/>
                </a:solidFill>
              </a:rPr>
              <a:t>PHP 7.4 / 8.2</a:t>
            </a:r>
            <a:endParaRPr lang="en-US" sz="1600" dirty="0"/>
          </a:p>
          <a:p>
            <a:pPr marL="0" indent="0" algn="ctr">
              <a:buNone/>
            </a:pPr>
            <a:r>
              <a:rPr lang="en-US" sz="1300" dirty="0">
                <a:solidFill>
                  <a:schemeClr val="bg2"/>
                </a:solidFill>
              </a:rPr>
              <a:t>Server-side pages, no framework</a:t>
            </a:r>
            <a:endParaRPr lang="en-US" sz="1600" dirty="0"/>
          </a:p>
        </p:txBody>
      </p:sp>
      <p:sp>
        <p:nvSpPr>
          <p:cNvPr id="7" name="Shape 4"/>
          <p:cNvSpPr/>
          <p:nvPr/>
        </p:nvSpPr>
        <p:spPr>
          <a:xfrm>
            <a:off x="2822387" y="1508760"/>
            <a:ext cx="1999427" cy="2240280"/>
          </a:xfrm>
          <a:prstGeom prst="roundRect">
            <a:avLst>
              <a:gd name="adj" fmla="val 4573"/>
            </a:avLst>
          </a:prstGeom>
          <a:solidFill>
            <a:schemeClr val="tx2"/>
          </a:solidFill>
          <a:ln w="9525">
            <a:solidFill>
              <a:srgbClr val="3A3B48"/>
            </a:solidFill>
            <a:prstDash val="solid"/>
          </a:ln>
        </p:spPr>
      </p:sp>
      <p:sp>
        <p:nvSpPr>
          <p:cNvPr id="8" name="Shape 5"/>
          <p:cNvSpPr/>
          <p:nvPr/>
        </p:nvSpPr>
        <p:spPr>
          <a:xfrm>
            <a:off x="3479201" y="1783080"/>
            <a:ext cx="685800" cy="685800"/>
          </a:xfrm>
          <a:prstGeom prst="ellipse">
            <a:avLst/>
          </a:prstGeom>
          <a:solidFill>
            <a:schemeClr val="accent1"/>
          </a:solidFill>
          <a:ln w="12700">
            <a:solidFill>
              <a:schemeClr val="accent1"/>
            </a:solidFill>
            <a:prstDash val="solid"/>
          </a:ln>
        </p:spPr>
      </p:sp>
      <p:pic>
        <p:nvPicPr>
          <p:cNvPr id="9" name="Image 1" descr="preencoded.png"/>
          <p:cNvPicPr>
            <a:picLocks noChangeAspect="1"/>
          </p:cNvPicPr>
          <p:nvPr/>
        </p:nvPicPr>
        <p:blipFill>
          <a:blip r:embed="rId2"/>
          <a:stretch>
            <a:fillRect/>
          </a:stretch>
        </p:blipFill>
        <p:spPr>
          <a:xfrm>
            <a:off x="3650651" y="1954530"/>
            <a:ext cx="342900" cy="342900"/>
          </a:xfrm>
          <a:prstGeom prst="rect">
            <a:avLst/>
          </a:prstGeom>
        </p:spPr>
      </p:pic>
      <p:sp>
        <p:nvSpPr>
          <p:cNvPr id="10" name="Text 6"/>
          <p:cNvSpPr txBox="1"/>
          <p:nvPr/>
        </p:nvSpPr>
        <p:spPr>
          <a:xfrm>
            <a:off x="2959547" y="2606040"/>
            <a:ext cx="1725107" cy="1051560"/>
          </a:xfrm>
          <a:prstGeom prst="rect">
            <a:avLst/>
          </a:prstGeom>
          <a:noFill/>
        </p:spPr>
        <p:txBody>
          <a:bodyPr wrap="square" lIns="0" tIns="0" rIns="0" bIns="0" rtlCol="0" anchor="t"/>
          <a:lstStyle/>
          <a:p>
            <a:pPr marL="0" indent="0" algn="ctr">
              <a:buNone/>
            </a:pPr>
            <a:r>
              <a:rPr lang="en-US" sz="1600" b="1" dirty="0">
                <a:solidFill>
                  <a:schemeClr val="bg1"/>
                </a:solidFill>
              </a:rPr>
              <a:t>MySQL / MariaDB</a:t>
            </a:r>
            <a:endParaRPr lang="en-US" sz="1600" dirty="0"/>
          </a:p>
          <a:p>
            <a:pPr marL="0" indent="0" algn="ctr">
              <a:buNone/>
            </a:pPr>
            <a:r>
              <a:rPr lang="en-US" sz="1300" dirty="0">
                <a:solidFill>
                  <a:schemeClr val="bg2"/>
                </a:solidFill>
              </a:rPr>
              <a:t>Database dbmo, mysqli prepared statements</a:t>
            </a:r>
            <a:endParaRPr lang="en-US" sz="1600" dirty="0"/>
          </a:p>
        </p:txBody>
      </p:sp>
      <p:sp>
        <p:nvSpPr>
          <p:cNvPr id="11" name="Shape 7"/>
          <p:cNvSpPr/>
          <p:nvPr/>
        </p:nvSpPr>
        <p:spPr>
          <a:xfrm>
            <a:off x="5096134" y="1508760"/>
            <a:ext cx="1999427" cy="2240280"/>
          </a:xfrm>
          <a:prstGeom prst="roundRect">
            <a:avLst>
              <a:gd name="adj" fmla="val 4573"/>
            </a:avLst>
          </a:prstGeom>
          <a:solidFill>
            <a:schemeClr val="tx2"/>
          </a:solidFill>
          <a:ln w="9525">
            <a:solidFill>
              <a:srgbClr val="3A3B48"/>
            </a:solidFill>
            <a:prstDash val="solid"/>
          </a:ln>
        </p:spPr>
      </p:sp>
      <p:sp>
        <p:nvSpPr>
          <p:cNvPr id="12" name="Shape 8"/>
          <p:cNvSpPr/>
          <p:nvPr/>
        </p:nvSpPr>
        <p:spPr>
          <a:xfrm>
            <a:off x="5752948" y="1783080"/>
            <a:ext cx="685800" cy="685800"/>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5924398" y="1954530"/>
            <a:ext cx="342900" cy="342900"/>
          </a:xfrm>
          <a:prstGeom prst="rect">
            <a:avLst/>
          </a:prstGeom>
        </p:spPr>
      </p:pic>
      <p:sp>
        <p:nvSpPr>
          <p:cNvPr id="14" name="Text 9"/>
          <p:cNvSpPr txBox="1"/>
          <p:nvPr/>
        </p:nvSpPr>
        <p:spPr>
          <a:xfrm>
            <a:off x="5233294" y="2606040"/>
            <a:ext cx="1725107" cy="1051560"/>
          </a:xfrm>
          <a:prstGeom prst="rect">
            <a:avLst/>
          </a:prstGeom>
          <a:noFill/>
        </p:spPr>
        <p:txBody>
          <a:bodyPr wrap="square" lIns="0" tIns="0" rIns="0" bIns="0" rtlCol="0" anchor="t"/>
          <a:lstStyle/>
          <a:p>
            <a:pPr marL="0" indent="0" algn="ctr">
              <a:buNone/>
            </a:pPr>
            <a:r>
              <a:rPr lang="en-US" sz="1600" b="1" dirty="0">
                <a:solidFill>
                  <a:schemeClr val="bg1"/>
                </a:solidFill>
              </a:rPr>
              <a:t>Bootstrap 5 and 4</a:t>
            </a:r>
            <a:endParaRPr lang="en-US" sz="1600" dirty="0"/>
          </a:p>
          <a:p>
            <a:pPr marL="0" indent="0" algn="ctr">
              <a:buNone/>
            </a:pPr>
            <a:r>
              <a:rPr lang="en-US" sz="1300" dirty="0">
                <a:solidFill>
                  <a:schemeClr val="bg2"/>
                </a:solidFill>
              </a:rPr>
              <a:t>FlixGo customer theme, Bootstrapious admin</a:t>
            </a:r>
            <a:endParaRPr lang="en-US" sz="1600" dirty="0"/>
          </a:p>
        </p:txBody>
      </p:sp>
      <p:sp>
        <p:nvSpPr>
          <p:cNvPr id="15" name="Shape 10"/>
          <p:cNvSpPr/>
          <p:nvPr/>
        </p:nvSpPr>
        <p:spPr>
          <a:xfrm>
            <a:off x="7369881" y="1508760"/>
            <a:ext cx="1999427" cy="2240280"/>
          </a:xfrm>
          <a:prstGeom prst="roundRect">
            <a:avLst>
              <a:gd name="adj" fmla="val 4573"/>
            </a:avLst>
          </a:prstGeom>
          <a:solidFill>
            <a:schemeClr val="tx2"/>
          </a:solidFill>
          <a:ln w="9525">
            <a:solidFill>
              <a:srgbClr val="3A3B48"/>
            </a:solidFill>
            <a:prstDash val="solid"/>
          </a:ln>
        </p:spPr>
      </p:sp>
      <p:sp>
        <p:nvSpPr>
          <p:cNvPr id="16" name="Shape 11"/>
          <p:cNvSpPr/>
          <p:nvPr/>
        </p:nvSpPr>
        <p:spPr>
          <a:xfrm>
            <a:off x="8026695" y="1783080"/>
            <a:ext cx="685800" cy="685800"/>
          </a:xfrm>
          <a:prstGeom prst="ellipse">
            <a:avLst/>
          </a:prstGeom>
          <a:solidFill>
            <a:schemeClr val="accent1"/>
          </a:solidFill>
          <a:ln w="12700">
            <a:solidFill>
              <a:schemeClr val="accent1"/>
            </a:solidFill>
            <a:prstDash val="solid"/>
          </a:ln>
        </p:spPr>
      </p:sp>
      <p:pic>
        <p:nvPicPr>
          <p:cNvPr id="17" name="Image 3" descr="preencoded.png"/>
          <p:cNvPicPr>
            <a:picLocks noChangeAspect="1"/>
          </p:cNvPicPr>
          <p:nvPr/>
        </p:nvPicPr>
        <p:blipFill>
          <a:blip r:embed="rId4"/>
          <a:stretch>
            <a:fillRect/>
          </a:stretch>
        </p:blipFill>
        <p:spPr>
          <a:xfrm>
            <a:off x="8198145" y="1954530"/>
            <a:ext cx="342900" cy="342900"/>
          </a:xfrm>
          <a:prstGeom prst="rect">
            <a:avLst/>
          </a:prstGeom>
        </p:spPr>
      </p:pic>
      <p:sp>
        <p:nvSpPr>
          <p:cNvPr id="18" name="Text 12"/>
          <p:cNvSpPr txBox="1"/>
          <p:nvPr/>
        </p:nvSpPr>
        <p:spPr>
          <a:xfrm>
            <a:off x="7507041" y="2606040"/>
            <a:ext cx="1725107" cy="1051560"/>
          </a:xfrm>
          <a:prstGeom prst="rect">
            <a:avLst/>
          </a:prstGeom>
          <a:noFill/>
        </p:spPr>
        <p:txBody>
          <a:bodyPr wrap="square" lIns="0" tIns="0" rIns="0" bIns="0" rtlCol="0" anchor="t"/>
          <a:lstStyle/>
          <a:p>
            <a:pPr marL="0" indent="0" algn="ctr">
              <a:buNone/>
            </a:pPr>
            <a:r>
              <a:rPr lang="en-US" sz="1600" b="1" dirty="0">
                <a:solidFill>
                  <a:schemeClr val="bg1"/>
                </a:solidFill>
              </a:rPr>
              <a:t>JavaScript, jQuery</a:t>
            </a:r>
            <a:endParaRPr lang="en-US" sz="1600" dirty="0"/>
          </a:p>
          <a:p>
            <a:pPr marL="0" indent="0" algn="ctr">
              <a:buNone/>
            </a:pPr>
            <a:r>
              <a:rPr lang="en-US" sz="1300" dirty="0">
                <a:solidFill>
                  <a:schemeClr val="bg2"/>
                </a:solidFill>
              </a:rPr>
              <a:t>AJAX seat holds, live search, promo check</a:t>
            </a:r>
            <a:endParaRPr lang="en-US" sz="1600" dirty="0"/>
          </a:p>
        </p:txBody>
      </p:sp>
      <p:sp>
        <p:nvSpPr>
          <p:cNvPr id="19" name="Shape 13"/>
          <p:cNvSpPr/>
          <p:nvPr/>
        </p:nvSpPr>
        <p:spPr>
          <a:xfrm>
            <a:off x="9643628" y="1508760"/>
            <a:ext cx="1999427" cy="2240280"/>
          </a:xfrm>
          <a:prstGeom prst="roundRect">
            <a:avLst>
              <a:gd name="adj" fmla="val 4573"/>
            </a:avLst>
          </a:prstGeom>
          <a:solidFill>
            <a:schemeClr val="tx2"/>
          </a:solidFill>
          <a:ln w="9525">
            <a:solidFill>
              <a:srgbClr val="3A3B48"/>
            </a:solidFill>
            <a:prstDash val="solid"/>
          </a:ln>
        </p:spPr>
      </p:sp>
      <p:sp>
        <p:nvSpPr>
          <p:cNvPr id="20" name="Shape 14"/>
          <p:cNvSpPr/>
          <p:nvPr/>
        </p:nvSpPr>
        <p:spPr>
          <a:xfrm>
            <a:off x="10300442" y="1783080"/>
            <a:ext cx="685800" cy="685800"/>
          </a:xfrm>
          <a:prstGeom prst="ellipse">
            <a:avLst/>
          </a:prstGeom>
          <a:solidFill>
            <a:schemeClr val="accent1"/>
          </a:solidFill>
          <a:ln w="12700">
            <a:solidFill>
              <a:schemeClr val="accent1"/>
            </a:solidFill>
            <a:prstDash val="solid"/>
          </a:ln>
        </p:spPr>
      </p:sp>
      <p:pic>
        <p:nvPicPr>
          <p:cNvPr id="21" name="Image 4" descr="preencoded.png"/>
          <p:cNvPicPr>
            <a:picLocks noChangeAspect="1"/>
          </p:cNvPicPr>
          <p:nvPr/>
        </p:nvPicPr>
        <p:blipFill>
          <a:blip r:embed="rId5"/>
          <a:stretch>
            <a:fillRect/>
          </a:stretch>
        </p:blipFill>
        <p:spPr>
          <a:xfrm>
            <a:off x="10471892" y="1954530"/>
            <a:ext cx="342900" cy="342900"/>
          </a:xfrm>
          <a:prstGeom prst="rect">
            <a:avLst/>
          </a:prstGeom>
        </p:spPr>
      </p:pic>
      <p:sp>
        <p:nvSpPr>
          <p:cNvPr id="22" name="Text 15"/>
          <p:cNvSpPr txBox="1"/>
          <p:nvPr/>
        </p:nvSpPr>
        <p:spPr>
          <a:xfrm>
            <a:off x="9780788" y="2606040"/>
            <a:ext cx="1725107" cy="1051560"/>
          </a:xfrm>
          <a:prstGeom prst="rect">
            <a:avLst/>
          </a:prstGeom>
          <a:noFill/>
        </p:spPr>
        <p:txBody>
          <a:bodyPr wrap="square" lIns="0" tIns="0" rIns="0" bIns="0" rtlCol="0" anchor="t"/>
          <a:lstStyle/>
          <a:p>
            <a:pPr marL="0" indent="0" algn="ctr">
              <a:buNone/>
            </a:pPr>
            <a:r>
              <a:rPr lang="en-US" sz="1600" b="1" dirty="0">
                <a:solidFill>
                  <a:schemeClr val="bg1"/>
                </a:solidFill>
              </a:rPr>
              <a:t>Chart.js</a:t>
            </a:r>
            <a:endParaRPr lang="en-US" sz="1600" dirty="0"/>
          </a:p>
          <a:p>
            <a:pPr marL="0" indent="0" algn="ctr">
              <a:buNone/>
            </a:pPr>
            <a:r>
              <a:rPr lang="en-US" sz="1300" dirty="0">
                <a:solidFill>
                  <a:schemeClr val="bg2"/>
                </a:solidFill>
              </a:rPr>
              <a:t>Dashboard revenue and booking charts</a:t>
            </a:r>
            <a:endParaRPr lang="en-US" sz="1600" dirty="0"/>
          </a:p>
        </p:txBody>
      </p:sp>
      <p:sp>
        <p:nvSpPr>
          <p:cNvPr id="23" name="Shape 16"/>
          <p:cNvSpPr/>
          <p:nvPr/>
        </p:nvSpPr>
        <p:spPr>
          <a:xfrm>
            <a:off x="548640" y="4069080"/>
            <a:ext cx="1999427" cy="2240280"/>
          </a:xfrm>
          <a:prstGeom prst="roundRect">
            <a:avLst>
              <a:gd name="adj" fmla="val 4573"/>
            </a:avLst>
          </a:prstGeom>
          <a:solidFill>
            <a:schemeClr val="tx2"/>
          </a:solidFill>
          <a:ln w="9525">
            <a:solidFill>
              <a:srgbClr val="3A3B48"/>
            </a:solidFill>
            <a:prstDash val="solid"/>
          </a:ln>
        </p:spPr>
      </p:sp>
      <p:sp>
        <p:nvSpPr>
          <p:cNvPr id="24" name="Shape 17"/>
          <p:cNvSpPr/>
          <p:nvPr/>
        </p:nvSpPr>
        <p:spPr>
          <a:xfrm>
            <a:off x="1205454" y="4343400"/>
            <a:ext cx="685800" cy="685800"/>
          </a:xfrm>
          <a:prstGeom prst="ellipse">
            <a:avLst/>
          </a:prstGeom>
          <a:solidFill>
            <a:schemeClr val="accent1"/>
          </a:solidFill>
          <a:ln w="12700">
            <a:solidFill>
              <a:schemeClr val="accent1"/>
            </a:solidFill>
            <a:prstDash val="solid"/>
          </a:ln>
        </p:spPr>
      </p:sp>
      <p:pic>
        <p:nvPicPr>
          <p:cNvPr id="25" name="Image 5" descr="preencoded.png"/>
          <p:cNvPicPr>
            <a:picLocks noChangeAspect="1"/>
          </p:cNvPicPr>
          <p:nvPr/>
        </p:nvPicPr>
        <p:blipFill>
          <a:blip r:embed="rId6"/>
          <a:stretch>
            <a:fillRect/>
          </a:stretch>
        </p:blipFill>
        <p:spPr>
          <a:xfrm>
            <a:off x="1376904" y="4514850"/>
            <a:ext cx="342900" cy="342900"/>
          </a:xfrm>
          <a:prstGeom prst="rect">
            <a:avLst/>
          </a:prstGeom>
        </p:spPr>
      </p:pic>
      <p:sp>
        <p:nvSpPr>
          <p:cNvPr id="26" name="Text 18"/>
          <p:cNvSpPr txBox="1"/>
          <p:nvPr/>
        </p:nvSpPr>
        <p:spPr>
          <a:xfrm>
            <a:off x="685800" y="5166360"/>
            <a:ext cx="1725107" cy="1051560"/>
          </a:xfrm>
          <a:prstGeom prst="rect">
            <a:avLst/>
          </a:prstGeom>
          <a:noFill/>
        </p:spPr>
        <p:txBody>
          <a:bodyPr wrap="square" lIns="0" tIns="0" rIns="0" bIns="0" rtlCol="0" anchor="t"/>
          <a:lstStyle/>
          <a:p>
            <a:pPr marL="0" indent="0" algn="ctr">
              <a:buNone/>
            </a:pPr>
            <a:r>
              <a:rPr lang="en-US" sz="1600" b="1" dirty="0">
                <a:solidFill>
                  <a:schemeClr val="bg1"/>
                </a:solidFill>
              </a:rPr>
              <a:t>qrcode.js, html5-qrcode</a:t>
            </a:r>
            <a:endParaRPr lang="en-US" sz="1600" dirty="0"/>
          </a:p>
          <a:p>
            <a:pPr marL="0" indent="0" algn="ctr">
              <a:buNone/>
            </a:pPr>
            <a:r>
              <a:rPr lang="en-US" sz="1300" dirty="0">
                <a:solidFill>
                  <a:schemeClr val="bg2"/>
                </a:solidFill>
              </a:rPr>
              <a:t>QR on tickets, camera scanner for staff</a:t>
            </a:r>
            <a:endParaRPr lang="en-US" sz="1600" dirty="0"/>
          </a:p>
        </p:txBody>
      </p:sp>
      <p:sp>
        <p:nvSpPr>
          <p:cNvPr id="27" name="Shape 19"/>
          <p:cNvSpPr/>
          <p:nvPr/>
        </p:nvSpPr>
        <p:spPr>
          <a:xfrm>
            <a:off x="2822387" y="4069080"/>
            <a:ext cx="1999427" cy="2240280"/>
          </a:xfrm>
          <a:prstGeom prst="roundRect">
            <a:avLst>
              <a:gd name="adj" fmla="val 4573"/>
            </a:avLst>
          </a:prstGeom>
          <a:solidFill>
            <a:schemeClr val="tx2"/>
          </a:solidFill>
          <a:ln w="9525">
            <a:solidFill>
              <a:srgbClr val="3A3B48"/>
            </a:solidFill>
            <a:prstDash val="solid"/>
          </a:ln>
        </p:spPr>
      </p:sp>
      <p:sp>
        <p:nvSpPr>
          <p:cNvPr id="28" name="Shape 20"/>
          <p:cNvSpPr/>
          <p:nvPr/>
        </p:nvSpPr>
        <p:spPr>
          <a:xfrm>
            <a:off x="3479201" y="4343400"/>
            <a:ext cx="685800" cy="685800"/>
          </a:xfrm>
          <a:prstGeom prst="ellipse">
            <a:avLst/>
          </a:prstGeom>
          <a:solidFill>
            <a:schemeClr val="accent1"/>
          </a:solidFill>
          <a:ln w="12700">
            <a:solidFill>
              <a:schemeClr val="accent1"/>
            </a:solidFill>
            <a:prstDash val="solid"/>
          </a:ln>
        </p:spPr>
      </p:sp>
      <p:pic>
        <p:nvPicPr>
          <p:cNvPr id="29" name="Image 6" descr="preencoded.png"/>
          <p:cNvPicPr>
            <a:picLocks noChangeAspect="1"/>
          </p:cNvPicPr>
          <p:nvPr/>
        </p:nvPicPr>
        <p:blipFill>
          <a:blip r:embed="rId7"/>
          <a:stretch>
            <a:fillRect/>
          </a:stretch>
        </p:blipFill>
        <p:spPr>
          <a:xfrm>
            <a:off x="3650651" y="4514850"/>
            <a:ext cx="342900" cy="342900"/>
          </a:xfrm>
          <a:prstGeom prst="rect">
            <a:avLst/>
          </a:prstGeom>
        </p:spPr>
      </p:pic>
      <p:sp>
        <p:nvSpPr>
          <p:cNvPr id="30" name="Text 21"/>
          <p:cNvSpPr txBox="1"/>
          <p:nvPr/>
        </p:nvSpPr>
        <p:spPr>
          <a:xfrm>
            <a:off x="2959547" y="5166360"/>
            <a:ext cx="1725107" cy="1051560"/>
          </a:xfrm>
          <a:prstGeom prst="rect">
            <a:avLst/>
          </a:prstGeom>
          <a:noFill/>
        </p:spPr>
        <p:txBody>
          <a:bodyPr wrap="square" lIns="0" tIns="0" rIns="0" bIns="0" rtlCol="0" anchor="t"/>
          <a:lstStyle/>
          <a:p>
            <a:pPr marL="0" indent="0" algn="ctr">
              <a:buNone/>
            </a:pPr>
            <a:r>
              <a:rPr lang="en-US" sz="1600" b="1" dirty="0">
                <a:solidFill>
                  <a:schemeClr val="bg1"/>
                </a:solidFill>
              </a:rPr>
              <a:t>SweetAlert2</a:t>
            </a:r>
            <a:endParaRPr lang="en-US" sz="1600" dirty="0"/>
          </a:p>
          <a:p>
            <a:pPr marL="0" indent="0" algn="ctr">
              <a:buNone/>
            </a:pPr>
            <a:r>
              <a:rPr lang="en-US" sz="1300" dirty="0">
                <a:solidFill>
                  <a:schemeClr val="bg2"/>
                </a:solidFill>
              </a:rPr>
              <a:t>Friendly confirmations and popups</a:t>
            </a:r>
            <a:endParaRPr lang="en-US" sz="1600" dirty="0"/>
          </a:p>
        </p:txBody>
      </p:sp>
      <p:sp>
        <p:nvSpPr>
          <p:cNvPr id="31" name="Shape 22"/>
          <p:cNvSpPr/>
          <p:nvPr/>
        </p:nvSpPr>
        <p:spPr>
          <a:xfrm>
            <a:off x="5096134" y="4069080"/>
            <a:ext cx="1999427" cy="2240280"/>
          </a:xfrm>
          <a:prstGeom prst="roundRect">
            <a:avLst>
              <a:gd name="adj" fmla="val 4573"/>
            </a:avLst>
          </a:prstGeom>
          <a:solidFill>
            <a:schemeClr val="tx2"/>
          </a:solidFill>
          <a:ln w="9525">
            <a:solidFill>
              <a:srgbClr val="3A3B48"/>
            </a:solidFill>
            <a:prstDash val="solid"/>
          </a:ln>
        </p:spPr>
      </p:sp>
      <p:sp>
        <p:nvSpPr>
          <p:cNvPr id="32" name="Shape 23"/>
          <p:cNvSpPr/>
          <p:nvPr/>
        </p:nvSpPr>
        <p:spPr>
          <a:xfrm>
            <a:off x="5752948" y="4343400"/>
            <a:ext cx="685800" cy="685800"/>
          </a:xfrm>
          <a:prstGeom prst="ellipse">
            <a:avLst/>
          </a:prstGeom>
          <a:solidFill>
            <a:schemeClr val="accent1"/>
          </a:solidFill>
          <a:ln w="12700">
            <a:solidFill>
              <a:schemeClr val="accent1"/>
            </a:solidFill>
            <a:prstDash val="solid"/>
          </a:ln>
        </p:spPr>
      </p:sp>
      <p:pic>
        <p:nvPicPr>
          <p:cNvPr id="33" name="Image 7" descr="preencoded.png"/>
          <p:cNvPicPr>
            <a:picLocks noChangeAspect="1"/>
          </p:cNvPicPr>
          <p:nvPr/>
        </p:nvPicPr>
        <p:blipFill>
          <a:blip r:embed="rId8"/>
          <a:stretch>
            <a:fillRect/>
          </a:stretch>
        </p:blipFill>
        <p:spPr>
          <a:xfrm>
            <a:off x="5924398" y="4514850"/>
            <a:ext cx="342900" cy="342900"/>
          </a:xfrm>
          <a:prstGeom prst="rect">
            <a:avLst/>
          </a:prstGeom>
        </p:spPr>
      </p:pic>
      <p:sp>
        <p:nvSpPr>
          <p:cNvPr id="34" name="Text 24"/>
          <p:cNvSpPr txBox="1"/>
          <p:nvPr/>
        </p:nvSpPr>
        <p:spPr>
          <a:xfrm>
            <a:off x="5233294" y="5166360"/>
            <a:ext cx="1725107" cy="1051560"/>
          </a:xfrm>
          <a:prstGeom prst="rect">
            <a:avLst/>
          </a:prstGeom>
          <a:noFill/>
        </p:spPr>
        <p:txBody>
          <a:bodyPr wrap="square" lIns="0" tIns="0" rIns="0" bIns="0" rtlCol="0" anchor="t"/>
          <a:lstStyle/>
          <a:p>
            <a:pPr marL="0" indent="0" algn="ctr">
              <a:buNone/>
            </a:pPr>
            <a:r>
              <a:rPr lang="en-US" sz="1600" b="1" dirty="0">
                <a:solidFill>
                  <a:schemeClr val="bg1"/>
                </a:solidFill>
              </a:rPr>
              <a:t>TMDB API</a:t>
            </a:r>
            <a:endParaRPr lang="en-US" sz="1600" dirty="0"/>
          </a:p>
          <a:p>
            <a:pPr marL="0" indent="0" algn="ctr">
              <a:buNone/>
            </a:pPr>
            <a:r>
              <a:rPr lang="en-US" sz="1300" dirty="0">
                <a:solidFill>
                  <a:schemeClr val="bg2"/>
                </a:solidFill>
              </a:rPr>
              <a:t>Real movie catalog, posters and trailers</a:t>
            </a:r>
            <a:endParaRPr lang="en-US" sz="1600" dirty="0"/>
          </a:p>
        </p:txBody>
      </p:sp>
      <p:sp>
        <p:nvSpPr>
          <p:cNvPr id="35" name="Shape 25"/>
          <p:cNvSpPr/>
          <p:nvPr/>
        </p:nvSpPr>
        <p:spPr>
          <a:xfrm>
            <a:off x="7369881" y="4069080"/>
            <a:ext cx="1999427" cy="2240280"/>
          </a:xfrm>
          <a:prstGeom prst="roundRect">
            <a:avLst>
              <a:gd name="adj" fmla="val 4573"/>
            </a:avLst>
          </a:prstGeom>
          <a:solidFill>
            <a:schemeClr val="tx2"/>
          </a:solidFill>
          <a:ln w="9525">
            <a:solidFill>
              <a:srgbClr val="3A3B48"/>
            </a:solidFill>
            <a:prstDash val="solid"/>
          </a:ln>
        </p:spPr>
      </p:sp>
      <p:sp>
        <p:nvSpPr>
          <p:cNvPr id="36" name="Shape 26"/>
          <p:cNvSpPr/>
          <p:nvPr/>
        </p:nvSpPr>
        <p:spPr>
          <a:xfrm>
            <a:off x="8026695" y="4343400"/>
            <a:ext cx="685800" cy="685800"/>
          </a:xfrm>
          <a:prstGeom prst="ellipse">
            <a:avLst/>
          </a:prstGeom>
          <a:solidFill>
            <a:schemeClr val="accent1"/>
          </a:solidFill>
          <a:ln w="12700">
            <a:solidFill>
              <a:schemeClr val="accent1"/>
            </a:solidFill>
            <a:prstDash val="solid"/>
          </a:ln>
        </p:spPr>
      </p:sp>
      <p:pic>
        <p:nvPicPr>
          <p:cNvPr id="37" name="Image 8" descr="preencoded.png"/>
          <p:cNvPicPr>
            <a:picLocks noChangeAspect="1"/>
          </p:cNvPicPr>
          <p:nvPr/>
        </p:nvPicPr>
        <p:blipFill>
          <a:blip r:embed="rId9"/>
          <a:stretch>
            <a:fillRect/>
          </a:stretch>
        </p:blipFill>
        <p:spPr>
          <a:xfrm>
            <a:off x="8198145" y="4514850"/>
            <a:ext cx="342900" cy="342900"/>
          </a:xfrm>
          <a:prstGeom prst="rect">
            <a:avLst/>
          </a:prstGeom>
        </p:spPr>
      </p:pic>
      <p:sp>
        <p:nvSpPr>
          <p:cNvPr id="38" name="Text 27"/>
          <p:cNvSpPr txBox="1"/>
          <p:nvPr/>
        </p:nvSpPr>
        <p:spPr>
          <a:xfrm>
            <a:off x="7507041" y="5166360"/>
            <a:ext cx="1725107" cy="1051560"/>
          </a:xfrm>
          <a:prstGeom prst="rect">
            <a:avLst/>
          </a:prstGeom>
          <a:noFill/>
        </p:spPr>
        <p:txBody>
          <a:bodyPr wrap="square" lIns="0" tIns="0" rIns="0" bIns="0" rtlCol="0" anchor="t"/>
          <a:lstStyle/>
          <a:p>
            <a:pPr marL="0" indent="0" algn="ctr">
              <a:buNone/>
            </a:pPr>
            <a:r>
              <a:rPr lang="en-US" sz="1600" b="1" dirty="0">
                <a:solidFill>
                  <a:schemeClr val="bg1"/>
                </a:solidFill>
              </a:rPr>
              <a:t>Docker / XAMPP</a:t>
            </a:r>
            <a:endParaRPr lang="en-US" sz="1600" dirty="0"/>
          </a:p>
          <a:p>
            <a:pPr marL="0" indent="0" algn="ctr">
              <a:buNone/>
            </a:pPr>
            <a:r>
              <a:rPr lang="en-US" sz="1300" dirty="0">
                <a:solidFill>
                  <a:schemeClr val="bg2"/>
                </a:solidFill>
              </a:rPr>
              <a:t>Runs the same on any machine</a:t>
            </a:r>
            <a:endParaRPr lang="en-US" sz="1600" dirty="0"/>
          </a:p>
        </p:txBody>
      </p:sp>
      <p:sp>
        <p:nvSpPr>
          <p:cNvPr id="39" name="Shape 28"/>
          <p:cNvSpPr/>
          <p:nvPr/>
        </p:nvSpPr>
        <p:spPr>
          <a:xfrm>
            <a:off x="9643628" y="4069080"/>
            <a:ext cx="1999427" cy="2240280"/>
          </a:xfrm>
          <a:prstGeom prst="roundRect">
            <a:avLst>
              <a:gd name="adj" fmla="val 4573"/>
            </a:avLst>
          </a:prstGeom>
          <a:solidFill>
            <a:schemeClr val="tx2"/>
          </a:solidFill>
          <a:ln w="9525">
            <a:solidFill>
              <a:srgbClr val="3A3B48"/>
            </a:solidFill>
            <a:prstDash val="solid"/>
          </a:ln>
        </p:spPr>
      </p:sp>
      <p:sp>
        <p:nvSpPr>
          <p:cNvPr id="40" name="Shape 29"/>
          <p:cNvSpPr/>
          <p:nvPr/>
        </p:nvSpPr>
        <p:spPr>
          <a:xfrm>
            <a:off x="10300442" y="4343400"/>
            <a:ext cx="685800" cy="685800"/>
          </a:xfrm>
          <a:prstGeom prst="ellipse">
            <a:avLst/>
          </a:prstGeom>
          <a:solidFill>
            <a:schemeClr val="accent1"/>
          </a:solidFill>
          <a:ln w="12700">
            <a:solidFill>
              <a:schemeClr val="accent1"/>
            </a:solidFill>
            <a:prstDash val="solid"/>
          </a:ln>
        </p:spPr>
      </p:sp>
      <p:pic>
        <p:nvPicPr>
          <p:cNvPr id="41" name="Image 9" descr="preencoded.png"/>
          <p:cNvPicPr>
            <a:picLocks noChangeAspect="1"/>
          </p:cNvPicPr>
          <p:nvPr/>
        </p:nvPicPr>
        <p:blipFill>
          <a:blip r:embed="rId10"/>
          <a:stretch>
            <a:fillRect/>
          </a:stretch>
        </p:blipFill>
        <p:spPr>
          <a:xfrm>
            <a:off x="10471892" y="4514850"/>
            <a:ext cx="342900" cy="342900"/>
          </a:xfrm>
          <a:prstGeom prst="rect">
            <a:avLst/>
          </a:prstGeom>
        </p:spPr>
      </p:pic>
      <p:sp>
        <p:nvSpPr>
          <p:cNvPr id="42" name="Text 30"/>
          <p:cNvSpPr txBox="1"/>
          <p:nvPr/>
        </p:nvSpPr>
        <p:spPr>
          <a:xfrm>
            <a:off x="9780788" y="5166360"/>
            <a:ext cx="1725107" cy="1051560"/>
          </a:xfrm>
          <a:prstGeom prst="rect">
            <a:avLst/>
          </a:prstGeom>
          <a:noFill/>
        </p:spPr>
        <p:txBody>
          <a:bodyPr wrap="square" lIns="0" tIns="0" rIns="0" bIns="0" rtlCol="0" anchor="t"/>
          <a:lstStyle/>
          <a:p>
            <a:pPr marL="0" indent="0" algn="ctr">
              <a:buNone/>
            </a:pPr>
            <a:r>
              <a:rPr lang="en-US" sz="1600" b="1" dirty="0">
                <a:solidFill>
                  <a:schemeClr val="bg1"/>
                </a:solidFill>
              </a:rPr>
              <a:t>Git and GitHub</a:t>
            </a:r>
            <a:endParaRPr lang="en-US" sz="1600" dirty="0"/>
          </a:p>
          <a:p>
            <a:pPr marL="0" indent="0" algn="ctr">
              <a:buNone/>
            </a:pPr>
            <a:r>
              <a:rPr lang="en-US" sz="1300" dirty="0">
                <a:solidFill>
                  <a:schemeClr val="bg2"/>
                </a:solidFill>
              </a:rPr>
              <a:t>File ownership, migrations, small commits</a:t>
            </a:r>
            <a:endParaRPr lang="en-US" sz="1600" dirty="0"/>
          </a:p>
        </p:txBody>
      </p:sp>
      <p:sp>
        <p:nvSpPr>
          <p:cNvPr id="43"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System architecture</a:t>
            </a:r>
            <a:endParaRPr lang="en-US" sz="3200" dirty="0"/>
          </a:p>
        </p:txBody>
      </p:sp>
      <p:sp>
        <p:nvSpPr>
          <p:cNvPr id="3" name="Shape 1"/>
          <p:cNvSpPr/>
          <p:nvPr/>
        </p:nvSpPr>
        <p:spPr>
          <a:xfrm>
            <a:off x="548640" y="1737360"/>
            <a:ext cx="2103120" cy="1097280"/>
          </a:xfrm>
          <a:prstGeom prst="roundRect">
            <a:avLst>
              <a:gd name="adj" fmla="val 8333"/>
            </a:avLst>
          </a:prstGeom>
          <a:solidFill>
            <a:schemeClr val="tx2"/>
          </a:solidFill>
          <a:ln w="19050">
            <a:solidFill>
              <a:srgbClr val="3B82F6"/>
            </a:solidFill>
            <a:prstDash val="solid"/>
          </a:ln>
        </p:spPr>
      </p:sp>
      <p:sp>
        <p:nvSpPr>
          <p:cNvPr id="4" name="Text 2"/>
          <p:cNvSpPr txBox="1"/>
          <p:nvPr/>
        </p:nvSpPr>
        <p:spPr>
          <a:xfrm>
            <a:off x="685800" y="1783080"/>
            <a:ext cx="1828800" cy="1005840"/>
          </a:xfrm>
          <a:prstGeom prst="rect">
            <a:avLst/>
          </a:prstGeom>
          <a:noFill/>
        </p:spPr>
        <p:txBody>
          <a:bodyPr wrap="square" lIns="0" tIns="0" rIns="0" bIns="0" rtlCol="0" anchor="ctr"/>
          <a:lstStyle/>
          <a:p>
            <a:pPr marL="0" indent="0" algn="ctr">
              <a:buNone/>
            </a:pPr>
            <a:r>
              <a:rPr lang="en-US" sz="1600" b="1" dirty="0">
                <a:solidFill>
                  <a:schemeClr val="bg1"/>
                </a:solidFill>
              </a:rPr>
              <a:t>Customer</a:t>
            </a:r>
            <a:endParaRPr lang="en-US" sz="1600" dirty="0"/>
          </a:p>
          <a:p>
            <a:pPr marL="0" indent="0" algn="ctr">
              <a:buNone/>
            </a:pPr>
            <a:r>
              <a:rPr lang="en-US" sz="1300" dirty="0">
                <a:solidFill>
                  <a:schemeClr val="bg2"/>
                </a:solidFill>
              </a:rPr>
              <a:t>Web browser</a:t>
            </a:r>
            <a:endParaRPr lang="en-US" sz="1600" dirty="0"/>
          </a:p>
        </p:txBody>
      </p:sp>
      <p:sp>
        <p:nvSpPr>
          <p:cNvPr id="5" name="Shape 3"/>
          <p:cNvSpPr/>
          <p:nvPr/>
        </p:nvSpPr>
        <p:spPr>
          <a:xfrm>
            <a:off x="548640" y="3749040"/>
            <a:ext cx="2103120" cy="1097280"/>
          </a:xfrm>
          <a:prstGeom prst="roundRect">
            <a:avLst>
              <a:gd name="adj" fmla="val 8333"/>
            </a:avLst>
          </a:prstGeom>
          <a:solidFill>
            <a:schemeClr val="tx2"/>
          </a:solidFill>
          <a:ln w="19050">
            <a:solidFill>
              <a:srgbClr val="8B5CF6"/>
            </a:solidFill>
            <a:prstDash val="solid"/>
          </a:ln>
        </p:spPr>
      </p:sp>
      <p:sp>
        <p:nvSpPr>
          <p:cNvPr id="6" name="Text 4"/>
          <p:cNvSpPr txBox="1"/>
          <p:nvPr/>
        </p:nvSpPr>
        <p:spPr>
          <a:xfrm>
            <a:off x="685800" y="3794760"/>
            <a:ext cx="1828800" cy="1005840"/>
          </a:xfrm>
          <a:prstGeom prst="rect">
            <a:avLst/>
          </a:prstGeom>
          <a:noFill/>
        </p:spPr>
        <p:txBody>
          <a:bodyPr wrap="square" lIns="0" tIns="0" rIns="0" bIns="0" rtlCol="0" anchor="ctr"/>
          <a:lstStyle/>
          <a:p>
            <a:pPr marL="0" indent="0" algn="ctr">
              <a:buNone/>
            </a:pPr>
            <a:r>
              <a:rPr lang="en-US" sz="1600" b="1" dirty="0">
                <a:solidFill>
                  <a:schemeClr val="bg1"/>
                </a:solidFill>
              </a:rPr>
              <a:t>Cinema staff</a:t>
            </a:r>
            <a:endParaRPr lang="en-US" sz="1600" dirty="0"/>
          </a:p>
          <a:p>
            <a:pPr marL="0" indent="0" algn="ctr">
              <a:buNone/>
            </a:pPr>
            <a:r>
              <a:rPr lang="en-US" sz="1300" dirty="0">
                <a:solidFill>
                  <a:schemeClr val="bg2"/>
                </a:solidFill>
              </a:rPr>
              <a:t>Browser / camera</a:t>
            </a:r>
            <a:endParaRPr lang="en-US" sz="1600" dirty="0"/>
          </a:p>
        </p:txBody>
      </p:sp>
      <p:sp>
        <p:nvSpPr>
          <p:cNvPr id="7" name="Shape 5"/>
          <p:cNvSpPr/>
          <p:nvPr/>
        </p:nvSpPr>
        <p:spPr>
          <a:xfrm>
            <a:off x="3291840" y="1463040"/>
            <a:ext cx="2651760" cy="1005840"/>
          </a:xfrm>
          <a:prstGeom prst="roundRect">
            <a:avLst>
              <a:gd name="adj" fmla="val 9091"/>
            </a:avLst>
          </a:prstGeom>
          <a:solidFill>
            <a:schemeClr val="tx2"/>
          </a:solidFill>
          <a:ln w="19050">
            <a:solidFill>
              <a:srgbClr val="FF4F9A"/>
            </a:solidFill>
            <a:prstDash val="solid"/>
          </a:ln>
        </p:spPr>
      </p:sp>
      <p:sp>
        <p:nvSpPr>
          <p:cNvPr id="8" name="Text 6"/>
          <p:cNvSpPr txBox="1"/>
          <p:nvPr/>
        </p:nvSpPr>
        <p:spPr>
          <a:xfrm>
            <a:off x="3429000" y="1508760"/>
            <a:ext cx="2377440" cy="914400"/>
          </a:xfrm>
          <a:prstGeom prst="rect">
            <a:avLst/>
          </a:prstGeom>
          <a:noFill/>
        </p:spPr>
        <p:txBody>
          <a:bodyPr wrap="square" lIns="0" tIns="0" rIns="0" bIns="0" rtlCol="0" anchor="ctr"/>
          <a:lstStyle/>
          <a:p>
            <a:pPr marL="0" indent="0" algn="ctr">
              <a:buNone/>
            </a:pPr>
            <a:r>
              <a:rPr lang="en-US" sz="1600" b="1" dirty="0">
                <a:solidFill>
                  <a:schemeClr val="bg1"/>
                </a:solidFill>
              </a:rPr>
              <a:t>Customer pages</a:t>
            </a:r>
            <a:endParaRPr lang="en-US" sz="1600" dirty="0"/>
          </a:p>
          <a:p>
            <a:pPr marL="0" indent="0" algn="ctr">
              <a:buNone/>
            </a:pPr>
            <a:r>
              <a:rPr lang="en-US" sz="1300" dirty="0">
                <a:solidFill>
                  <a:schemeClr val="bg2"/>
                </a:solidFill>
              </a:rPr>
              <a:t>index, seat_map, checkout, ticket ...</a:t>
            </a:r>
            <a:endParaRPr lang="en-US" sz="1600" dirty="0"/>
          </a:p>
        </p:txBody>
      </p:sp>
      <p:sp>
        <p:nvSpPr>
          <p:cNvPr id="9" name="Shape 7"/>
          <p:cNvSpPr/>
          <p:nvPr/>
        </p:nvSpPr>
        <p:spPr>
          <a:xfrm>
            <a:off x="3291840" y="2743200"/>
            <a:ext cx="2651760" cy="1005840"/>
          </a:xfrm>
          <a:prstGeom prst="roundRect">
            <a:avLst>
              <a:gd name="adj" fmla="val 9091"/>
            </a:avLst>
          </a:prstGeom>
          <a:solidFill>
            <a:schemeClr val="tx2"/>
          </a:solidFill>
          <a:ln w="19050">
            <a:solidFill>
              <a:srgbClr val="FF4F9A"/>
            </a:solidFill>
            <a:prstDash val="solid"/>
          </a:ln>
        </p:spPr>
      </p:sp>
      <p:sp>
        <p:nvSpPr>
          <p:cNvPr id="10" name="Text 8"/>
          <p:cNvSpPr txBox="1"/>
          <p:nvPr/>
        </p:nvSpPr>
        <p:spPr>
          <a:xfrm>
            <a:off x="3429000" y="2788920"/>
            <a:ext cx="2377440" cy="914400"/>
          </a:xfrm>
          <a:prstGeom prst="rect">
            <a:avLst/>
          </a:prstGeom>
          <a:noFill/>
        </p:spPr>
        <p:txBody>
          <a:bodyPr wrap="square" lIns="0" tIns="0" rIns="0" bIns="0" rtlCol="0" anchor="ctr"/>
          <a:lstStyle/>
          <a:p>
            <a:pPr marL="0" indent="0" algn="ctr">
              <a:buNone/>
            </a:pPr>
            <a:r>
              <a:rPr lang="en-US" sz="1600" b="1" dirty="0">
                <a:solidFill>
                  <a:schemeClr val="bg1"/>
                </a:solidFill>
              </a:rPr>
              <a:t>AJAX endpoints</a:t>
            </a:r>
            <a:endParaRPr lang="en-US" sz="1600" dirty="0"/>
          </a:p>
          <a:p>
            <a:pPr marL="0" indent="0" algn="ctr">
              <a:buNone/>
            </a:pPr>
            <a:r>
              <a:rPr lang="en-US" sz="1300" dirty="0">
                <a:solidFill>
                  <a:schemeClr val="bg2"/>
                </a:solidFill>
              </a:rPr>
              <a:t>seat hold, search, promo, OTP</a:t>
            </a:r>
            <a:endParaRPr lang="en-US" sz="1600" dirty="0"/>
          </a:p>
        </p:txBody>
      </p:sp>
      <p:sp>
        <p:nvSpPr>
          <p:cNvPr id="11" name="Shape 9"/>
          <p:cNvSpPr/>
          <p:nvPr/>
        </p:nvSpPr>
        <p:spPr>
          <a:xfrm>
            <a:off x="3291840" y="4023360"/>
            <a:ext cx="2651760" cy="1005840"/>
          </a:xfrm>
          <a:prstGeom prst="roundRect">
            <a:avLst>
              <a:gd name="adj" fmla="val 9091"/>
            </a:avLst>
          </a:prstGeom>
          <a:solidFill>
            <a:schemeClr val="tx2"/>
          </a:solidFill>
          <a:ln w="19050">
            <a:solidFill>
              <a:srgbClr val="FF4F9A"/>
            </a:solidFill>
            <a:prstDash val="solid"/>
          </a:ln>
        </p:spPr>
      </p:sp>
      <p:sp>
        <p:nvSpPr>
          <p:cNvPr id="12" name="Text 10"/>
          <p:cNvSpPr txBox="1"/>
          <p:nvPr/>
        </p:nvSpPr>
        <p:spPr>
          <a:xfrm>
            <a:off x="3429000" y="4069080"/>
            <a:ext cx="2377440" cy="914400"/>
          </a:xfrm>
          <a:prstGeom prst="rect">
            <a:avLst/>
          </a:prstGeom>
          <a:noFill/>
        </p:spPr>
        <p:txBody>
          <a:bodyPr wrap="square" lIns="0" tIns="0" rIns="0" bIns="0" rtlCol="0" anchor="ctr"/>
          <a:lstStyle/>
          <a:p>
            <a:pPr marL="0" indent="0" algn="ctr">
              <a:buNone/>
            </a:pPr>
            <a:r>
              <a:rPr lang="en-US" sz="1600" b="1" dirty="0">
                <a:solidFill>
                  <a:schemeClr val="bg1"/>
                </a:solidFill>
              </a:rPr>
              <a:t>Admin panel</a:t>
            </a:r>
            <a:endParaRPr lang="en-US" sz="1600" dirty="0"/>
          </a:p>
          <a:p>
            <a:pPr marL="0" indent="0" algn="ctr">
              <a:buNone/>
            </a:pPr>
            <a:r>
              <a:rPr lang="en-US" sz="1300" dirty="0">
                <a:solidFill>
                  <a:schemeClr val="bg2"/>
                </a:solidFill>
              </a:rPr>
              <a:t>auth.php guard on every page</a:t>
            </a:r>
            <a:endParaRPr lang="en-US" sz="1600" dirty="0"/>
          </a:p>
        </p:txBody>
      </p:sp>
      <p:sp>
        <p:nvSpPr>
          <p:cNvPr id="13" name="Shape 11"/>
          <p:cNvSpPr/>
          <p:nvPr/>
        </p:nvSpPr>
        <p:spPr>
          <a:xfrm>
            <a:off x="6675120" y="2103120"/>
            <a:ext cx="2377440" cy="2286000"/>
          </a:xfrm>
          <a:prstGeom prst="roundRect">
            <a:avLst>
              <a:gd name="adj" fmla="val 4000"/>
            </a:avLst>
          </a:prstGeom>
          <a:solidFill>
            <a:schemeClr val="tx2"/>
          </a:solidFill>
          <a:ln w="19050">
            <a:solidFill>
              <a:srgbClr val="F5B83D"/>
            </a:solidFill>
            <a:prstDash val="solid"/>
          </a:ln>
        </p:spPr>
      </p:sp>
      <p:sp>
        <p:nvSpPr>
          <p:cNvPr id="14" name="Text 12"/>
          <p:cNvSpPr txBox="1"/>
          <p:nvPr/>
        </p:nvSpPr>
        <p:spPr>
          <a:xfrm>
            <a:off x="6812280" y="2148840"/>
            <a:ext cx="2103120" cy="2194560"/>
          </a:xfrm>
          <a:prstGeom prst="rect">
            <a:avLst/>
          </a:prstGeom>
          <a:noFill/>
        </p:spPr>
        <p:txBody>
          <a:bodyPr wrap="square" lIns="0" tIns="0" rIns="0" bIns="0" rtlCol="0" anchor="ctr"/>
          <a:lstStyle/>
          <a:p>
            <a:pPr marL="0" indent="0" algn="ctr">
              <a:buNone/>
            </a:pPr>
            <a:r>
              <a:rPr lang="en-US" sz="1600" b="1" dirty="0">
                <a:solidFill>
                  <a:schemeClr val="bg1"/>
                </a:solidFill>
              </a:rPr>
              <a:t>Shared helpers</a:t>
            </a:r>
            <a:endParaRPr lang="en-US" sz="1600" dirty="0"/>
          </a:p>
          <a:p>
            <a:pPr marL="0" indent="0" algn="ctr">
              <a:buNone/>
            </a:pPr>
            <a:r>
              <a:rPr lang="en-US" sz="1300" dirty="0">
                <a:solidFill>
                  <a:schemeClr val="bg2"/>
                </a:solidFill>
              </a:rPr>
              <a:t>functions.php: queries, e(), CSRF</a:t>
            </a:r>
            <a:endParaRPr lang="en-US" sz="1600" dirty="0"/>
          </a:p>
          <a:p>
            <a:pPr marL="0" indent="0" algn="ctr">
              <a:buNone/>
            </a:pPr>
            <a:r>
              <a:rPr lang="en-US" sz="1300" dirty="0">
                <a:solidFill>
                  <a:schemeClr val="bg2"/>
                </a:solidFill>
              </a:rPr>
              <a:t>booking.php: holds, refunds</a:t>
            </a:r>
            <a:endParaRPr lang="en-US" sz="1600" dirty="0"/>
          </a:p>
          <a:p>
            <a:pPr marL="0" indent="0" algn="ctr">
              <a:buNone/>
            </a:pPr>
            <a:r>
              <a:rPr lang="en-US" sz="1300" dirty="0">
                <a:solidFill>
                  <a:schemeClr val="bg2"/>
                </a:solidFill>
              </a:rPr>
              <a:t>admin_functions.php: log</a:t>
            </a:r>
            <a:endParaRPr lang="en-US" sz="1600" dirty="0"/>
          </a:p>
        </p:txBody>
      </p:sp>
      <p:sp>
        <p:nvSpPr>
          <p:cNvPr id="15" name="Shape 13"/>
          <p:cNvSpPr/>
          <p:nvPr/>
        </p:nvSpPr>
        <p:spPr>
          <a:xfrm>
            <a:off x="9692640" y="1828800"/>
            <a:ext cx="1920240" cy="2834640"/>
          </a:xfrm>
          <a:prstGeom prst="roundRect">
            <a:avLst>
              <a:gd name="adj" fmla="val 4762"/>
            </a:avLst>
          </a:prstGeom>
          <a:solidFill>
            <a:schemeClr val="tx2"/>
          </a:solidFill>
          <a:ln w="19050">
            <a:solidFill>
              <a:srgbClr val="22C55E"/>
            </a:solidFill>
            <a:prstDash val="solid"/>
          </a:ln>
        </p:spPr>
      </p:sp>
      <p:sp>
        <p:nvSpPr>
          <p:cNvPr id="16" name="Shape 14"/>
          <p:cNvSpPr/>
          <p:nvPr/>
        </p:nvSpPr>
        <p:spPr>
          <a:xfrm>
            <a:off x="10332720" y="2148840"/>
            <a:ext cx="640080" cy="640080"/>
          </a:xfrm>
          <a:prstGeom prst="ellipse">
            <a:avLst/>
          </a:prstGeom>
          <a:solidFill>
            <a:schemeClr val="accent5"/>
          </a:solidFill>
          <a:ln w="12700">
            <a:solidFill>
              <a:schemeClr val="accent5"/>
            </a:solidFill>
            <a:prstDash val="solid"/>
          </a:ln>
        </p:spPr>
      </p:sp>
      <p:pic>
        <p:nvPicPr>
          <p:cNvPr id="17" name="Image 0" descr="preencoded.png"/>
          <p:cNvPicPr>
            <a:picLocks noChangeAspect="1"/>
          </p:cNvPicPr>
          <p:nvPr/>
        </p:nvPicPr>
        <p:blipFill>
          <a:blip r:embed="rId1"/>
          <a:stretch>
            <a:fillRect/>
          </a:stretch>
        </p:blipFill>
        <p:spPr>
          <a:xfrm>
            <a:off x="10492740" y="2308860"/>
            <a:ext cx="320040" cy="320040"/>
          </a:xfrm>
          <a:prstGeom prst="rect">
            <a:avLst/>
          </a:prstGeom>
        </p:spPr>
      </p:pic>
      <p:sp>
        <p:nvSpPr>
          <p:cNvPr id="18" name="Text 15"/>
          <p:cNvSpPr txBox="1"/>
          <p:nvPr/>
        </p:nvSpPr>
        <p:spPr>
          <a:xfrm>
            <a:off x="9784080" y="2971800"/>
            <a:ext cx="1737360" cy="1463040"/>
          </a:xfrm>
          <a:prstGeom prst="rect">
            <a:avLst/>
          </a:prstGeom>
          <a:noFill/>
        </p:spPr>
        <p:txBody>
          <a:bodyPr wrap="square" lIns="0" tIns="0" rIns="0" bIns="0" rtlCol="0" anchor="t"/>
          <a:lstStyle/>
          <a:p>
            <a:pPr marL="0" indent="0" algn="ctr">
              <a:buNone/>
            </a:pPr>
            <a:r>
              <a:rPr lang="en-US" sz="1600" b="1" dirty="0">
                <a:solidFill>
                  <a:schemeClr val="bg1"/>
                </a:solidFill>
              </a:rPr>
              <a:t>MariaDB</a:t>
            </a:r>
            <a:endParaRPr lang="en-US" sz="1600" dirty="0"/>
          </a:p>
          <a:p>
            <a:pPr marL="0" indent="0" algn="ctr">
              <a:buNone/>
            </a:pPr>
            <a:r>
              <a:rPr lang="en-US" sz="1300" dirty="0">
                <a:solidFill>
                  <a:schemeClr val="bg2"/>
                </a:solidFill>
              </a:rPr>
              <a:t>database dbmo</a:t>
            </a:r>
            <a:endParaRPr lang="en-US" sz="1600" dirty="0"/>
          </a:p>
          <a:p>
            <a:pPr marL="0" indent="0" algn="ctr">
              <a:buNone/>
            </a:pPr>
            <a:r>
              <a:rPr lang="en-US" sz="1300" dirty="0">
                <a:solidFill>
                  <a:schemeClr val="bg2"/>
                </a:solidFill>
              </a:rPr>
              <a:t>21 tables</a:t>
            </a:r>
            <a:endParaRPr lang="en-US" sz="1600" dirty="0"/>
          </a:p>
        </p:txBody>
      </p:sp>
      <p:sp>
        <p:nvSpPr>
          <p:cNvPr id="19" name="Shape 16"/>
          <p:cNvSpPr/>
          <p:nvPr/>
        </p:nvSpPr>
        <p:spPr>
          <a:xfrm>
            <a:off x="9509760" y="5120640"/>
            <a:ext cx="2286000" cy="1005840"/>
          </a:xfrm>
          <a:prstGeom prst="roundRect">
            <a:avLst>
              <a:gd name="adj" fmla="val 9091"/>
            </a:avLst>
          </a:prstGeom>
          <a:solidFill>
            <a:schemeClr val="tx2"/>
          </a:solidFill>
          <a:ln w="19050">
            <a:solidFill>
              <a:srgbClr val="F97316"/>
            </a:solidFill>
            <a:prstDash val="solid"/>
          </a:ln>
        </p:spPr>
      </p:sp>
      <p:sp>
        <p:nvSpPr>
          <p:cNvPr id="20" name="Text 17"/>
          <p:cNvSpPr txBox="1"/>
          <p:nvPr/>
        </p:nvSpPr>
        <p:spPr>
          <a:xfrm>
            <a:off x="9646920" y="5166360"/>
            <a:ext cx="2011680" cy="914400"/>
          </a:xfrm>
          <a:prstGeom prst="rect">
            <a:avLst/>
          </a:prstGeom>
          <a:noFill/>
        </p:spPr>
        <p:txBody>
          <a:bodyPr wrap="square" lIns="0" tIns="0" rIns="0" bIns="0" rtlCol="0" anchor="ctr"/>
          <a:lstStyle/>
          <a:p>
            <a:pPr marL="0" indent="0" algn="ctr">
              <a:buNone/>
            </a:pPr>
            <a:r>
              <a:rPr lang="en-US" sz="1600" b="1" dirty="0">
                <a:solidFill>
                  <a:schemeClr val="bg1"/>
                </a:solidFill>
              </a:rPr>
              <a:t>TMDB API</a:t>
            </a:r>
            <a:endParaRPr lang="en-US" sz="1600" dirty="0"/>
          </a:p>
          <a:p>
            <a:pPr marL="0" indent="0" algn="ctr">
              <a:buNone/>
            </a:pPr>
            <a:r>
              <a:rPr lang="en-US" sz="1300" dirty="0">
                <a:solidFill>
                  <a:schemeClr val="bg2"/>
                </a:solidFill>
              </a:rPr>
              <a:t>seed_tmdb.php loads catalog</a:t>
            </a:r>
            <a:endParaRPr lang="en-US" sz="1600" dirty="0"/>
          </a:p>
        </p:txBody>
      </p:sp>
      <p:sp>
        <p:nvSpPr>
          <p:cNvPr id="21" name="Shape 18"/>
          <p:cNvSpPr/>
          <p:nvPr/>
        </p:nvSpPr>
        <p:spPr>
          <a:xfrm>
            <a:off x="6675120" y="5120640"/>
            <a:ext cx="2377440" cy="1005840"/>
          </a:xfrm>
          <a:prstGeom prst="roundRect">
            <a:avLst>
              <a:gd name="adj" fmla="val 9091"/>
            </a:avLst>
          </a:prstGeom>
          <a:solidFill>
            <a:schemeClr val="tx2"/>
          </a:solidFill>
          <a:ln w="19050">
            <a:solidFill>
              <a:srgbClr val="F97316"/>
            </a:solidFill>
            <a:prstDash val="solid"/>
          </a:ln>
        </p:spPr>
      </p:sp>
      <p:sp>
        <p:nvSpPr>
          <p:cNvPr id="22" name="Text 19"/>
          <p:cNvSpPr txBox="1"/>
          <p:nvPr/>
        </p:nvSpPr>
        <p:spPr>
          <a:xfrm>
            <a:off x="6812280" y="5166360"/>
            <a:ext cx="2103120" cy="914400"/>
          </a:xfrm>
          <a:prstGeom prst="rect">
            <a:avLst/>
          </a:prstGeom>
          <a:noFill/>
        </p:spPr>
        <p:txBody>
          <a:bodyPr wrap="square" lIns="0" tIns="0" rIns="0" bIns="0" rtlCol="0" anchor="ctr"/>
          <a:lstStyle/>
          <a:p>
            <a:pPr marL="0" indent="0" algn="ctr">
              <a:buNone/>
            </a:pPr>
            <a:r>
              <a:rPr lang="en-US" sz="1600" b="1" dirty="0">
                <a:solidFill>
                  <a:schemeClr val="bg1"/>
                </a:solidFill>
              </a:rPr>
              <a:t>Posters</a:t>
            </a:r>
            <a:endParaRPr lang="en-US" sz="1600" dirty="0"/>
          </a:p>
          <a:p>
            <a:pPr marL="0" indent="0" algn="ctr">
              <a:buNone/>
            </a:pPr>
            <a:r>
              <a:rPr lang="en-US" sz="1300" dirty="0">
                <a:solidFill>
                  <a:schemeClr val="bg2"/>
                </a:solidFill>
              </a:rPr>
              <a:t>Admin/upload-images</a:t>
            </a:r>
            <a:endParaRPr lang="en-US" sz="1600" dirty="0"/>
          </a:p>
        </p:txBody>
      </p:sp>
      <p:sp>
        <p:nvSpPr>
          <p:cNvPr id="23" name="Shape 20"/>
          <p:cNvSpPr/>
          <p:nvPr/>
        </p:nvSpPr>
        <p:spPr>
          <a:xfrm flipV="1">
            <a:off x="2651760" y="1965960"/>
            <a:ext cx="640080" cy="320040"/>
          </a:xfrm>
          <a:prstGeom prst="line">
            <a:avLst/>
          </a:prstGeom>
          <a:noFill/>
          <a:ln w="19050">
            <a:solidFill>
              <a:srgbClr val="A9ABB8"/>
            </a:solidFill>
            <a:prstDash val="solid"/>
            <a:tailEnd type="triangle"/>
          </a:ln>
        </p:spPr>
      </p:sp>
      <p:sp>
        <p:nvSpPr>
          <p:cNvPr id="24" name="Shape 21"/>
          <p:cNvSpPr/>
          <p:nvPr/>
        </p:nvSpPr>
        <p:spPr>
          <a:xfrm>
            <a:off x="2651760" y="2377440"/>
            <a:ext cx="640080" cy="868680"/>
          </a:xfrm>
          <a:prstGeom prst="line">
            <a:avLst/>
          </a:prstGeom>
          <a:noFill/>
          <a:ln w="19050">
            <a:solidFill>
              <a:srgbClr val="A9ABB8"/>
            </a:solidFill>
            <a:prstDash val="solid"/>
            <a:tailEnd type="triangle"/>
          </a:ln>
        </p:spPr>
      </p:sp>
      <p:sp>
        <p:nvSpPr>
          <p:cNvPr id="25" name="Shape 22"/>
          <p:cNvSpPr/>
          <p:nvPr/>
        </p:nvSpPr>
        <p:spPr>
          <a:xfrm>
            <a:off x="2651760" y="4297680"/>
            <a:ext cx="640080" cy="228600"/>
          </a:xfrm>
          <a:prstGeom prst="line">
            <a:avLst/>
          </a:prstGeom>
          <a:noFill/>
          <a:ln w="19050">
            <a:solidFill>
              <a:srgbClr val="A9ABB8"/>
            </a:solidFill>
            <a:prstDash val="solid"/>
            <a:tailEnd type="triangle"/>
          </a:ln>
        </p:spPr>
      </p:sp>
      <p:sp>
        <p:nvSpPr>
          <p:cNvPr id="26" name="Shape 23"/>
          <p:cNvSpPr/>
          <p:nvPr/>
        </p:nvSpPr>
        <p:spPr>
          <a:xfrm>
            <a:off x="5943600" y="1965960"/>
            <a:ext cx="731520" cy="777240"/>
          </a:xfrm>
          <a:prstGeom prst="line">
            <a:avLst/>
          </a:prstGeom>
          <a:noFill/>
          <a:ln w="19050">
            <a:solidFill>
              <a:srgbClr val="A9ABB8"/>
            </a:solidFill>
            <a:prstDash val="solid"/>
            <a:tailEnd type="triangle"/>
          </a:ln>
        </p:spPr>
      </p:sp>
      <p:sp>
        <p:nvSpPr>
          <p:cNvPr id="27" name="Shape 24"/>
          <p:cNvSpPr/>
          <p:nvPr/>
        </p:nvSpPr>
        <p:spPr>
          <a:xfrm>
            <a:off x="5943600" y="3246120"/>
            <a:ext cx="731520" cy="914"/>
          </a:xfrm>
          <a:prstGeom prst="line">
            <a:avLst/>
          </a:prstGeom>
          <a:noFill/>
          <a:ln w="19050">
            <a:solidFill>
              <a:srgbClr val="A9ABB8"/>
            </a:solidFill>
            <a:prstDash val="solid"/>
            <a:tailEnd type="triangle"/>
          </a:ln>
        </p:spPr>
      </p:sp>
      <p:sp>
        <p:nvSpPr>
          <p:cNvPr id="28" name="Shape 25"/>
          <p:cNvSpPr/>
          <p:nvPr/>
        </p:nvSpPr>
        <p:spPr>
          <a:xfrm flipV="1">
            <a:off x="5943600" y="3749040"/>
            <a:ext cx="731520" cy="777240"/>
          </a:xfrm>
          <a:prstGeom prst="line">
            <a:avLst/>
          </a:prstGeom>
          <a:noFill/>
          <a:ln w="19050">
            <a:solidFill>
              <a:srgbClr val="A9ABB8"/>
            </a:solidFill>
            <a:prstDash val="solid"/>
            <a:tailEnd type="triangle"/>
          </a:ln>
        </p:spPr>
      </p:sp>
      <p:sp>
        <p:nvSpPr>
          <p:cNvPr id="29" name="Shape 26"/>
          <p:cNvSpPr/>
          <p:nvPr/>
        </p:nvSpPr>
        <p:spPr>
          <a:xfrm>
            <a:off x="9052560" y="3246120"/>
            <a:ext cx="640080" cy="914"/>
          </a:xfrm>
          <a:prstGeom prst="line">
            <a:avLst/>
          </a:prstGeom>
          <a:noFill/>
          <a:ln w="19050">
            <a:solidFill>
              <a:srgbClr val="A9ABB8"/>
            </a:solidFill>
            <a:prstDash val="solid"/>
            <a:tailEnd type="triangle"/>
          </a:ln>
        </p:spPr>
      </p:sp>
      <p:sp>
        <p:nvSpPr>
          <p:cNvPr id="30" name="Shape 27"/>
          <p:cNvSpPr/>
          <p:nvPr/>
        </p:nvSpPr>
        <p:spPr>
          <a:xfrm flipV="1">
            <a:off x="10652760" y="4663440"/>
            <a:ext cx="914" cy="457200"/>
          </a:xfrm>
          <a:prstGeom prst="line">
            <a:avLst/>
          </a:prstGeom>
          <a:noFill/>
          <a:ln w="19050">
            <a:solidFill>
              <a:srgbClr val="A9ABB8"/>
            </a:solidFill>
            <a:prstDash val="solid"/>
            <a:tailEnd type="triangle"/>
          </a:ln>
        </p:spPr>
      </p:sp>
      <p:sp>
        <p:nvSpPr>
          <p:cNvPr id="31" name="Shape 28"/>
          <p:cNvSpPr/>
          <p:nvPr/>
        </p:nvSpPr>
        <p:spPr>
          <a:xfrm flipH="1">
            <a:off x="9052560" y="5623560"/>
            <a:ext cx="457200" cy="914"/>
          </a:xfrm>
          <a:prstGeom prst="line">
            <a:avLst/>
          </a:prstGeom>
          <a:noFill/>
          <a:ln w="19050">
            <a:solidFill>
              <a:srgbClr val="A9ABB8"/>
            </a:solidFill>
            <a:prstDash val="solid"/>
            <a:tailEnd type="triangle"/>
          </a:ln>
        </p:spPr>
      </p:sp>
      <p:sp>
        <p:nvSpPr>
          <p:cNvPr id="32" name="Text 29"/>
          <p:cNvSpPr txBox="1"/>
          <p:nvPr/>
        </p:nvSpPr>
        <p:spPr>
          <a:xfrm>
            <a:off x="548640" y="5806440"/>
            <a:ext cx="5852160" cy="457200"/>
          </a:xfrm>
          <a:prstGeom prst="rect">
            <a:avLst/>
          </a:prstGeom>
          <a:noFill/>
        </p:spPr>
        <p:txBody>
          <a:bodyPr wrap="square" lIns="0" tIns="0" rIns="0" bIns="0" rtlCol="0" anchor="ctr"/>
          <a:lstStyle/>
          <a:p>
            <a:pPr marL="0" indent="0">
              <a:buNone/>
            </a:pPr>
            <a:r>
              <a:rPr lang="en-US" sz="1300" i="1" dirty="0">
                <a:solidFill>
                  <a:schemeClr val="bg2"/>
                </a:solidFill>
              </a:rPr>
              <a:t>Every form follows Post / Redirect / Get: POST → check CSRF token → save → redirect → flash message</a:t>
            </a:r>
            <a:endParaRPr lang="en-US" sz="1300" dirty="0"/>
          </a:p>
        </p:txBody>
      </p:sp>
      <p:sp>
        <p:nvSpPr>
          <p:cNvPr id="33"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Database design: 21 tables in 4 groups</a:t>
            </a:r>
            <a:endParaRPr lang="en-US" sz="3200" dirty="0"/>
          </a:p>
        </p:txBody>
      </p:sp>
      <p:sp>
        <p:nvSpPr>
          <p:cNvPr id="3" name="Shape 1"/>
          <p:cNvSpPr/>
          <p:nvPr/>
        </p:nvSpPr>
        <p:spPr>
          <a:xfrm>
            <a:off x="548640" y="1417320"/>
            <a:ext cx="2567864" cy="4709160"/>
          </a:xfrm>
          <a:prstGeom prst="roundRect">
            <a:avLst>
              <a:gd name="adj" fmla="val 3561"/>
            </a:avLst>
          </a:prstGeom>
          <a:solidFill>
            <a:schemeClr val="tx2"/>
          </a:solidFill>
          <a:ln w="9525">
            <a:solidFill>
              <a:srgbClr val="3A3B48"/>
            </a:solidFill>
            <a:prstDash val="solid"/>
          </a:ln>
        </p:spPr>
      </p:sp>
      <p:sp>
        <p:nvSpPr>
          <p:cNvPr id="4" name="Shape 2"/>
          <p:cNvSpPr/>
          <p:nvPr/>
        </p:nvSpPr>
        <p:spPr>
          <a:xfrm>
            <a:off x="777240" y="1600200"/>
            <a:ext cx="502920" cy="502920"/>
          </a:xfrm>
          <a:prstGeom prst="ellipse">
            <a:avLst/>
          </a:prstGeom>
          <a:solidFill>
            <a:srgbClr val="3B82F6"/>
          </a:solidFill>
          <a:ln w="12700">
            <a:solidFill>
              <a:srgbClr val="3B82F6"/>
            </a:solidFill>
            <a:prstDash val="solid"/>
          </a:ln>
        </p:spPr>
      </p:sp>
      <p:pic>
        <p:nvPicPr>
          <p:cNvPr id="5" name="Image 0" descr="preencoded.png"/>
          <p:cNvPicPr>
            <a:picLocks noChangeAspect="1"/>
          </p:cNvPicPr>
          <p:nvPr/>
        </p:nvPicPr>
        <p:blipFill>
          <a:blip r:embed="rId1"/>
          <a:stretch>
            <a:fillRect/>
          </a:stretch>
        </p:blipFill>
        <p:spPr>
          <a:xfrm>
            <a:off x="902970" y="1725930"/>
            <a:ext cx="251460" cy="251460"/>
          </a:xfrm>
          <a:prstGeom prst="rect">
            <a:avLst/>
          </a:prstGeom>
        </p:spPr>
      </p:pic>
      <p:sp>
        <p:nvSpPr>
          <p:cNvPr id="6" name="Text 3"/>
          <p:cNvSpPr txBox="1"/>
          <p:nvPr/>
        </p:nvSpPr>
        <p:spPr>
          <a:xfrm>
            <a:off x="1417320" y="1600200"/>
            <a:ext cx="1562024" cy="502920"/>
          </a:xfrm>
          <a:prstGeom prst="rect">
            <a:avLst/>
          </a:prstGeom>
          <a:noFill/>
        </p:spPr>
        <p:txBody>
          <a:bodyPr wrap="square" lIns="0" tIns="0" rIns="0" bIns="0" rtlCol="0" anchor="ctr"/>
          <a:lstStyle/>
          <a:p>
            <a:pPr marL="0" indent="0">
              <a:buNone/>
            </a:pPr>
            <a:r>
              <a:rPr lang="en-US" sz="1800" b="1" dirty="0">
                <a:solidFill>
                  <a:schemeClr val="bg1"/>
                </a:solidFill>
              </a:rPr>
              <a:t>Catalog</a:t>
            </a:r>
            <a:endParaRPr lang="en-US" sz="1800" dirty="0"/>
          </a:p>
        </p:txBody>
      </p:sp>
      <p:sp>
        <p:nvSpPr>
          <p:cNvPr id="7" name="Shape 4"/>
          <p:cNvSpPr/>
          <p:nvPr/>
        </p:nvSpPr>
        <p:spPr>
          <a:xfrm>
            <a:off x="777240" y="2331720"/>
            <a:ext cx="2110664" cy="274320"/>
          </a:xfrm>
          <a:prstGeom prst="roundRect">
            <a:avLst>
              <a:gd name="adj" fmla="val 16667"/>
            </a:avLst>
          </a:prstGeom>
          <a:solidFill>
            <a:schemeClr val="tx1"/>
          </a:solidFill>
          <a:ln w="9525">
            <a:solidFill>
              <a:srgbClr val="3B82F6"/>
            </a:solidFill>
            <a:prstDash val="solid"/>
          </a:ln>
        </p:spPr>
      </p:sp>
      <p:sp>
        <p:nvSpPr>
          <p:cNvPr id="8" name="Text 5"/>
          <p:cNvSpPr txBox="1"/>
          <p:nvPr/>
        </p:nvSpPr>
        <p:spPr>
          <a:xfrm>
            <a:off x="868680" y="2331720"/>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addmovie</a:t>
            </a:r>
            <a:endParaRPr lang="en-US" sz="1200" dirty="0"/>
          </a:p>
        </p:txBody>
      </p:sp>
      <p:sp>
        <p:nvSpPr>
          <p:cNvPr id="9" name="Shape 6"/>
          <p:cNvSpPr/>
          <p:nvPr/>
        </p:nvSpPr>
        <p:spPr>
          <a:xfrm>
            <a:off x="777240" y="2670048"/>
            <a:ext cx="2110664" cy="274320"/>
          </a:xfrm>
          <a:prstGeom prst="roundRect">
            <a:avLst>
              <a:gd name="adj" fmla="val 16667"/>
            </a:avLst>
          </a:prstGeom>
          <a:solidFill>
            <a:schemeClr val="tx1"/>
          </a:solidFill>
          <a:ln w="9525">
            <a:solidFill>
              <a:srgbClr val="3B82F6"/>
            </a:solidFill>
            <a:prstDash val="solid"/>
          </a:ln>
        </p:spPr>
      </p:sp>
      <p:sp>
        <p:nvSpPr>
          <p:cNvPr id="10" name="Text 7"/>
          <p:cNvSpPr txBox="1"/>
          <p:nvPr/>
        </p:nvSpPr>
        <p:spPr>
          <a:xfrm>
            <a:off x="868680" y="2670048"/>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cinema</a:t>
            </a:r>
            <a:endParaRPr lang="en-US" sz="1200" dirty="0"/>
          </a:p>
        </p:txBody>
      </p:sp>
      <p:sp>
        <p:nvSpPr>
          <p:cNvPr id="11" name="Shape 8"/>
          <p:cNvSpPr/>
          <p:nvPr/>
        </p:nvSpPr>
        <p:spPr>
          <a:xfrm>
            <a:off x="777240" y="3008376"/>
            <a:ext cx="2110664" cy="274320"/>
          </a:xfrm>
          <a:prstGeom prst="roundRect">
            <a:avLst>
              <a:gd name="adj" fmla="val 16667"/>
            </a:avLst>
          </a:prstGeom>
          <a:solidFill>
            <a:schemeClr val="tx1"/>
          </a:solidFill>
          <a:ln w="9525">
            <a:solidFill>
              <a:srgbClr val="3B82F6"/>
            </a:solidFill>
            <a:prstDash val="solid"/>
          </a:ln>
        </p:spPr>
      </p:sp>
      <p:sp>
        <p:nvSpPr>
          <p:cNvPr id="12" name="Text 9"/>
          <p:cNvSpPr txBox="1"/>
          <p:nvPr/>
        </p:nvSpPr>
        <p:spPr>
          <a:xfrm>
            <a:off x="868680" y="3008376"/>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genre</a:t>
            </a:r>
            <a:endParaRPr lang="en-US" sz="1200" dirty="0"/>
          </a:p>
        </p:txBody>
      </p:sp>
      <p:sp>
        <p:nvSpPr>
          <p:cNvPr id="13" name="Shape 10"/>
          <p:cNvSpPr/>
          <p:nvPr/>
        </p:nvSpPr>
        <p:spPr>
          <a:xfrm>
            <a:off x="777240" y="3346704"/>
            <a:ext cx="2110664" cy="274320"/>
          </a:xfrm>
          <a:prstGeom prst="roundRect">
            <a:avLst>
              <a:gd name="adj" fmla="val 16667"/>
            </a:avLst>
          </a:prstGeom>
          <a:solidFill>
            <a:schemeClr val="tx1"/>
          </a:solidFill>
          <a:ln w="9525">
            <a:solidFill>
              <a:srgbClr val="3B82F6"/>
            </a:solidFill>
            <a:prstDash val="solid"/>
          </a:ln>
        </p:spPr>
      </p:sp>
      <p:sp>
        <p:nvSpPr>
          <p:cNvPr id="14" name="Text 11"/>
          <p:cNvSpPr txBox="1"/>
          <p:nvPr/>
        </p:nvSpPr>
        <p:spPr>
          <a:xfrm>
            <a:off x="868680" y="3346704"/>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industry</a:t>
            </a:r>
            <a:endParaRPr lang="en-US" sz="1200" dirty="0"/>
          </a:p>
        </p:txBody>
      </p:sp>
      <p:sp>
        <p:nvSpPr>
          <p:cNvPr id="15" name="Shape 12"/>
          <p:cNvSpPr/>
          <p:nvPr/>
        </p:nvSpPr>
        <p:spPr>
          <a:xfrm>
            <a:off x="777240" y="3685032"/>
            <a:ext cx="2110664" cy="274320"/>
          </a:xfrm>
          <a:prstGeom prst="roundRect">
            <a:avLst>
              <a:gd name="adj" fmla="val 16667"/>
            </a:avLst>
          </a:prstGeom>
          <a:solidFill>
            <a:schemeClr val="tx1"/>
          </a:solidFill>
          <a:ln w="9525">
            <a:solidFill>
              <a:srgbClr val="3B82F6"/>
            </a:solidFill>
            <a:prstDash val="solid"/>
          </a:ln>
        </p:spPr>
      </p:sp>
      <p:sp>
        <p:nvSpPr>
          <p:cNvPr id="16" name="Text 13"/>
          <p:cNvSpPr txBox="1"/>
          <p:nvPr/>
        </p:nvSpPr>
        <p:spPr>
          <a:xfrm>
            <a:off x="868680" y="3685032"/>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language</a:t>
            </a:r>
            <a:endParaRPr lang="en-US" sz="1200" dirty="0"/>
          </a:p>
        </p:txBody>
      </p:sp>
      <p:sp>
        <p:nvSpPr>
          <p:cNvPr id="17" name="Shape 14"/>
          <p:cNvSpPr/>
          <p:nvPr/>
        </p:nvSpPr>
        <p:spPr>
          <a:xfrm>
            <a:off x="777240" y="4023360"/>
            <a:ext cx="2110664" cy="274320"/>
          </a:xfrm>
          <a:prstGeom prst="roundRect">
            <a:avLst>
              <a:gd name="adj" fmla="val 16667"/>
            </a:avLst>
          </a:prstGeom>
          <a:solidFill>
            <a:schemeClr val="tx1"/>
          </a:solidFill>
          <a:ln w="9525">
            <a:solidFill>
              <a:srgbClr val="3B82F6"/>
            </a:solidFill>
            <a:prstDash val="solid"/>
          </a:ln>
        </p:spPr>
      </p:sp>
      <p:sp>
        <p:nvSpPr>
          <p:cNvPr id="18" name="Text 15"/>
          <p:cNvSpPr txBox="1"/>
          <p:nvPr/>
        </p:nvSpPr>
        <p:spPr>
          <a:xfrm>
            <a:off x="868680" y="4023360"/>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date</a:t>
            </a:r>
            <a:endParaRPr lang="en-US" sz="1200" dirty="0"/>
          </a:p>
        </p:txBody>
      </p:sp>
      <p:sp>
        <p:nvSpPr>
          <p:cNvPr id="19" name="Shape 16"/>
          <p:cNvSpPr/>
          <p:nvPr/>
        </p:nvSpPr>
        <p:spPr>
          <a:xfrm>
            <a:off x="777240" y="4361688"/>
            <a:ext cx="2110664" cy="274320"/>
          </a:xfrm>
          <a:prstGeom prst="roundRect">
            <a:avLst>
              <a:gd name="adj" fmla="val 16667"/>
            </a:avLst>
          </a:prstGeom>
          <a:solidFill>
            <a:schemeClr val="tx1"/>
          </a:solidFill>
          <a:ln w="9525">
            <a:solidFill>
              <a:srgbClr val="3B82F6"/>
            </a:solidFill>
            <a:prstDash val="solid"/>
          </a:ln>
        </p:spPr>
      </p:sp>
      <p:sp>
        <p:nvSpPr>
          <p:cNvPr id="20" name="Text 17"/>
          <p:cNvSpPr txBox="1"/>
          <p:nvPr/>
        </p:nvSpPr>
        <p:spPr>
          <a:xfrm>
            <a:off x="868680" y="4361688"/>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movie_price</a:t>
            </a:r>
            <a:endParaRPr lang="en-US" sz="1200" dirty="0"/>
          </a:p>
        </p:txBody>
      </p:sp>
      <p:sp>
        <p:nvSpPr>
          <p:cNvPr id="21" name="Shape 18"/>
          <p:cNvSpPr/>
          <p:nvPr/>
        </p:nvSpPr>
        <p:spPr>
          <a:xfrm>
            <a:off x="777240" y="4700016"/>
            <a:ext cx="2110664" cy="274320"/>
          </a:xfrm>
          <a:prstGeom prst="roundRect">
            <a:avLst>
              <a:gd name="adj" fmla="val 16667"/>
            </a:avLst>
          </a:prstGeom>
          <a:solidFill>
            <a:schemeClr val="tx1"/>
          </a:solidFill>
          <a:ln w="9525">
            <a:solidFill>
              <a:srgbClr val="3B82F6"/>
            </a:solidFill>
            <a:prstDash val="solid"/>
          </a:ln>
        </p:spPr>
      </p:sp>
      <p:sp>
        <p:nvSpPr>
          <p:cNvPr id="22" name="Text 19"/>
          <p:cNvSpPr txBox="1"/>
          <p:nvPr/>
        </p:nvSpPr>
        <p:spPr>
          <a:xfrm>
            <a:off x="868680" y="4700016"/>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coming_soon</a:t>
            </a:r>
            <a:endParaRPr lang="en-US" sz="1200" dirty="0"/>
          </a:p>
        </p:txBody>
      </p:sp>
      <p:sp>
        <p:nvSpPr>
          <p:cNvPr id="23" name="Text 20"/>
          <p:cNvSpPr txBox="1"/>
          <p:nvPr/>
        </p:nvSpPr>
        <p:spPr>
          <a:xfrm>
            <a:off x="777240" y="5074920"/>
            <a:ext cx="2110664" cy="960120"/>
          </a:xfrm>
          <a:prstGeom prst="rect">
            <a:avLst/>
          </a:prstGeom>
          <a:noFill/>
        </p:spPr>
        <p:txBody>
          <a:bodyPr wrap="square" lIns="0" tIns="0" rIns="0" bIns="0" rtlCol="0" anchor="t"/>
          <a:lstStyle/>
          <a:p>
            <a:pPr marL="0" indent="0">
              <a:buNone/>
            </a:pPr>
            <a:r>
              <a:rPr lang="en-US" sz="1300" dirty="0">
                <a:solidFill>
                  <a:schemeClr val="bg2"/>
                </a:solidFill>
              </a:rPr>
              <a:t>addmovie is the hub, with foreign keys to cinema, genre, industry, language and date</a:t>
            </a:r>
            <a:endParaRPr lang="en-US" sz="1300" dirty="0"/>
          </a:p>
        </p:txBody>
      </p:sp>
      <p:sp>
        <p:nvSpPr>
          <p:cNvPr id="24" name="Shape 21"/>
          <p:cNvSpPr/>
          <p:nvPr/>
        </p:nvSpPr>
        <p:spPr>
          <a:xfrm>
            <a:off x="3390824" y="1417320"/>
            <a:ext cx="2567864" cy="4709160"/>
          </a:xfrm>
          <a:prstGeom prst="roundRect">
            <a:avLst>
              <a:gd name="adj" fmla="val 3561"/>
            </a:avLst>
          </a:prstGeom>
          <a:solidFill>
            <a:schemeClr val="tx2"/>
          </a:solidFill>
          <a:ln w="9525">
            <a:solidFill>
              <a:srgbClr val="3A3B48"/>
            </a:solidFill>
            <a:prstDash val="solid"/>
          </a:ln>
        </p:spPr>
      </p:sp>
      <p:sp>
        <p:nvSpPr>
          <p:cNvPr id="25" name="Shape 22"/>
          <p:cNvSpPr/>
          <p:nvPr/>
        </p:nvSpPr>
        <p:spPr>
          <a:xfrm>
            <a:off x="3619424" y="1600200"/>
            <a:ext cx="502920" cy="502920"/>
          </a:xfrm>
          <a:prstGeom prst="ellipse">
            <a:avLst/>
          </a:prstGeom>
          <a:solidFill>
            <a:srgbClr val="FF4F9A"/>
          </a:solidFill>
          <a:ln w="12700">
            <a:solidFill>
              <a:srgbClr val="FF4F9A"/>
            </a:solidFill>
            <a:prstDash val="solid"/>
          </a:ln>
        </p:spPr>
      </p:sp>
      <p:pic>
        <p:nvPicPr>
          <p:cNvPr id="26" name="Image 1" descr="preencoded.png"/>
          <p:cNvPicPr>
            <a:picLocks noChangeAspect="1"/>
          </p:cNvPicPr>
          <p:nvPr/>
        </p:nvPicPr>
        <p:blipFill>
          <a:blip r:embed="rId2"/>
          <a:stretch>
            <a:fillRect/>
          </a:stretch>
        </p:blipFill>
        <p:spPr>
          <a:xfrm>
            <a:off x="3745154" y="1725930"/>
            <a:ext cx="251460" cy="251460"/>
          </a:xfrm>
          <a:prstGeom prst="rect">
            <a:avLst/>
          </a:prstGeom>
        </p:spPr>
      </p:pic>
      <p:sp>
        <p:nvSpPr>
          <p:cNvPr id="27" name="Text 23"/>
          <p:cNvSpPr txBox="1"/>
          <p:nvPr/>
        </p:nvSpPr>
        <p:spPr>
          <a:xfrm>
            <a:off x="4259504" y="1600200"/>
            <a:ext cx="1562024" cy="502920"/>
          </a:xfrm>
          <a:prstGeom prst="rect">
            <a:avLst/>
          </a:prstGeom>
          <a:noFill/>
        </p:spPr>
        <p:txBody>
          <a:bodyPr wrap="square" lIns="0" tIns="0" rIns="0" bIns="0" rtlCol="0" anchor="ctr"/>
          <a:lstStyle/>
          <a:p>
            <a:pPr marL="0" indent="0">
              <a:buNone/>
            </a:pPr>
            <a:r>
              <a:rPr lang="en-US" sz="1800" b="1" dirty="0">
                <a:solidFill>
                  <a:schemeClr val="bg1"/>
                </a:solidFill>
              </a:rPr>
              <a:t>Booking</a:t>
            </a:r>
            <a:endParaRPr lang="en-US" sz="1800" dirty="0"/>
          </a:p>
        </p:txBody>
      </p:sp>
      <p:sp>
        <p:nvSpPr>
          <p:cNvPr id="28" name="Shape 24"/>
          <p:cNvSpPr/>
          <p:nvPr/>
        </p:nvSpPr>
        <p:spPr>
          <a:xfrm>
            <a:off x="3619424" y="2331720"/>
            <a:ext cx="2110664" cy="274320"/>
          </a:xfrm>
          <a:prstGeom prst="roundRect">
            <a:avLst>
              <a:gd name="adj" fmla="val 16667"/>
            </a:avLst>
          </a:prstGeom>
          <a:solidFill>
            <a:schemeClr val="tx1"/>
          </a:solidFill>
          <a:ln w="9525">
            <a:solidFill>
              <a:srgbClr val="FF4F9A"/>
            </a:solidFill>
            <a:prstDash val="solid"/>
          </a:ln>
        </p:spPr>
      </p:sp>
      <p:sp>
        <p:nvSpPr>
          <p:cNvPr id="29" name="Text 25"/>
          <p:cNvSpPr txBox="1"/>
          <p:nvPr/>
        </p:nvSpPr>
        <p:spPr>
          <a:xfrm>
            <a:off x="3710864" y="2331720"/>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shows</a:t>
            </a:r>
            <a:endParaRPr lang="en-US" sz="1200" dirty="0"/>
          </a:p>
        </p:txBody>
      </p:sp>
      <p:sp>
        <p:nvSpPr>
          <p:cNvPr id="30" name="Shape 26"/>
          <p:cNvSpPr/>
          <p:nvPr/>
        </p:nvSpPr>
        <p:spPr>
          <a:xfrm>
            <a:off x="3619424" y="2670048"/>
            <a:ext cx="2110664" cy="274320"/>
          </a:xfrm>
          <a:prstGeom prst="roundRect">
            <a:avLst>
              <a:gd name="adj" fmla="val 16667"/>
            </a:avLst>
          </a:prstGeom>
          <a:solidFill>
            <a:schemeClr val="tx1"/>
          </a:solidFill>
          <a:ln w="9525">
            <a:solidFill>
              <a:srgbClr val="FF4F9A"/>
            </a:solidFill>
            <a:prstDash val="solid"/>
          </a:ln>
        </p:spPr>
      </p:sp>
      <p:sp>
        <p:nvSpPr>
          <p:cNvPr id="31" name="Text 27"/>
          <p:cNvSpPr txBox="1"/>
          <p:nvPr/>
        </p:nvSpPr>
        <p:spPr>
          <a:xfrm>
            <a:off x="3710864" y="2670048"/>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seat_holds</a:t>
            </a:r>
            <a:endParaRPr lang="en-US" sz="1200" dirty="0"/>
          </a:p>
        </p:txBody>
      </p:sp>
      <p:sp>
        <p:nvSpPr>
          <p:cNvPr id="32" name="Shape 28"/>
          <p:cNvSpPr/>
          <p:nvPr/>
        </p:nvSpPr>
        <p:spPr>
          <a:xfrm>
            <a:off x="3619424" y="3008376"/>
            <a:ext cx="2110664" cy="274320"/>
          </a:xfrm>
          <a:prstGeom prst="roundRect">
            <a:avLst>
              <a:gd name="adj" fmla="val 16667"/>
            </a:avLst>
          </a:prstGeom>
          <a:solidFill>
            <a:schemeClr val="tx1"/>
          </a:solidFill>
          <a:ln w="9525">
            <a:solidFill>
              <a:srgbClr val="FF4F9A"/>
            </a:solidFill>
            <a:prstDash val="solid"/>
          </a:ln>
        </p:spPr>
      </p:sp>
      <p:sp>
        <p:nvSpPr>
          <p:cNvPr id="33" name="Text 29"/>
          <p:cNvSpPr txBox="1"/>
          <p:nvPr/>
        </p:nvSpPr>
        <p:spPr>
          <a:xfrm>
            <a:off x="3710864" y="3008376"/>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booking_details</a:t>
            </a:r>
            <a:endParaRPr lang="en-US" sz="1200" dirty="0"/>
          </a:p>
        </p:txBody>
      </p:sp>
      <p:sp>
        <p:nvSpPr>
          <p:cNvPr id="34" name="Shape 30"/>
          <p:cNvSpPr/>
          <p:nvPr/>
        </p:nvSpPr>
        <p:spPr>
          <a:xfrm>
            <a:off x="3619424" y="3346704"/>
            <a:ext cx="2110664" cy="274320"/>
          </a:xfrm>
          <a:prstGeom prst="roundRect">
            <a:avLst>
              <a:gd name="adj" fmla="val 16667"/>
            </a:avLst>
          </a:prstGeom>
          <a:solidFill>
            <a:schemeClr val="tx1"/>
          </a:solidFill>
          <a:ln w="9525">
            <a:solidFill>
              <a:srgbClr val="FF4F9A"/>
            </a:solidFill>
            <a:prstDash val="solid"/>
          </a:ln>
        </p:spPr>
      </p:sp>
      <p:sp>
        <p:nvSpPr>
          <p:cNvPr id="35" name="Text 31"/>
          <p:cNvSpPr txBox="1"/>
          <p:nvPr/>
        </p:nvSpPr>
        <p:spPr>
          <a:xfrm>
            <a:off x="3710864" y="3346704"/>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booking_seats</a:t>
            </a:r>
            <a:endParaRPr lang="en-US" sz="1200" dirty="0"/>
          </a:p>
        </p:txBody>
      </p:sp>
      <p:sp>
        <p:nvSpPr>
          <p:cNvPr id="36" name="Shape 32"/>
          <p:cNvSpPr/>
          <p:nvPr/>
        </p:nvSpPr>
        <p:spPr>
          <a:xfrm>
            <a:off x="3619424" y="3685032"/>
            <a:ext cx="2110664" cy="274320"/>
          </a:xfrm>
          <a:prstGeom prst="roundRect">
            <a:avLst>
              <a:gd name="adj" fmla="val 16667"/>
            </a:avLst>
          </a:prstGeom>
          <a:solidFill>
            <a:schemeClr val="tx1"/>
          </a:solidFill>
          <a:ln w="9525">
            <a:solidFill>
              <a:srgbClr val="FF4F9A"/>
            </a:solidFill>
            <a:prstDash val="solid"/>
          </a:ln>
        </p:spPr>
      </p:sp>
      <p:sp>
        <p:nvSpPr>
          <p:cNvPr id="37" name="Text 33"/>
          <p:cNvSpPr txBox="1"/>
          <p:nvPr/>
        </p:nvSpPr>
        <p:spPr>
          <a:xfrm>
            <a:off x="3710864" y="3685032"/>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booking_snacks</a:t>
            </a:r>
            <a:endParaRPr lang="en-US" sz="1200" dirty="0"/>
          </a:p>
        </p:txBody>
      </p:sp>
      <p:sp>
        <p:nvSpPr>
          <p:cNvPr id="38" name="Shape 34"/>
          <p:cNvSpPr/>
          <p:nvPr/>
        </p:nvSpPr>
        <p:spPr>
          <a:xfrm>
            <a:off x="3619424" y="4023360"/>
            <a:ext cx="2110664" cy="274320"/>
          </a:xfrm>
          <a:prstGeom prst="roundRect">
            <a:avLst>
              <a:gd name="adj" fmla="val 16667"/>
            </a:avLst>
          </a:prstGeom>
          <a:solidFill>
            <a:schemeClr val="tx1"/>
          </a:solidFill>
          <a:ln w="9525">
            <a:solidFill>
              <a:srgbClr val="FF4F9A"/>
            </a:solidFill>
            <a:prstDash val="solid"/>
          </a:ln>
        </p:spPr>
      </p:sp>
      <p:sp>
        <p:nvSpPr>
          <p:cNvPr id="39" name="Text 35"/>
          <p:cNvSpPr txBox="1"/>
          <p:nvPr/>
        </p:nvSpPr>
        <p:spPr>
          <a:xfrm>
            <a:off x="3710864" y="4023360"/>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snacks</a:t>
            </a:r>
            <a:endParaRPr lang="en-US" sz="1200" dirty="0"/>
          </a:p>
        </p:txBody>
      </p:sp>
      <p:sp>
        <p:nvSpPr>
          <p:cNvPr id="40" name="Shape 36"/>
          <p:cNvSpPr/>
          <p:nvPr/>
        </p:nvSpPr>
        <p:spPr>
          <a:xfrm>
            <a:off x="3619424" y="4361688"/>
            <a:ext cx="2110664" cy="274320"/>
          </a:xfrm>
          <a:prstGeom prst="roundRect">
            <a:avLst>
              <a:gd name="adj" fmla="val 16667"/>
            </a:avLst>
          </a:prstGeom>
          <a:solidFill>
            <a:schemeClr val="tx1"/>
          </a:solidFill>
          <a:ln w="9525">
            <a:solidFill>
              <a:srgbClr val="FF4F9A"/>
            </a:solidFill>
            <a:prstDash val="solid"/>
          </a:ln>
        </p:spPr>
      </p:sp>
      <p:sp>
        <p:nvSpPr>
          <p:cNvPr id="41" name="Text 37"/>
          <p:cNvSpPr txBox="1"/>
          <p:nvPr/>
        </p:nvSpPr>
        <p:spPr>
          <a:xfrm>
            <a:off x="3710864" y="4361688"/>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promo_codes</a:t>
            </a:r>
            <a:endParaRPr lang="en-US" sz="1200" dirty="0"/>
          </a:p>
        </p:txBody>
      </p:sp>
      <p:sp>
        <p:nvSpPr>
          <p:cNvPr id="42" name="Text 38"/>
          <p:cNvSpPr txBox="1"/>
          <p:nvPr/>
        </p:nvSpPr>
        <p:spPr>
          <a:xfrm>
            <a:off x="3619424" y="5074920"/>
            <a:ext cx="2110664" cy="960120"/>
          </a:xfrm>
          <a:prstGeom prst="rect">
            <a:avLst/>
          </a:prstGeom>
          <a:noFill/>
        </p:spPr>
        <p:txBody>
          <a:bodyPr wrap="square" lIns="0" tIns="0" rIns="0" bIns="0" rtlCol="0" anchor="t"/>
          <a:lstStyle/>
          <a:p>
            <a:pPr marL="0" indent="0">
              <a:buNone/>
            </a:pPr>
            <a:r>
              <a:rPr lang="en-US" sz="1300" dirty="0">
                <a:solidFill>
                  <a:schemeClr val="bg2"/>
                </a:solidFill>
              </a:rPr>
              <a:t>UNIQUE (show_id, seat_label) on holds and sold seats blocks double booking</a:t>
            </a:r>
            <a:endParaRPr lang="en-US" sz="1300" dirty="0"/>
          </a:p>
        </p:txBody>
      </p:sp>
      <p:sp>
        <p:nvSpPr>
          <p:cNvPr id="43" name="Shape 39"/>
          <p:cNvSpPr/>
          <p:nvPr/>
        </p:nvSpPr>
        <p:spPr>
          <a:xfrm>
            <a:off x="6233008" y="1417320"/>
            <a:ext cx="2567864" cy="4709160"/>
          </a:xfrm>
          <a:prstGeom prst="roundRect">
            <a:avLst>
              <a:gd name="adj" fmla="val 3561"/>
            </a:avLst>
          </a:prstGeom>
          <a:solidFill>
            <a:schemeClr val="tx2"/>
          </a:solidFill>
          <a:ln w="9525">
            <a:solidFill>
              <a:srgbClr val="3A3B48"/>
            </a:solidFill>
            <a:prstDash val="solid"/>
          </a:ln>
        </p:spPr>
      </p:sp>
      <p:sp>
        <p:nvSpPr>
          <p:cNvPr id="44" name="Shape 40"/>
          <p:cNvSpPr/>
          <p:nvPr/>
        </p:nvSpPr>
        <p:spPr>
          <a:xfrm>
            <a:off x="6461608" y="1600200"/>
            <a:ext cx="502920" cy="502920"/>
          </a:xfrm>
          <a:prstGeom prst="ellipse">
            <a:avLst/>
          </a:prstGeom>
          <a:solidFill>
            <a:srgbClr val="22C55E"/>
          </a:solidFill>
          <a:ln w="12700">
            <a:solidFill>
              <a:srgbClr val="22C55E"/>
            </a:solidFill>
            <a:prstDash val="solid"/>
          </a:ln>
        </p:spPr>
      </p:sp>
      <p:pic>
        <p:nvPicPr>
          <p:cNvPr id="45" name="Image 2" descr="preencoded.png"/>
          <p:cNvPicPr>
            <a:picLocks noChangeAspect="1"/>
          </p:cNvPicPr>
          <p:nvPr/>
        </p:nvPicPr>
        <p:blipFill>
          <a:blip r:embed="rId3"/>
          <a:stretch>
            <a:fillRect/>
          </a:stretch>
        </p:blipFill>
        <p:spPr>
          <a:xfrm>
            <a:off x="6587338" y="1725930"/>
            <a:ext cx="251460" cy="251460"/>
          </a:xfrm>
          <a:prstGeom prst="rect">
            <a:avLst/>
          </a:prstGeom>
        </p:spPr>
      </p:pic>
      <p:sp>
        <p:nvSpPr>
          <p:cNvPr id="46" name="Text 41"/>
          <p:cNvSpPr txBox="1"/>
          <p:nvPr/>
        </p:nvSpPr>
        <p:spPr>
          <a:xfrm>
            <a:off x="7101688" y="1600200"/>
            <a:ext cx="1562024" cy="502920"/>
          </a:xfrm>
          <a:prstGeom prst="rect">
            <a:avLst/>
          </a:prstGeom>
          <a:noFill/>
        </p:spPr>
        <p:txBody>
          <a:bodyPr wrap="square" lIns="0" tIns="0" rIns="0" bIns="0" rtlCol="0" anchor="ctr"/>
          <a:lstStyle/>
          <a:p>
            <a:pPr marL="0" indent="0">
              <a:buNone/>
            </a:pPr>
            <a:r>
              <a:rPr lang="en-US" sz="1800" b="1" dirty="0">
                <a:solidFill>
                  <a:schemeClr val="bg1"/>
                </a:solidFill>
              </a:rPr>
              <a:t>Customers</a:t>
            </a:r>
            <a:endParaRPr lang="en-US" sz="1800" dirty="0"/>
          </a:p>
        </p:txBody>
      </p:sp>
      <p:sp>
        <p:nvSpPr>
          <p:cNvPr id="47" name="Shape 42"/>
          <p:cNvSpPr/>
          <p:nvPr/>
        </p:nvSpPr>
        <p:spPr>
          <a:xfrm>
            <a:off x="6461608" y="2331720"/>
            <a:ext cx="2110664" cy="274320"/>
          </a:xfrm>
          <a:prstGeom prst="roundRect">
            <a:avLst>
              <a:gd name="adj" fmla="val 16667"/>
            </a:avLst>
          </a:prstGeom>
          <a:solidFill>
            <a:schemeClr val="tx1"/>
          </a:solidFill>
          <a:ln w="9525">
            <a:solidFill>
              <a:srgbClr val="22C55E"/>
            </a:solidFill>
            <a:prstDash val="solid"/>
          </a:ln>
        </p:spPr>
      </p:sp>
      <p:sp>
        <p:nvSpPr>
          <p:cNvPr id="48" name="Text 43"/>
          <p:cNvSpPr txBox="1"/>
          <p:nvPr/>
        </p:nvSpPr>
        <p:spPr>
          <a:xfrm>
            <a:off x="6553048" y="2331720"/>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user_reg_login</a:t>
            </a:r>
            <a:endParaRPr lang="en-US" sz="1200" dirty="0"/>
          </a:p>
        </p:txBody>
      </p:sp>
      <p:sp>
        <p:nvSpPr>
          <p:cNvPr id="49" name="Shape 44"/>
          <p:cNvSpPr/>
          <p:nvPr/>
        </p:nvSpPr>
        <p:spPr>
          <a:xfrm>
            <a:off x="6461608" y="2670048"/>
            <a:ext cx="2110664" cy="274320"/>
          </a:xfrm>
          <a:prstGeom prst="roundRect">
            <a:avLst>
              <a:gd name="adj" fmla="val 16667"/>
            </a:avLst>
          </a:prstGeom>
          <a:solidFill>
            <a:schemeClr val="tx1"/>
          </a:solidFill>
          <a:ln w="9525">
            <a:solidFill>
              <a:srgbClr val="22C55E"/>
            </a:solidFill>
            <a:prstDash val="solid"/>
          </a:ln>
        </p:spPr>
      </p:sp>
      <p:sp>
        <p:nvSpPr>
          <p:cNvPr id="50" name="Text 45"/>
          <p:cNvSpPr txBox="1"/>
          <p:nvPr/>
        </p:nvSpPr>
        <p:spPr>
          <a:xfrm>
            <a:off x="6553048" y="2670048"/>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reviews</a:t>
            </a:r>
            <a:endParaRPr lang="en-US" sz="1200" dirty="0"/>
          </a:p>
        </p:txBody>
      </p:sp>
      <p:sp>
        <p:nvSpPr>
          <p:cNvPr id="51" name="Shape 46"/>
          <p:cNvSpPr/>
          <p:nvPr/>
        </p:nvSpPr>
        <p:spPr>
          <a:xfrm>
            <a:off x="6461608" y="3008376"/>
            <a:ext cx="2110664" cy="274320"/>
          </a:xfrm>
          <a:prstGeom prst="roundRect">
            <a:avLst>
              <a:gd name="adj" fmla="val 16667"/>
            </a:avLst>
          </a:prstGeom>
          <a:solidFill>
            <a:schemeClr val="tx1"/>
          </a:solidFill>
          <a:ln w="9525">
            <a:solidFill>
              <a:srgbClr val="22C55E"/>
            </a:solidFill>
            <a:prstDash val="solid"/>
          </a:ln>
        </p:spPr>
      </p:sp>
      <p:sp>
        <p:nvSpPr>
          <p:cNvPr id="52" name="Text 47"/>
          <p:cNvSpPr txBox="1"/>
          <p:nvPr/>
        </p:nvSpPr>
        <p:spPr>
          <a:xfrm>
            <a:off x="6553048" y="3008376"/>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favorites</a:t>
            </a:r>
            <a:endParaRPr lang="en-US" sz="1200" dirty="0"/>
          </a:p>
        </p:txBody>
      </p:sp>
      <p:sp>
        <p:nvSpPr>
          <p:cNvPr id="53" name="Shape 48"/>
          <p:cNvSpPr/>
          <p:nvPr/>
        </p:nvSpPr>
        <p:spPr>
          <a:xfrm>
            <a:off x="6461608" y="3346704"/>
            <a:ext cx="2110664" cy="274320"/>
          </a:xfrm>
          <a:prstGeom prst="roundRect">
            <a:avLst>
              <a:gd name="adj" fmla="val 16667"/>
            </a:avLst>
          </a:prstGeom>
          <a:solidFill>
            <a:schemeClr val="tx1"/>
          </a:solidFill>
          <a:ln w="9525">
            <a:solidFill>
              <a:srgbClr val="22C55E"/>
            </a:solidFill>
            <a:prstDash val="solid"/>
          </a:ln>
        </p:spPr>
      </p:sp>
      <p:sp>
        <p:nvSpPr>
          <p:cNvPr id="54" name="Text 49"/>
          <p:cNvSpPr txBox="1"/>
          <p:nvPr/>
        </p:nvSpPr>
        <p:spPr>
          <a:xfrm>
            <a:off x="6553048" y="3346704"/>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contact_messages</a:t>
            </a:r>
            <a:endParaRPr lang="en-US" sz="1200" dirty="0"/>
          </a:p>
        </p:txBody>
      </p:sp>
      <p:sp>
        <p:nvSpPr>
          <p:cNvPr id="55" name="Text 50"/>
          <p:cNvSpPr txBox="1"/>
          <p:nvPr/>
        </p:nvSpPr>
        <p:spPr>
          <a:xfrm>
            <a:off x="6461608" y="5074920"/>
            <a:ext cx="2110664" cy="960120"/>
          </a:xfrm>
          <a:prstGeom prst="rect">
            <a:avLst/>
          </a:prstGeom>
          <a:noFill/>
        </p:spPr>
        <p:txBody>
          <a:bodyPr wrap="square" lIns="0" tIns="0" rIns="0" bIns="0" rtlCol="0" anchor="t"/>
          <a:lstStyle/>
          <a:p>
            <a:pPr marL="0" indent="0">
              <a:buNone/>
            </a:pPr>
            <a:r>
              <a:rPr lang="en-US" sz="1300" dirty="0">
                <a:solidFill>
                  <a:schemeClr val="bg2"/>
                </a:solidFill>
              </a:rPr>
              <a:t>Favorites have a UNIQUE (user, movie) key; users carry status and loyalty points</a:t>
            </a:r>
            <a:endParaRPr lang="en-US" sz="1300" dirty="0"/>
          </a:p>
        </p:txBody>
      </p:sp>
      <p:sp>
        <p:nvSpPr>
          <p:cNvPr id="56" name="Shape 51"/>
          <p:cNvSpPr/>
          <p:nvPr/>
        </p:nvSpPr>
        <p:spPr>
          <a:xfrm>
            <a:off x="9075191" y="1417320"/>
            <a:ext cx="2567864" cy="4709160"/>
          </a:xfrm>
          <a:prstGeom prst="roundRect">
            <a:avLst>
              <a:gd name="adj" fmla="val 3561"/>
            </a:avLst>
          </a:prstGeom>
          <a:solidFill>
            <a:schemeClr val="tx2"/>
          </a:solidFill>
          <a:ln w="9525">
            <a:solidFill>
              <a:srgbClr val="3A3B48"/>
            </a:solidFill>
            <a:prstDash val="solid"/>
          </a:ln>
        </p:spPr>
      </p:sp>
      <p:sp>
        <p:nvSpPr>
          <p:cNvPr id="57" name="Shape 52"/>
          <p:cNvSpPr/>
          <p:nvPr/>
        </p:nvSpPr>
        <p:spPr>
          <a:xfrm>
            <a:off x="9303791" y="1600200"/>
            <a:ext cx="502920" cy="502920"/>
          </a:xfrm>
          <a:prstGeom prst="ellipse">
            <a:avLst/>
          </a:prstGeom>
          <a:solidFill>
            <a:srgbClr val="F5B83D"/>
          </a:solidFill>
          <a:ln w="12700">
            <a:solidFill>
              <a:srgbClr val="F5B83D"/>
            </a:solidFill>
            <a:prstDash val="solid"/>
          </a:ln>
        </p:spPr>
      </p:sp>
      <p:pic>
        <p:nvPicPr>
          <p:cNvPr id="58" name="Image 3" descr="preencoded.png"/>
          <p:cNvPicPr>
            <a:picLocks noChangeAspect="1"/>
          </p:cNvPicPr>
          <p:nvPr/>
        </p:nvPicPr>
        <p:blipFill>
          <a:blip r:embed="rId4"/>
          <a:stretch>
            <a:fillRect/>
          </a:stretch>
        </p:blipFill>
        <p:spPr>
          <a:xfrm>
            <a:off x="9429521" y="1725930"/>
            <a:ext cx="251460" cy="251460"/>
          </a:xfrm>
          <a:prstGeom prst="rect">
            <a:avLst/>
          </a:prstGeom>
        </p:spPr>
      </p:pic>
      <p:sp>
        <p:nvSpPr>
          <p:cNvPr id="59" name="Text 53"/>
          <p:cNvSpPr txBox="1"/>
          <p:nvPr/>
        </p:nvSpPr>
        <p:spPr>
          <a:xfrm>
            <a:off x="9943871" y="1600200"/>
            <a:ext cx="1562024" cy="502920"/>
          </a:xfrm>
          <a:prstGeom prst="rect">
            <a:avLst/>
          </a:prstGeom>
          <a:noFill/>
        </p:spPr>
        <p:txBody>
          <a:bodyPr wrap="square" lIns="0" tIns="0" rIns="0" bIns="0" rtlCol="0" anchor="ctr"/>
          <a:lstStyle/>
          <a:p>
            <a:pPr marL="0" indent="0">
              <a:buNone/>
            </a:pPr>
            <a:r>
              <a:rPr lang="en-US" sz="1800" b="1" dirty="0">
                <a:solidFill>
                  <a:schemeClr val="bg1"/>
                </a:solidFill>
              </a:rPr>
              <a:t>Administration</a:t>
            </a:r>
            <a:endParaRPr lang="en-US" sz="1800" dirty="0"/>
          </a:p>
        </p:txBody>
      </p:sp>
      <p:sp>
        <p:nvSpPr>
          <p:cNvPr id="60" name="Shape 54"/>
          <p:cNvSpPr/>
          <p:nvPr/>
        </p:nvSpPr>
        <p:spPr>
          <a:xfrm>
            <a:off x="9303791" y="2331720"/>
            <a:ext cx="2110664" cy="274320"/>
          </a:xfrm>
          <a:prstGeom prst="roundRect">
            <a:avLst>
              <a:gd name="adj" fmla="val 16667"/>
            </a:avLst>
          </a:prstGeom>
          <a:solidFill>
            <a:schemeClr val="tx1"/>
          </a:solidFill>
          <a:ln w="9525">
            <a:solidFill>
              <a:srgbClr val="F5B83D"/>
            </a:solidFill>
            <a:prstDash val="solid"/>
          </a:ln>
        </p:spPr>
      </p:sp>
      <p:sp>
        <p:nvSpPr>
          <p:cNvPr id="61" name="Text 55"/>
          <p:cNvSpPr txBox="1"/>
          <p:nvPr/>
        </p:nvSpPr>
        <p:spPr>
          <a:xfrm>
            <a:off x="9395231" y="2331720"/>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admin_login</a:t>
            </a:r>
            <a:endParaRPr lang="en-US" sz="1200" dirty="0"/>
          </a:p>
        </p:txBody>
      </p:sp>
      <p:sp>
        <p:nvSpPr>
          <p:cNvPr id="62" name="Shape 56"/>
          <p:cNvSpPr/>
          <p:nvPr/>
        </p:nvSpPr>
        <p:spPr>
          <a:xfrm>
            <a:off x="9303791" y="2670048"/>
            <a:ext cx="2110664" cy="274320"/>
          </a:xfrm>
          <a:prstGeom prst="roundRect">
            <a:avLst>
              <a:gd name="adj" fmla="val 16667"/>
            </a:avLst>
          </a:prstGeom>
          <a:solidFill>
            <a:schemeClr val="tx1"/>
          </a:solidFill>
          <a:ln w="9525">
            <a:solidFill>
              <a:srgbClr val="F5B83D"/>
            </a:solidFill>
            <a:prstDash val="solid"/>
          </a:ln>
        </p:spPr>
      </p:sp>
      <p:sp>
        <p:nvSpPr>
          <p:cNvPr id="63" name="Text 57"/>
          <p:cNvSpPr txBox="1"/>
          <p:nvPr/>
        </p:nvSpPr>
        <p:spPr>
          <a:xfrm>
            <a:off x="9395231" y="2670048"/>
            <a:ext cx="1927784" cy="274320"/>
          </a:xfrm>
          <a:prstGeom prst="rect">
            <a:avLst/>
          </a:prstGeom>
          <a:noFill/>
        </p:spPr>
        <p:txBody>
          <a:bodyPr wrap="square" lIns="0" tIns="0" rIns="0" bIns="0" rtlCol="0" anchor="ctr"/>
          <a:lstStyle/>
          <a:p>
            <a:pPr marL="0" indent="0">
              <a:buNone/>
            </a:pPr>
            <a:r>
              <a:rPr lang="en-US" sz="12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activity_log</a:t>
            </a:r>
            <a:endParaRPr lang="en-US" sz="1200" dirty="0"/>
          </a:p>
        </p:txBody>
      </p:sp>
      <p:sp>
        <p:nvSpPr>
          <p:cNvPr id="64" name="Text 58"/>
          <p:cNvSpPr txBox="1"/>
          <p:nvPr/>
        </p:nvSpPr>
        <p:spPr>
          <a:xfrm>
            <a:off x="9303791" y="5074920"/>
            <a:ext cx="2110664" cy="960120"/>
          </a:xfrm>
          <a:prstGeom prst="rect">
            <a:avLst/>
          </a:prstGeom>
          <a:noFill/>
        </p:spPr>
        <p:txBody>
          <a:bodyPr wrap="square" lIns="0" tIns="0" rIns="0" bIns="0" rtlCol="0" anchor="t"/>
          <a:lstStyle/>
          <a:p>
            <a:pPr marL="0" indent="0">
              <a:buNone/>
            </a:pPr>
            <a:r>
              <a:rPr lang="en-US" sz="1300" dirty="0">
                <a:solidFill>
                  <a:schemeClr val="bg2"/>
                </a:solidFill>
              </a:rPr>
              <a:t>Every admin add, edit and delete is written to the activity log</a:t>
            </a:r>
            <a:endParaRPr lang="en-US" sz="1300" dirty="0"/>
          </a:p>
        </p:txBody>
      </p:sp>
      <p:sp>
        <p:nvSpPr>
          <p:cNvPr id="6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indow home_grid"/>
          <p:cNvSpPr/>
          <p:nvPr/>
        </p:nvSpPr>
        <p:spPr>
          <a:xfrm>
            <a:off x="6796735" y="1932813"/>
            <a:ext cx="4846320" cy="2992374"/>
          </a:xfrm>
          <a:prstGeom prst="roundRect">
            <a:avLst>
              <a:gd name="adj" fmla="val 2445"/>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3" name="Shape 1"/>
          <p:cNvSpPr/>
          <p:nvPr/>
        </p:nvSpPr>
        <p:spPr>
          <a:xfrm>
            <a:off x="6924751" y="2019681"/>
            <a:ext cx="100584" cy="100584"/>
          </a:xfrm>
          <a:prstGeom prst="ellipse">
            <a:avLst/>
          </a:prstGeom>
          <a:solidFill>
            <a:srgbClr val="FF5F57"/>
          </a:solidFill>
          <a:ln w="12700">
            <a:solidFill>
              <a:srgbClr val="FF5F57"/>
            </a:solidFill>
            <a:prstDash val="solid"/>
          </a:ln>
        </p:spPr>
      </p:sp>
      <p:sp>
        <p:nvSpPr>
          <p:cNvPr id="4" name="Shape 2"/>
          <p:cNvSpPr/>
          <p:nvPr/>
        </p:nvSpPr>
        <p:spPr>
          <a:xfrm>
            <a:off x="7080199" y="2019681"/>
            <a:ext cx="100584" cy="100584"/>
          </a:xfrm>
          <a:prstGeom prst="ellipse">
            <a:avLst/>
          </a:prstGeom>
          <a:solidFill>
            <a:srgbClr val="FEBC2E"/>
          </a:solidFill>
          <a:ln w="12700">
            <a:solidFill>
              <a:srgbClr val="FEBC2E"/>
            </a:solidFill>
            <a:prstDash val="solid"/>
          </a:ln>
        </p:spPr>
      </p:sp>
      <p:sp>
        <p:nvSpPr>
          <p:cNvPr id="5" name="Shape 3"/>
          <p:cNvSpPr/>
          <p:nvPr/>
        </p:nvSpPr>
        <p:spPr>
          <a:xfrm>
            <a:off x="7235647" y="2019681"/>
            <a:ext cx="100584" cy="100584"/>
          </a:xfrm>
          <a:prstGeom prst="ellipse">
            <a:avLst/>
          </a:prstGeom>
          <a:solidFill>
            <a:srgbClr val="28C840"/>
          </a:solidFill>
          <a:ln w="12700">
            <a:solidFill>
              <a:srgbClr val="28C840"/>
            </a:solidFill>
            <a:prstDash val="solid"/>
          </a:ln>
        </p:spPr>
      </p:sp>
      <p:pic>
        <p:nvPicPr>
          <p:cNvPr id="6" name="Screenshot home_grid" descr="Screenshot: home_grid"/>
          <p:cNvPicPr>
            <a:picLocks noChangeAspect="1"/>
          </p:cNvPicPr>
          <p:nvPr/>
        </p:nvPicPr>
        <p:blipFill>
          <a:blip r:embed="rId1"/>
          <a:stretch>
            <a:fillRect/>
          </a:stretch>
        </p:blipFill>
        <p:spPr>
          <a:xfrm>
            <a:off x="6860743" y="2207133"/>
            <a:ext cx="4718304" cy="2654046"/>
          </a:xfrm>
          <a:prstGeom prst="rect">
            <a:avLst/>
          </a:prstGeom>
        </p:spPr>
      </p:pic>
      <p:sp>
        <p:nvSpPr>
          <p:cNvPr id="7" name="Text 4"/>
          <p:cNvSpPr txBox="1"/>
          <p:nvPr/>
        </p:nvSpPr>
        <p:spPr>
          <a:xfrm>
            <a:off x="548640" y="1554480"/>
            <a:ext cx="2743200" cy="1097280"/>
          </a:xfrm>
          <a:prstGeom prst="rect">
            <a:avLst/>
          </a:prstGeom>
          <a:noFill/>
        </p:spPr>
        <p:txBody>
          <a:bodyPr wrap="square" lIns="0" tIns="0" rIns="0" bIns="0" rtlCol="0" anchor="ctr"/>
          <a:lstStyle/>
          <a:p>
            <a:pPr marL="0" indent="0">
              <a:buNone/>
            </a:pPr>
            <a:r>
              <a:rPr lang="en-US" sz="7200" b="1" dirty="0">
                <a:solidFill>
                  <a:schemeClr val="accent1"/>
                </a:solidFill>
                <a:latin typeface="Arial" panose="020B0604020202020204" pitchFamily="34" charset="0"/>
                <a:ea typeface="Arial" panose="020B0604020202020204" pitchFamily="34" charset="-122"/>
                <a:cs typeface="Arial" panose="020B0604020202020204" pitchFamily="34" charset="-120"/>
              </a:rPr>
              <a:t>01</a:t>
            </a:r>
            <a:endParaRPr lang="en-US" sz="7200" dirty="0"/>
          </a:p>
        </p:txBody>
      </p:sp>
      <p:sp>
        <p:nvSpPr>
          <p:cNvPr id="8" name="Text 0"/>
          <p:cNvSpPr/>
          <p:nvPr>
            <p:ph type="title" idx="100" hasCustomPrompt="1"/>
          </p:nvPr>
        </p:nvSpPr>
        <p:spPr>
          <a:xfrm>
            <a:off x="548640" y="2788920"/>
            <a:ext cx="5852160" cy="1097280"/>
          </a:xfrm>
          <a:prstGeom prst="rect">
            <a:avLst/>
          </a:prstGeom>
          <a:noFill/>
        </p:spPr>
        <p:txBody>
          <a:bodyPr wrap="square" lIns="0" tIns="0" rIns="0" bIns="0" rtlCol="0" anchor="t"/>
          <a:lstStyle/>
          <a:p>
            <a:pPr marL="0" indent="0" algn="l">
              <a:buNone/>
            </a:pPr>
            <a:r>
              <a:rPr lang="en-US" sz="4400" b="1" dirty="0">
                <a:solidFill>
                  <a:schemeClr val="bg1"/>
                </a:solidFill>
              </a:rPr>
              <a:t>Customer website</a:t>
            </a:r>
            <a:endParaRPr lang="en-US" sz="4400" dirty="0"/>
          </a:p>
        </p:txBody>
      </p:sp>
      <p:sp>
        <p:nvSpPr>
          <p:cNvPr id="9" name="Text 0"/>
          <p:cNvSpPr/>
          <p:nvPr>
            <p:ph type="body" idx="101" hasCustomPrompt="1"/>
          </p:nvPr>
        </p:nvSpPr>
        <p:spPr>
          <a:xfrm>
            <a:off x="548640" y="3931920"/>
            <a:ext cx="5669280" cy="1097280"/>
          </a:xfrm>
          <a:prstGeom prst="rect">
            <a:avLst/>
          </a:prstGeom>
          <a:noFill/>
        </p:spPr>
        <p:txBody>
          <a:bodyPr wrap="square" lIns="0" tIns="0" rIns="0" bIns="0" rtlCol="0" anchor="t"/>
          <a:lstStyle/>
          <a:p>
            <a:pPr marL="0" indent="0">
              <a:buNone/>
            </a:pPr>
            <a:r>
              <a:rPr lang="en-US" sz="1800" dirty="0">
                <a:solidFill>
                  <a:schemeClr val="bg2"/>
                </a:solidFill>
              </a:rPr>
              <a:t>From finding a movie to walking in with a QR e-ticket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The booking journey in six steps</a:t>
            </a:r>
            <a:endParaRPr lang="en-US" sz="3200" dirty="0"/>
          </a:p>
        </p:txBody>
      </p:sp>
      <p:sp>
        <p:nvSpPr>
          <p:cNvPr id="3" name="Shape 1"/>
          <p:cNvSpPr/>
          <p:nvPr/>
        </p:nvSpPr>
        <p:spPr>
          <a:xfrm>
            <a:off x="548640" y="1920240"/>
            <a:ext cx="1582369" cy="3108960"/>
          </a:xfrm>
          <a:prstGeom prst="roundRect">
            <a:avLst>
              <a:gd name="adj" fmla="val 5779"/>
            </a:avLst>
          </a:prstGeom>
          <a:solidFill>
            <a:schemeClr val="tx2"/>
          </a:solidFill>
          <a:ln w="9525">
            <a:solidFill>
              <a:srgbClr val="3A3B48"/>
            </a:solidFill>
            <a:prstDash val="solid"/>
          </a:ln>
        </p:spPr>
      </p:sp>
      <p:sp>
        <p:nvSpPr>
          <p:cNvPr id="4" name="Text 2"/>
          <p:cNvSpPr txBox="1"/>
          <p:nvPr/>
        </p:nvSpPr>
        <p:spPr>
          <a:xfrm>
            <a:off x="731520" y="2057400"/>
            <a:ext cx="548640" cy="457200"/>
          </a:xfrm>
          <a:prstGeom prst="rect">
            <a:avLst/>
          </a:prstGeom>
          <a:noFill/>
        </p:spPr>
        <p:txBody>
          <a:bodyPr wrap="square" lIns="0" tIns="0" rIns="0" bIns="0" rtlCol="0" anchor="ctr"/>
          <a:lstStyle/>
          <a:p>
            <a:pPr marL="0" indent="0">
              <a:buNone/>
            </a:pPr>
            <a:r>
              <a:rPr lang="en-US" sz="2200" b="1" dirty="0">
                <a:solidFill>
                  <a:schemeClr val="accent1"/>
                </a:solidFill>
              </a:rPr>
              <a:t>1</a:t>
            </a:r>
            <a:endParaRPr lang="en-US" sz="2200" dirty="0"/>
          </a:p>
        </p:txBody>
      </p:sp>
      <p:sp>
        <p:nvSpPr>
          <p:cNvPr id="5" name="Shape 3"/>
          <p:cNvSpPr/>
          <p:nvPr/>
        </p:nvSpPr>
        <p:spPr>
          <a:xfrm>
            <a:off x="905485" y="2606040"/>
            <a:ext cx="868680" cy="868680"/>
          </a:xfrm>
          <a:prstGeom prst="ellipse">
            <a:avLst/>
          </a:prstGeom>
          <a:solidFill>
            <a:schemeClr val="accent1"/>
          </a:solidFill>
          <a:ln w="12700">
            <a:solidFill>
              <a:schemeClr val="accent1"/>
            </a:solidFill>
            <a:prstDash val="solid"/>
          </a:ln>
        </p:spPr>
      </p:sp>
      <p:pic>
        <p:nvPicPr>
          <p:cNvPr id="6" name="Image 0" descr="preencoded.png"/>
          <p:cNvPicPr>
            <a:picLocks noChangeAspect="1"/>
          </p:cNvPicPr>
          <p:nvPr/>
        </p:nvPicPr>
        <p:blipFill>
          <a:blip r:embed="rId1"/>
          <a:stretch>
            <a:fillRect/>
          </a:stretch>
        </p:blipFill>
        <p:spPr>
          <a:xfrm>
            <a:off x="1122655" y="2823210"/>
            <a:ext cx="434340" cy="434340"/>
          </a:xfrm>
          <a:prstGeom prst="rect">
            <a:avLst/>
          </a:prstGeom>
        </p:spPr>
      </p:pic>
      <p:sp>
        <p:nvSpPr>
          <p:cNvPr id="7" name="Text 4"/>
          <p:cNvSpPr txBox="1"/>
          <p:nvPr/>
        </p:nvSpPr>
        <p:spPr>
          <a:xfrm>
            <a:off x="658368" y="3657600"/>
            <a:ext cx="1362913" cy="1188720"/>
          </a:xfrm>
          <a:prstGeom prst="rect">
            <a:avLst/>
          </a:prstGeom>
          <a:noFill/>
        </p:spPr>
        <p:txBody>
          <a:bodyPr wrap="square" lIns="0" tIns="0" rIns="0" bIns="0" rtlCol="0" anchor="t"/>
          <a:lstStyle/>
          <a:p>
            <a:pPr marL="0" indent="0" algn="ctr">
              <a:buNone/>
            </a:pPr>
            <a:r>
              <a:rPr lang="en-US" sz="1800" b="1" dirty="0">
                <a:solidFill>
                  <a:schemeClr val="bg1"/>
                </a:solidFill>
              </a:rPr>
              <a:t>Browse</a:t>
            </a:r>
            <a:endParaRPr lang="en-US" sz="1800" dirty="0"/>
          </a:p>
          <a:p>
            <a:pPr marL="0" indent="0" algn="ctr">
              <a:buNone/>
            </a:pPr>
            <a:r>
              <a:rPr lang="en-US" sz="1400" dirty="0">
                <a:solidFill>
                  <a:schemeClr val="bg2"/>
                </a:solidFill>
              </a:rPr>
              <a:t>Search and filter movies</a:t>
            </a:r>
            <a:endParaRPr lang="en-US" sz="1800" dirty="0"/>
          </a:p>
        </p:txBody>
      </p:sp>
      <p:pic>
        <p:nvPicPr>
          <p:cNvPr id="8" name="Image 1" descr="preencoded.png"/>
          <p:cNvPicPr>
            <a:picLocks noChangeAspect="1"/>
          </p:cNvPicPr>
          <p:nvPr/>
        </p:nvPicPr>
        <p:blipFill>
          <a:blip r:embed="rId2"/>
          <a:stretch>
            <a:fillRect/>
          </a:stretch>
        </p:blipFill>
        <p:spPr>
          <a:xfrm>
            <a:off x="2195017" y="3337560"/>
            <a:ext cx="192024" cy="192024"/>
          </a:xfrm>
          <a:prstGeom prst="rect">
            <a:avLst/>
          </a:prstGeom>
        </p:spPr>
      </p:pic>
      <p:sp>
        <p:nvSpPr>
          <p:cNvPr id="9" name="Shape 5"/>
          <p:cNvSpPr/>
          <p:nvPr/>
        </p:nvSpPr>
        <p:spPr>
          <a:xfrm>
            <a:off x="2451049" y="1920240"/>
            <a:ext cx="1582369" cy="3108960"/>
          </a:xfrm>
          <a:prstGeom prst="roundRect">
            <a:avLst>
              <a:gd name="adj" fmla="val 5779"/>
            </a:avLst>
          </a:prstGeom>
          <a:solidFill>
            <a:schemeClr val="tx2"/>
          </a:solidFill>
          <a:ln w="9525">
            <a:solidFill>
              <a:srgbClr val="3A3B48"/>
            </a:solidFill>
            <a:prstDash val="solid"/>
          </a:ln>
        </p:spPr>
      </p:sp>
      <p:sp>
        <p:nvSpPr>
          <p:cNvPr id="10" name="Text 6"/>
          <p:cNvSpPr txBox="1"/>
          <p:nvPr/>
        </p:nvSpPr>
        <p:spPr>
          <a:xfrm>
            <a:off x="2633929" y="2057400"/>
            <a:ext cx="548640" cy="457200"/>
          </a:xfrm>
          <a:prstGeom prst="rect">
            <a:avLst/>
          </a:prstGeom>
          <a:noFill/>
        </p:spPr>
        <p:txBody>
          <a:bodyPr wrap="square" lIns="0" tIns="0" rIns="0" bIns="0" rtlCol="0" anchor="ctr"/>
          <a:lstStyle/>
          <a:p>
            <a:pPr marL="0" indent="0">
              <a:buNone/>
            </a:pPr>
            <a:r>
              <a:rPr lang="en-US" sz="2200" b="1" dirty="0">
                <a:solidFill>
                  <a:schemeClr val="accent1"/>
                </a:solidFill>
              </a:rPr>
              <a:t>2</a:t>
            </a:r>
            <a:endParaRPr lang="en-US" sz="2200" dirty="0"/>
          </a:p>
        </p:txBody>
      </p:sp>
      <p:sp>
        <p:nvSpPr>
          <p:cNvPr id="11" name="Shape 7"/>
          <p:cNvSpPr/>
          <p:nvPr/>
        </p:nvSpPr>
        <p:spPr>
          <a:xfrm>
            <a:off x="2807894" y="2606040"/>
            <a:ext cx="868680" cy="868680"/>
          </a:xfrm>
          <a:prstGeom prst="ellipse">
            <a:avLst/>
          </a:prstGeom>
          <a:solidFill>
            <a:schemeClr val="accent1"/>
          </a:solidFill>
          <a:ln w="12700">
            <a:solidFill>
              <a:schemeClr val="accent1"/>
            </a:solidFill>
            <a:prstDash val="solid"/>
          </a:ln>
        </p:spPr>
      </p:sp>
      <p:pic>
        <p:nvPicPr>
          <p:cNvPr id="12" name="Image 2" descr="preencoded.png"/>
          <p:cNvPicPr>
            <a:picLocks noChangeAspect="1"/>
          </p:cNvPicPr>
          <p:nvPr/>
        </p:nvPicPr>
        <p:blipFill>
          <a:blip r:embed="rId3"/>
          <a:stretch>
            <a:fillRect/>
          </a:stretch>
        </p:blipFill>
        <p:spPr>
          <a:xfrm>
            <a:off x="3025064" y="2823210"/>
            <a:ext cx="434340" cy="434340"/>
          </a:xfrm>
          <a:prstGeom prst="rect">
            <a:avLst/>
          </a:prstGeom>
        </p:spPr>
      </p:pic>
      <p:sp>
        <p:nvSpPr>
          <p:cNvPr id="13" name="Text 8"/>
          <p:cNvSpPr txBox="1"/>
          <p:nvPr/>
        </p:nvSpPr>
        <p:spPr>
          <a:xfrm>
            <a:off x="2560777" y="3657600"/>
            <a:ext cx="1362913" cy="1188720"/>
          </a:xfrm>
          <a:prstGeom prst="rect">
            <a:avLst/>
          </a:prstGeom>
          <a:noFill/>
        </p:spPr>
        <p:txBody>
          <a:bodyPr wrap="square" lIns="0" tIns="0" rIns="0" bIns="0" rtlCol="0" anchor="t"/>
          <a:lstStyle/>
          <a:p>
            <a:pPr marL="0" indent="0" algn="ctr">
              <a:buNone/>
            </a:pPr>
            <a:r>
              <a:rPr lang="en-US" sz="1800" b="1" dirty="0">
                <a:solidFill>
                  <a:schemeClr val="bg1"/>
                </a:solidFill>
              </a:rPr>
              <a:t>Pick a show</a:t>
            </a:r>
            <a:endParaRPr lang="en-US" sz="1800" dirty="0"/>
          </a:p>
          <a:p>
            <a:pPr marL="0" indent="0" algn="ctr">
              <a:buNone/>
            </a:pPr>
            <a:r>
              <a:rPr lang="en-US" sz="1400" dirty="0">
                <a:solidFill>
                  <a:schemeClr val="bg2"/>
                </a:solidFill>
              </a:rPr>
              <a:t>Date, time and hall</a:t>
            </a:r>
            <a:endParaRPr lang="en-US" sz="1800" dirty="0"/>
          </a:p>
        </p:txBody>
      </p:sp>
      <p:pic>
        <p:nvPicPr>
          <p:cNvPr id="14" name="Image 3" descr="preencoded.png"/>
          <p:cNvPicPr>
            <a:picLocks noChangeAspect="1"/>
          </p:cNvPicPr>
          <p:nvPr/>
        </p:nvPicPr>
        <p:blipFill>
          <a:blip r:embed="rId2"/>
          <a:stretch>
            <a:fillRect/>
          </a:stretch>
        </p:blipFill>
        <p:spPr>
          <a:xfrm>
            <a:off x="4097426" y="3337560"/>
            <a:ext cx="192024" cy="192024"/>
          </a:xfrm>
          <a:prstGeom prst="rect">
            <a:avLst/>
          </a:prstGeom>
        </p:spPr>
      </p:pic>
      <p:sp>
        <p:nvSpPr>
          <p:cNvPr id="15" name="Shape 9"/>
          <p:cNvSpPr/>
          <p:nvPr/>
        </p:nvSpPr>
        <p:spPr>
          <a:xfrm>
            <a:off x="4353458" y="1920240"/>
            <a:ext cx="1582369" cy="3108960"/>
          </a:xfrm>
          <a:prstGeom prst="roundRect">
            <a:avLst>
              <a:gd name="adj" fmla="val 5779"/>
            </a:avLst>
          </a:prstGeom>
          <a:solidFill>
            <a:schemeClr val="tx2"/>
          </a:solidFill>
          <a:ln w="9525">
            <a:solidFill>
              <a:srgbClr val="3A3B48"/>
            </a:solidFill>
            <a:prstDash val="solid"/>
          </a:ln>
        </p:spPr>
      </p:sp>
      <p:sp>
        <p:nvSpPr>
          <p:cNvPr id="16" name="Text 10"/>
          <p:cNvSpPr txBox="1"/>
          <p:nvPr/>
        </p:nvSpPr>
        <p:spPr>
          <a:xfrm>
            <a:off x="4536338" y="2057400"/>
            <a:ext cx="548640" cy="457200"/>
          </a:xfrm>
          <a:prstGeom prst="rect">
            <a:avLst/>
          </a:prstGeom>
          <a:noFill/>
        </p:spPr>
        <p:txBody>
          <a:bodyPr wrap="square" lIns="0" tIns="0" rIns="0" bIns="0" rtlCol="0" anchor="ctr"/>
          <a:lstStyle/>
          <a:p>
            <a:pPr marL="0" indent="0">
              <a:buNone/>
            </a:pPr>
            <a:r>
              <a:rPr lang="en-US" sz="2200" b="1" dirty="0">
                <a:solidFill>
                  <a:schemeClr val="accent1"/>
                </a:solidFill>
              </a:rPr>
              <a:t>3</a:t>
            </a:r>
            <a:endParaRPr lang="en-US" sz="2200" dirty="0"/>
          </a:p>
        </p:txBody>
      </p:sp>
      <p:sp>
        <p:nvSpPr>
          <p:cNvPr id="17" name="Shape 11"/>
          <p:cNvSpPr/>
          <p:nvPr/>
        </p:nvSpPr>
        <p:spPr>
          <a:xfrm>
            <a:off x="4710303" y="2606040"/>
            <a:ext cx="868680" cy="868680"/>
          </a:xfrm>
          <a:prstGeom prst="ellipse">
            <a:avLst/>
          </a:prstGeom>
          <a:solidFill>
            <a:schemeClr val="accent1"/>
          </a:solidFill>
          <a:ln w="12700">
            <a:solidFill>
              <a:schemeClr val="accent1"/>
            </a:solidFill>
            <a:prstDash val="solid"/>
          </a:ln>
        </p:spPr>
      </p:sp>
      <p:pic>
        <p:nvPicPr>
          <p:cNvPr id="18" name="Image 4" descr="preencoded.png"/>
          <p:cNvPicPr>
            <a:picLocks noChangeAspect="1"/>
          </p:cNvPicPr>
          <p:nvPr/>
        </p:nvPicPr>
        <p:blipFill>
          <a:blip r:embed="rId4"/>
          <a:stretch>
            <a:fillRect/>
          </a:stretch>
        </p:blipFill>
        <p:spPr>
          <a:xfrm>
            <a:off x="4927473" y="2823210"/>
            <a:ext cx="434340" cy="434340"/>
          </a:xfrm>
          <a:prstGeom prst="rect">
            <a:avLst/>
          </a:prstGeom>
        </p:spPr>
      </p:pic>
      <p:sp>
        <p:nvSpPr>
          <p:cNvPr id="19" name="Text 12"/>
          <p:cNvSpPr txBox="1"/>
          <p:nvPr/>
        </p:nvSpPr>
        <p:spPr>
          <a:xfrm>
            <a:off x="4463186" y="3657600"/>
            <a:ext cx="1362913" cy="1188720"/>
          </a:xfrm>
          <a:prstGeom prst="rect">
            <a:avLst/>
          </a:prstGeom>
          <a:noFill/>
        </p:spPr>
        <p:txBody>
          <a:bodyPr wrap="square" lIns="0" tIns="0" rIns="0" bIns="0" rtlCol="0" anchor="t"/>
          <a:lstStyle/>
          <a:p>
            <a:pPr marL="0" indent="0" algn="ctr">
              <a:buNone/>
            </a:pPr>
            <a:r>
              <a:rPr lang="en-US" sz="1800" b="1" dirty="0">
                <a:solidFill>
                  <a:schemeClr val="bg1"/>
                </a:solidFill>
              </a:rPr>
              <a:t>Choose seats</a:t>
            </a:r>
            <a:endParaRPr lang="en-US" sz="1800" dirty="0"/>
          </a:p>
          <a:p>
            <a:pPr marL="0" indent="0" algn="ctr">
              <a:buNone/>
            </a:pPr>
            <a:r>
              <a:rPr lang="en-US" sz="1400" dirty="0">
                <a:solidFill>
                  <a:schemeClr val="bg2"/>
                </a:solidFill>
              </a:rPr>
              <a:t>Live seat map, 5-min hold</a:t>
            </a:r>
            <a:endParaRPr lang="en-US" sz="1800" dirty="0"/>
          </a:p>
        </p:txBody>
      </p:sp>
      <p:pic>
        <p:nvPicPr>
          <p:cNvPr id="20" name="Image 5" descr="preencoded.png"/>
          <p:cNvPicPr>
            <a:picLocks noChangeAspect="1"/>
          </p:cNvPicPr>
          <p:nvPr/>
        </p:nvPicPr>
        <p:blipFill>
          <a:blip r:embed="rId2"/>
          <a:stretch>
            <a:fillRect/>
          </a:stretch>
        </p:blipFill>
        <p:spPr>
          <a:xfrm>
            <a:off x="5999836" y="3337560"/>
            <a:ext cx="192024" cy="192024"/>
          </a:xfrm>
          <a:prstGeom prst="rect">
            <a:avLst/>
          </a:prstGeom>
        </p:spPr>
      </p:pic>
      <p:sp>
        <p:nvSpPr>
          <p:cNvPr id="21" name="Shape 13"/>
          <p:cNvSpPr/>
          <p:nvPr/>
        </p:nvSpPr>
        <p:spPr>
          <a:xfrm>
            <a:off x="6255868" y="1920240"/>
            <a:ext cx="1582369" cy="3108960"/>
          </a:xfrm>
          <a:prstGeom prst="roundRect">
            <a:avLst>
              <a:gd name="adj" fmla="val 5779"/>
            </a:avLst>
          </a:prstGeom>
          <a:solidFill>
            <a:schemeClr val="tx2"/>
          </a:solidFill>
          <a:ln w="9525">
            <a:solidFill>
              <a:srgbClr val="3A3B48"/>
            </a:solidFill>
            <a:prstDash val="solid"/>
          </a:ln>
        </p:spPr>
      </p:sp>
      <p:sp>
        <p:nvSpPr>
          <p:cNvPr id="22" name="Text 14"/>
          <p:cNvSpPr txBox="1"/>
          <p:nvPr/>
        </p:nvSpPr>
        <p:spPr>
          <a:xfrm>
            <a:off x="6438748" y="2057400"/>
            <a:ext cx="548640" cy="457200"/>
          </a:xfrm>
          <a:prstGeom prst="rect">
            <a:avLst/>
          </a:prstGeom>
          <a:noFill/>
        </p:spPr>
        <p:txBody>
          <a:bodyPr wrap="square" lIns="0" tIns="0" rIns="0" bIns="0" rtlCol="0" anchor="ctr"/>
          <a:lstStyle/>
          <a:p>
            <a:pPr marL="0" indent="0">
              <a:buNone/>
            </a:pPr>
            <a:r>
              <a:rPr lang="en-US" sz="2200" b="1" dirty="0">
                <a:solidFill>
                  <a:schemeClr val="accent1"/>
                </a:solidFill>
              </a:rPr>
              <a:t>4</a:t>
            </a:r>
            <a:endParaRPr lang="en-US" sz="2200" dirty="0"/>
          </a:p>
        </p:txBody>
      </p:sp>
      <p:sp>
        <p:nvSpPr>
          <p:cNvPr id="23" name="Shape 15"/>
          <p:cNvSpPr/>
          <p:nvPr/>
        </p:nvSpPr>
        <p:spPr>
          <a:xfrm>
            <a:off x="6612712" y="2606040"/>
            <a:ext cx="868680" cy="868680"/>
          </a:xfrm>
          <a:prstGeom prst="ellipse">
            <a:avLst/>
          </a:prstGeom>
          <a:solidFill>
            <a:schemeClr val="accent1"/>
          </a:solidFill>
          <a:ln w="12700">
            <a:solidFill>
              <a:schemeClr val="accent1"/>
            </a:solidFill>
            <a:prstDash val="solid"/>
          </a:ln>
        </p:spPr>
      </p:sp>
      <p:pic>
        <p:nvPicPr>
          <p:cNvPr id="24" name="Image 6" descr="preencoded.png"/>
          <p:cNvPicPr>
            <a:picLocks noChangeAspect="1"/>
          </p:cNvPicPr>
          <p:nvPr/>
        </p:nvPicPr>
        <p:blipFill>
          <a:blip r:embed="rId5"/>
          <a:stretch>
            <a:fillRect/>
          </a:stretch>
        </p:blipFill>
        <p:spPr>
          <a:xfrm>
            <a:off x="6829882" y="2823210"/>
            <a:ext cx="434340" cy="434340"/>
          </a:xfrm>
          <a:prstGeom prst="rect">
            <a:avLst/>
          </a:prstGeom>
        </p:spPr>
      </p:pic>
      <p:sp>
        <p:nvSpPr>
          <p:cNvPr id="25" name="Text 16"/>
          <p:cNvSpPr txBox="1"/>
          <p:nvPr/>
        </p:nvSpPr>
        <p:spPr>
          <a:xfrm>
            <a:off x="6365596" y="3657600"/>
            <a:ext cx="1362913" cy="1188720"/>
          </a:xfrm>
          <a:prstGeom prst="rect">
            <a:avLst/>
          </a:prstGeom>
          <a:noFill/>
        </p:spPr>
        <p:txBody>
          <a:bodyPr wrap="square" lIns="0" tIns="0" rIns="0" bIns="0" rtlCol="0" anchor="t"/>
          <a:lstStyle/>
          <a:p>
            <a:pPr marL="0" indent="0" algn="ctr">
              <a:buNone/>
            </a:pPr>
            <a:r>
              <a:rPr lang="en-US" sz="1800" b="1" dirty="0">
                <a:solidFill>
                  <a:schemeClr val="bg1"/>
                </a:solidFill>
              </a:rPr>
              <a:t>Checkout</a:t>
            </a:r>
            <a:endParaRPr lang="en-US" sz="1800" dirty="0"/>
          </a:p>
          <a:p>
            <a:pPr marL="0" indent="0" algn="ctr">
              <a:buNone/>
            </a:pPr>
            <a:r>
              <a:rPr lang="en-US" sz="1400" dirty="0">
                <a:solidFill>
                  <a:schemeClr val="bg2"/>
                </a:solidFill>
              </a:rPr>
              <a:t>Snacks and promo code</a:t>
            </a:r>
            <a:endParaRPr lang="en-US" sz="1800" dirty="0"/>
          </a:p>
        </p:txBody>
      </p:sp>
      <p:pic>
        <p:nvPicPr>
          <p:cNvPr id="26" name="Image 7" descr="preencoded.png"/>
          <p:cNvPicPr>
            <a:picLocks noChangeAspect="1"/>
          </p:cNvPicPr>
          <p:nvPr/>
        </p:nvPicPr>
        <p:blipFill>
          <a:blip r:embed="rId2"/>
          <a:stretch>
            <a:fillRect/>
          </a:stretch>
        </p:blipFill>
        <p:spPr>
          <a:xfrm>
            <a:off x="7902245" y="3337560"/>
            <a:ext cx="192024" cy="192024"/>
          </a:xfrm>
          <a:prstGeom prst="rect">
            <a:avLst/>
          </a:prstGeom>
        </p:spPr>
      </p:pic>
      <p:sp>
        <p:nvSpPr>
          <p:cNvPr id="27" name="Shape 17"/>
          <p:cNvSpPr/>
          <p:nvPr/>
        </p:nvSpPr>
        <p:spPr>
          <a:xfrm>
            <a:off x="8158277" y="1920240"/>
            <a:ext cx="1582369" cy="3108960"/>
          </a:xfrm>
          <a:prstGeom prst="roundRect">
            <a:avLst>
              <a:gd name="adj" fmla="val 5779"/>
            </a:avLst>
          </a:prstGeom>
          <a:solidFill>
            <a:schemeClr val="tx2"/>
          </a:solidFill>
          <a:ln w="9525">
            <a:solidFill>
              <a:srgbClr val="3A3B48"/>
            </a:solidFill>
            <a:prstDash val="solid"/>
          </a:ln>
        </p:spPr>
      </p:sp>
      <p:sp>
        <p:nvSpPr>
          <p:cNvPr id="28" name="Text 18"/>
          <p:cNvSpPr txBox="1"/>
          <p:nvPr/>
        </p:nvSpPr>
        <p:spPr>
          <a:xfrm>
            <a:off x="8341157" y="2057400"/>
            <a:ext cx="548640" cy="457200"/>
          </a:xfrm>
          <a:prstGeom prst="rect">
            <a:avLst/>
          </a:prstGeom>
          <a:noFill/>
        </p:spPr>
        <p:txBody>
          <a:bodyPr wrap="square" lIns="0" tIns="0" rIns="0" bIns="0" rtlCol="0" anchor="ctr"/>
          <a:lstStyle/>
          <a:p>
            <a:pPr marL="0" indent="0">
              <a:buNone/>
            </a:pPr>
            <a:r>
              <a:rPr lang="en-US" sz="2200" b="1" dirty="0">
                <a:solidFill>
                  <a:schemeClr val="accent1"/>
                </a:solidFill>
              </a:rPr>
              <a:t>5</a:t>
            </a:r>
            <a:endParaRPr lang="en-US" sz="2200" dirty="0"/>
          </a:p>
        </p:txBody>
      </p:sp>
      <p:sp>
        <p:nvSpPr>
          <p:cNvPr id="29" name="Shape 19"/>
          <p:cNvSpPr/>
          <p:nvPr/>
        </p:nvSpPr>
        <p:spPr>
          <a:xfrm>
            <a:off x="8515121" y="2606040"/>
            <a:ext cx="868680" cy="868680"/>
          </a:xfrm>
          <a:prstGeom prst="ellipse">
            <a:avLst/>
          </a:prstGeom>
          <a:solidFill>
            <a:schemeClr val="accent1"/>
          </a:solidFill>
          <a:ln w="12700">
            <a:solidFill>
              <a:schemeClr val="accent1"/>
            </a:solidFill>
            <a:prstDash val="solid"/>
          </a:ln>
        </p:spPr>
      </p:sp>
      <p:pic>
        <p:nvPicPr>
          <p:cNvPr id="30" name="Image 8" descr="preencoded.png"/>
          <p:cNvPicPr>
            <a:picLocks noChangeAspect="1"/>
          </p:cNvPicPr>
          <p:nvPr/>
        </p:nvPicPr>
        <p:blipFill>
          <a:blip r:embed="rId6"/>
          <a:stretch>
            <a:fillRect/>
          </a:stretch>
        </p:blipFill>
        <p:spPr>
          <a:xfrm>
            <a:off x="8732291" y="2823210"/>
            <a:ext cx="434340" cy="434340"/>
          </a:xfrm>
          <a:prstGeom prst="rect">
            <a:avLst/>
          </a:prstGeom>
        </p:spPr>
      </p:pic>
      <p:sp>
        <p:nvSpPr>
          <p:cNvPr id="31" name="Text 20"/>
          <p:cNvSpPr txBox="1"/>
          <p:nvPr/>
        </p:nvSpPr>
        <p:spPr>
          <a:xfrm>
            <a:off x="8268005" y="3657600"/>
            <a:ext cx="1362913" cy="1188720"/>
          </a:xfrm>
          <a:prstGeom prst="rect">
            <a:avLst/>
          </a:prstGeom>
          <a:noFill/>
        </p:spPr>
        <p:txBody>
          <a:bodyPr wrap="square" lIns="0" tIns="0" rIns="0" bIns="0" rtlCol="0" anchor="t"/>
          <a:lstStyle/>
          <a:p>
            <a:pPr marL="0" indent="0" algn="ctr">
              <a:buNone/>
            </a:pPr>
            <a:r>
              <a:rPr lang="en-US" sz="1800" b="1" dirty="0">
                <a:solidFill>
                  <a:schemeClr val="bg1"/>
                </a:solidFill>
              </a:rPr>
              <a:t>Pay</a:t>
            </a:r>
            <a:endParaRPr lang="en-US" sz="1800" dirty="0"/>
          </a:p>
          <a:p>
            <a:pPr marL="0" indent="0" algn="ctr">
              <a:buNone/>
            </a:pPr>
            <a:r>
              <a:rPr lang="en-US" sz="1400" dirty="0">
                <a:solidFill>
                  <a:schemeClr val="bg2"/>
                </a:solidFill>
              </a:rPr>
              <a:t>Card, JazzCash, Easypaisa</a:t>
            </a:r>
            <a:endParaRPr lang="en-US" sz="1800" dirty="0"/>
          </a:p>
        </p:txBody>
      </p:sp>
      <p:pic>
        <p:nvPicPr>
          <p:cNvPr id="32" name="Image 9" descr="preencoded.png"/>
          <p:cNvPicPr>
            <a:picLocks noChangeAspect="1"/>
          </p:cNvPicPr>
          <p:nvPr/>
        </p:nvPicPr>
        <p:blipFill>
          <a:blip r:embed="rId2"/>
          <a:stretch>
            <a:fillRect/>
          </a:stretch>
        </p:blipFill>
        <p:spPr>
          <a:xfrm>
            <a:off x="9804654" y="3337560"/>
            <a:ext cx="192024" cy="192024"/>
          </a:xfrm>
          <a:prstGeom prst="rect">
            <a:avLst/>
          </a:prstGeom>
        </p:spPr>
      </p:pic>
      <p:sp>
        <p:nvSpPr>
          <p:cNvPr id="33" name="Shape 21"/>
          <p:cNvSpPr/>
          <p:nvPr/>
        </p:nvSpPr>
        <p:spPr>
          <a:xfrm>
            <a:off x="10060686" y="1920240"/>
            <a:ext cx="1582369" cy="3108960"/>
          </a:xfrm>
          <a:prstGeom prst="roundRect">
            <a:avLst>
              <a:gd name="adj" fmla="val 5779"/>
            </a:avLst>
          </a:prstGeom>
          <a:solidFill>
            <a:schemeClr val="tx2"/>
          </a:solidFill>
          <a:ln w="9525">
            <a:solidFill>
              <a:srgbClr val="3A3B48"/>
            </a:solidFill>
            <a:prstDash val="solid"/>
          </a:ln>
        </p:spPr>
      </p:sp>
      <p:sp>
        <p:nvSpPr>
          <p:cNvPr id="34" name="Text 22"/>
          <p:cNvSpPr txBox="1"/>
          <p:nvPr/>
        </p:nvSpPr>
        <p:spPr>
          <a:xfrm>
            <a:off x="10243566" y="2057400"/>
            <a:ext cx="548640" cy="457200"/>
          </a:xfrm>
          <a:prstGeom prst="rect">
            <a:avLst/>
          </a:prstGeom>
          <a:noFill/>
        </p:spPr>
        <p:txBody>
          <a:bodyPr wrap="square" lIns="0" tIns="0" rIns="0" bIns="0" rtlCol="0" anchor="ctr"/>
          <a:lstStyle/>
          <a:p>
            <a:pPr marL="0" indent="0">
              <a:buNone/>
            </a:pPr>
            <a:r>
              <a:rPr lang="en-US" sz="2200" b="1" dirty="0">
                <a:solidFill>
                  <a:schemeClr val="accent1"/>
                </a:solidFill>
              </a:rPr>
              <a:t>6</a:t>
            </a:r>
            <a:endParaRPr lang="en-US" sz="2200" dirty="0"/>
          </a:p>
        </p:txBody>
      </p:sp>
      <p:sp>
        <p:nvSpPr>
          <p:cNvPr id="35" name="Shape 23"/>
          <p:cNvSpPr/>
          <p:nvPr/>
        </p:nvSpPr>
        <p:spPr>
          <a:xfrm>
            <a:off x="10417531" y="2606040"/>
            <a:ext cx="868680" cy="868680"/>
          </a:xfrm>
          <a:prstGeom prst="ellipse">
            <a:avLst/>
          </a:prstGeom>
          <a:solidFill>
            <a:schemeClr val="accent1"/>
          </a:solidFill>
          <a:ln w="12700">
            <a:solidFill>
              <a:schemeClr val="accent1"/>
            </a:solidFill>
            <a:prstDash val="solid"/>
          </a:ln>
        </p:spPr>
      </p:sp>
      <p:pic>
        <p:nvPicPr>
          <p:cNvPr id="36" name="Image 10" descr="preencoded.png"/>
          <p:cNvPicPr>
            <a:picLocks noChangeAspect="1"/>
          </p:cNvPicPr>
          <p:nvPr/>
        </p:nvPicPr>
        <p:blipFill>
          <a:blip r:embed="rId7"/>
          <a:stretch>
            <a:fillRect/>
          </a:stretch>
        </p:blipFill>
        <p:spPr>
          <a:xfrm>
            <a:off x="10634701" y="2823210"/>
            <a:ext cx="434340" cy="434340"/>
          </a:xfrm>
          <a:prstGeom prst="rect">
            <a:avLst/>
          </a:prstGeom>
        </p:spPr>
      </p:pic>
      <p:sp>
        <p:nvSpPr>
          <p:cNvPr id="37" name="Text 24"/>
          <p:cNvSpPr txBox="1"/>
          <p:nvPr/>
        </p:nvSpPr>
        <p:spPr>
          <a:xfrm>
            <a:off x="10170414" y="3657600"/>
            <a:ext cx="1362913" cy="1188720"/>
          </a:xfrm>
          <a:prstGeom prst="rect">
            <a:avLst/>
          </a:prstGeom>
          <a:noFill/>
        </p:spPr>
        <p:txBody>
          <a:bodyPr wrap="square" lIns="0" tIns="0" rIns="0" bIns="0" rtlCol="0" anchor="t"/>
          <a:lstStyle/>
          <a:p>
            <a:pPr marL="0" indent="0" algn="ctr">
              <a:buNone/>
            </a:pPr>
            <a:r>
              <a:rPr lang="en-US" sz="1800" b="1" dirty="0">
                <a:solidFill>
                  <a:schemeClr val="bg1"/>
                </a:solidFill>
              </a:rPr>
              <a:t>E-ticket</a:t>
            </a:r>
            <a:endParaRPr lang="en-US" sz="1800" dirty="0"/>
          </a:p>
          <a:p>
            <a:pPr marL="0" indent="0" algn="ctr">
              <a:buNone/>
            </a:pPr>
            <a:r>
              <a:rPr lang="en-US" sz="1400" dirty="0">
                <a:solidFill>
                  <a:schemeClr val="bg2"/>
                </a:solidFill>
              </a:rPr>
              <a:t>QR code, print or PDF</a:t>
            </a:r>
            <a:endParaRPr lang="en-US" sz="1800" dirty="0"/>
          </a:p>
        </p:txBody>
      </p:sp>
      <p:sp>
        <p:nvSpPr>
          <p:cNvPr id="38" name="Text 25"/>
          <p:cNvSpPr txBox="1"/>
          <p:nvPr/>
        </p:nvSpPr>
        <p:spPr>
          <a:xfrm>
            <a:off x="548640" y="5394960"/>
            <a:ext cx="11094415" cy="457200"/>
          </a:xfrm>
          <a:prstGeom prst="rect">
            <a:avLst/>
          </a:prstGeom>
          <a:noFill/>
        </p:spPr>
        <p:txBody>
          <a:bodyPr wrap="square" lIns="0" tIns="0" rIns="0" bIns="0" rtlCol="0" anchor="ctr"/>
          <a:lstStyle/>
          <a:p>
            <a:pPr marL="0" indent="0">
              <a:buNone/>
            </a:pPr>
            <a:r>
              <a:rPr lang="en-US" sz="1600" dirty="0">
                <a:solidFill>
                  <a:schemeClr val="bg2"/>
                </a:solidFill>
              </a:rPr>
              <a:t>Guests can browse freely; choosing seats asks them to sign in and then returns them to the same seat map.</a:t>
            </a:r>
            <a:endParaRPr lang="en-US" sz="1600" dirty="0"/>
          </a:p>
        </p:txBody>
      </p:sp>
      <p:sp>
        <p:nvSpPr>
          <p:cNvPr id="3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Home page and Now Showing</a:t>
            </a:r>
            <a:endParaRPr lang="en-US" sz="3200" dirty="0"/>
          </a:p>
        </p:txBody>
      </p:sp>
      <p:sp>
        <p:nvSpPr>
          <p:cNvPr id="3" name="Window home"/>
          <p:cNvSpPr/>
          <p:nvPr/>
        </p:nvSpPr>
        <p:spPr>
          <a:xfrm>
            <a:off x="548640"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index.php</a:t>
            </a:r>
            <a:endParaRPr lang="en-US" sz="1000" dirty="0"/>
          </a:p>
        </p:txBody>
      </p:sp>
      <p:pic>
        <p:nvPicPr>
          <p:cNvPr id="8" name="Screenshot home" descr="Screenshot: index.php"/>
          <p:cNvPicPr>
            <a:picLocks noChangeAspect="1"/>
          </p:cNvPicPr>
          <p:nvPr/>
        </p:nvPicPr>
        <p:blipFill>
          <a:blip r:embed="rId1"/>
          <a:stretch>
            <a:fillRect/>
          </a:stretch>
        </p:blipFill>
        <p:spPr>
          <a:xfrm>
            <a:off x="612648" y="1691640"/>
            <a:ext cx="6821424" cy="3837051"/>
          </a:xfrm>
          <a:prstGeom prst="rect">
            <a:avLst/>
          </a:prstGeom>
        </p:spPr>
      </p:pic>
      <p:sp>
        <p:nvSpPr>
          <p:cNvPr id="9" name="Shape 6"/>
          <p:cNvSpPr/>
          <p:nvPr/>
        </p:nvSpPr>
        <p:spPr>
          <a:xfrm>
            <a:off x="7955280" y="18545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8074152" y="1973390"/>
            <a:ext cx="237744" cy="237744"/>
          </a:xfrm>
          <a:prstGeom prst="rect">
            <a:avLst/>
          </a:prstGeom>
        </p:spPr>
      </p:pic>
      <p:sp>
        <p:nvSpPr>
          <p:cNvPr id="11" name="Text 7"/>
          <p:cNvSpPr txBox="1"/>
          <p:nvPr/>
        </p:nvSpPr>
        <p:spPr>
          <a:xfrm>
            <a:off x="8613648" y="1836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Hero slider</a:t>
            </a:r>
            <a:endParaRPr lang="en-US" sz="1600" dirty="0"/>
          </a:p>
          <a:p>
            <a:pPr marL="0" indent="0">
              <a:spcAft>
                <a:spcPts val="200"/>
              </a:spcAft>
              <a:buNone/>
            </a:pPr>
            <a:r>
              <a:rPr lang="en-US" sz="1400" dirty="0">
                <a:solidFill>
                  <a:schemeClr val="bg2"/>
                </a:solidFill>
              </a:rPr>
              <a:t>TMDB backdrops with rating, year, genre, runtime and Book Now</a:t>
            </a:r>
            <a:endParaRPr lang="en-US" sz="1600" dirty="0"/>
          </a:p>
        </p:txBody>
      </p:sp>
      <p:sp>
        <p:nvSpPr>
          <p:cNvPr id="12" name="Shape 8"/>
          <p:cNvSpPr/>
          <p:nvPr/>
        </p:nvSpPr>
        <p:spPr>
          <a:xfrm>
            <a:off x="7955280" y="29975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8074152" y="3116390"/>
            <a:ext cx="237744" cy="237744"/>
          </a:xfrm>
          <a:prstGeom prst="rect">
            <a:avLst/>
          </a:prstGeom>
        </p:spPr>
      </p:pic>
      <p:sp>
        <p:nvSpPr>
          <p:cNvPr id="14" name="Text 9"/>
          <p:cNvSpPr txBox="1"/>
          <p:nvPr/>
        </p:nvSpPr>
        <p:spPr>
          <a:xfrm>
            <a:off x="8613648" y="2979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Rated movie cards</a:t>
            </a:r>
            <a:endParaRPr lang="en-US" sz="1600" dirty="0"/>
          </a:p>
          <a:p>
            <a:pPr marL="0" indent="0">
              <a:spcAft>
                <a:spcPts val="200"/>
              </a:spcAft>
              <a:buNone/>
            </a:pPr>
            <a:r>
              <a:rPr lang="en-US" sz="1400" dirty="0">
                <a:solidFill>
                  <a:schemeClr val="bg2"/>
                </a:solidFill>
              </a:rPr>
              <a:t>Every card shows its TMDB rating and next show time</a:t>
            </a:r>
            <a:endParaRPr lang="en-US" sz="1600" dirty="0"/>
          </a:p>
        </p:txBody>
      </p:sp>
      <p:sp>
        <p:nvSpPr>
          <p:cNvPr id="15" name="Shape 10"/>
          <p:cNvSpPr/>
          <p:nvPr/>
        </p:nvSpPr>
        <p:spPr>
          <a:xfrm>
            <a:off x="7955280" y="4140517"/>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8074152" y="4259389"/>
            <a:ext cx="237744" cy="237744"/>
          </a:xfrm>
          <a:prstGeom prst="rect">
            <a:avLst/>
          </a:prstGeom>
        </p:spPr>
      </p:pic>
      <p:sp>
        <p:nvSpPr>
          <p:cNvPr id="17" name="Text 11"/>
          <p:cNvSpPr txBox="1"/>
          <p:nvPr/>
        </p:nvSpPr>
        <p:spPr>
          <a:xfrm>
            <a:off x="8613648" y="4122229"/>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Industries</a:t>
            </a:r>
            <a:endParaRPr lang="en-US" sz="1600" dirty="0"/>
          </a:p>
          <a:p>
            <a:pPr marL="0" indent="0">
              <a:spcAft>
                <a:spcPts val="200"/>
              </a:spcAft>
              <a:buNone/>
            </a:pPr>
            <a:r>
              <a:rPr lang="en-US" sz="1400" dirty="0">
                <a:solidFill>
                  <a:schemeClr val="bg2"/>
                </a:solidFill>
              </a:rPr>
              <a:t>Hollywood, Bollywood and Lollywood pages, each with the same filters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Live search and smart filters</a:t>
            </a:r>
            <a:endParaRPr lang="en-US" sz="3200" dirty="0"/>
          </a:p>
        </p:txBody>
      </p:sp>
      <p:sp>
        <p:nvSpPr>
          <p:cNvPr id="3" name="Window search"/>
          <p:cNvSpPr/>
          <p:nvPr/>
        </p:nvSpPr>
        <p:spPr>
          <a:xfrm>
            <a:off x="4693615"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4821631"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4977079"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5132527"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5379415"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Live search</a:t>
            </a:r>
            <a:endParaRPr lang="en-US" sz="1000" dirty="0"/>
          </a:p>
        </p:txBody>
      </p:sp>
      <p:pic>
        <p:nvPicPr>
          <p:cNvPr id="8" name="Screenshot search" descr="Screenshot: Live search"/>
          <p:cNvPicPr>
            <a:picLocks noChangeAspect="1"/>
          </p:cNvPicPr>
          <p:nvPr/>
        </p:nvPicPr>
        <p:blipFill>
          <a:blip r:embed="rId1"/>
          <a:stretch>
            <a:fillRect/>
          </a:stretch>
        </p:blipFill>
        <p:spPr>
          <a:xfrm>
            <a:off x="4757623" y="1691640"/>
            <a:ext cx="6821424" cy="3837051"/>
          </a:xfrm>
          <a:prstGeom prst="rect">
            <a:avLst/>
          </a:prstGeom>
        </p:spPr>
      </p:pic>
      <p:sp>
        <p:nvSpPr>
          <p:cNvPr id="9" name="Shape 6"/>
          <p:cNvSpPr/>
          <p:nvPr/>
        </p:nvSpPr>
        <p:spPr>
          <a:xfrm>
            <a:off x="548640" y="18545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667512" y="1973390"/>
            <a:ext cx="237744" cy="237744"/>
          </a:xfrm>
          <a:prstGeom prst="rect">
            <a:avLst/>
          </a:prstGeom>
        </p:spPr>
      </p:pic>
      <p:sp>
        <p:nvSpPr>
          <p:cNvPr id="11" name="Text 7"/>
          <p:cNvSpPr txBox="1"/>
          <p:nvPr/>
        </p:nvSpPr>
        <p:spPr>
          <a:xfrm>
            <a:off x="1207008" y="1836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Search as you type</a:t>
            </a:r>
            <a:endParaRPr lang="en-US" sz="1600" dirty="0"/>
          </a:p>
          <a:p>
            <a:pPr marL="0" indent="0">
              <a:spcAft>
                <a:spcPts val="200"/>
              </a:spcAft>
              <a:buNone/>
            </a:pPr>
            <a:r>
              <a:rPr lang="en-US" sz="1400" dirty="0">
                <a:solidFill>
                  <a:schemeClr val="bg2"/>
                </a:solidFill>
              </a:rPr>
              <a:t>Poster suggestions appear after a few letters, keyboard friendly</a:t>
            </a:r>
            <a:endParaRPr lang="en-US" sz="1600" dirty="0"/>
          </a:p>
        </p:txBody>
      </p:sp>
      <p:sp>
        <p:nvSpPr>
          <p:cNvPr id="12" name="Shape 8"/>
          <p:cNvSpPr/>
          <p:nvPr/>
        </p:nvSpPr>
        <p:spPr>
          <a:xfrm>
            <a:off x="548640" y="29975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667512" y="3116390"/>
            <a:ext cx="237744" cy="237744"/>
          </a:xfrm>
          <a:prstGeom prst="rect">
            <a:avLst/>
          </a:prstGeom>
        </p:spPr>
      </p:pic>
      <p:sp>
        <p:nvSpPr>
          <p:cNvPr id="14" name="Text 9"/>
          <p:cNvSpPr txBox="1"/>
          <p:nvPr/>
        </p:nvSpPr>
        <p:spPr>
          <a:xfrm>
            <a:off x="1207008" y="2979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Filter by genre, language, cinema</a:t>
            </a:r>
            <a:endParaRPr lang="en-US" sz="1600" dirty="0"/>
          </a:p>
          <a:p>
            <a:pPr marL="0" indent="0">
              <a:spcAft>
                <a:spcPts val="200"/>
              </a:spcAft>
              <a:buNone/>
            </a:pPr>
            <a:r>
              <a:rPr lang="en-US" sz="1400" dirty="0">
                <a:solidFill>
                  <a:schemeClr val="bg2"/>
                </a:solidFill>
              </a:rPr>
              <a:t>The grid reloads instantly; cinema shows only movies with upcoming shows</a:t>
            </a:r>
            <a:endParaRPr lang="en-US" sz="1600" dirty="0"/>
          </a:p>
        </p:txBody>
      </p:sp>
      <p:sp>
        <p:nvSpPr>
          <p:cNvPr id="15" name="Shape 10"/>
          <p:cNvSpPr/>
          <p:nvPr/>
        </p:nvSpPr>
        <p:spPr>
          <a:xfrm>
            <a:off x="548640" y="4140517"/>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667512" y="4259389"/>
            <a:ext cx="237744" cy="237744"/>
          </a:xfrm>
          <a:prstGeom prst="rect">
            <a:avLst/>
          </a:prstGeom>
        </p:spPr>
      </p:pic>
      <p:sp>
        <p:nvSpPr>
          <p:cNvPr id="17" name="Text 11"/>
          <p:cNvSpPr txBox="1"/>
          <p:nvPr/>
        </p:nvSpPr>
        <p:spPr>
          <a:xfrm>
            <a:off x="1207008" y="4122229"/>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Coming Soon</a:t>
            </a:r>
            <a:endParaRPr lang="en-US" sz="1600" dirty="0"/>
          </a:p>
          <a:p>
            <a:pPr marL="0" indent="0">
              <a:spcAft>
                <a:spcPts val="200"/>
              </a:spcAft>
              <a:buNone/>
            </a:pPr>
            <a:r>
              <a:rPr lang="en-US" sz="1400" dirty="0">
                <a:solidFill>
                  <a:schemeClr val="bg2"/>
                </a:solidFill>
              </a:rPr>
              <a:t>Upcoming releases with "In N days" badges and trailer links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Movie details, ratings and reviews</a:t>
            </a:r>
            <a:endParaRPr lang="en-US" sz="3200" dirty="0"/>
          </a:p>
        </p:txBody>
      </p:sp>
      <p:sp>
        <p:nvSpPr>
          <p:cNvPr id="3" name="Window moviedetail"/>
          <p:cNvSpPr/>
          <p:nvPr/>
        </p:nvSpPr>
        <p:spPr>
          <a:xfrm>
            <a:off x="548640"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moviedetail.php</a:t>
            </a:r>
            <a:endParaRPr lang="en-US" sz="1000" dirty="0"/>
          </a:p>
        </p:txBody>
      </p:sp>
      <p:pic>
        <p:nvPicPr>
          <p:cNvPr id="8" name="Screenshot moviedetail" descr="Screenshot: moviedetail.php"/>
          <p:cNvPicPr>
            <a:picLocks noChangeAspect="1"/>
          </p:cNvPicPr>
          <p:nvPr/>
        </p:nvPicPr>
        <p:blipFill>
          <a:blip r:embed="rId1"/>
          <a:stretch>
            <a:fillRect/>
          </a:stretch>
        </p:blipFill>
        <p:spPr>
          <a:xfrm>
            <a:off x="612648" y="1691640"/>
            <a:ext cx="6821424" cy="3837051"/>
          </a:xfrm>
          <a:prstGeom prst="rect">
            <a:avLst/>
          </a:prstGeom>
        </p:spPr>
      </p:pic>
      <p:sp>
        <p:nvSpPr>
          <p:cNvPr id="9" name="Shape 6"/>
          <p:cNvSpPr/>
          <p:nvPr/>
        </p:nvSpPr>
        <p:spPr>
          <a:xfrm>
            <a:off x="7955280" y="18545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8074152" y="1973390"/>
            <a:ext cx="237744" cy="237744"/>
          </a:xfrm>
          <a:prstGeom prst="rect">
            <a:avLst/>
          </a:prstGeom>
        </p:spPr>
      </p:pic>
      <p:sp>
        <p:nvSpPr>
          <p:cNvPr id="11" name="Text 7"/>
          <p:cNvSpPr txBox="1"/>
          <p:nvPr/>
        </p:nvSpPr>
        <p:spPr>
          <a:xfrm>
            <a:off x="8613648" y="1836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Everything in one card</a:t>
            </a:r>
            <a:endParaRPr lang="en-US" sz="1600" dirty="0"/>
          </a:p>
          <a:p>
            <a:pPr marL="0" indent="0">
              <a:spcAft>
                <a:spcPts val="200"/>
              </a:spcAft>
              <a:buNone/>
            </a:pPr>
            <a:r>
              <a:rPr lang="en-US" sz="1400" dirty="0">
                <a:solidFill>
                  <a:schemeClr val="bg2"/>
                </a:solidFill>
              </a:rPr>
              <a:t>Poster, synopsis, genre, language, runtime, release date and trailer</a:t>
            </a:r>
            <a:endParaRPr lang="en-US" sz="1600" dirty="0"/>
          </a:p>
        </p:txBody>
      </p:sp>
      <p:sp>
        <p:nvSpPr>
          <p:cNvPr id="12" name="Shape 8"/>
          <p:cNvSpPr/>
          <p:nvPr/>
        </p:nvSpPr>
        <p:spPr>
          <a:xfrm>
            <a:off x="7955280" y="29975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8074152" y="3116390"/>
            <a:ext cx="237744" cy="237744"/>
          </a:xfrm>
          <a:prstGeom prst="rect">
            <a:avLst/>
          </a:prstGeom>
        </p:spPr>
      </p:pic>
      <p:sp>
        <p:nvSpPr>
          <p:cNvPr id="14" name="Text 9"/>
          <p:cNvSpPr txBox="1"/>
          <p:nvPr/>
        </p:nvSpPr>
        <p:spPr>
          <a:xfrm>
            <a:off x="8613648" y="2979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Real audience rating</a:t>
            </a:r>
            <a:endParaRPr lang="en-US" sz="1600" dirty="0"/>
          </a:p>
          <a:p>
            <a:pPr marL="0" indent="0">
              <a:spcAft>
                <a:spcPts val="200"/>
              </a:spcAft>
              <a:buNone/>
            </a:pPr>
            <a:r>
              <a:rPr lang="en-US" sz="1400" dirty="0">
                <a:solidFill>
                  <a:schemeClr val="bg2"/>
                </a:solidFill>
              </a:rPr>
              <a:t>Average of visible reviews, one editable review per user</a:t>
            </a:r>
            <a:endParaRPr lang="en-US" sz="1600" dirty="0"/>
          </a:p>
        </p:txBody>
      </p:sp>
      <p:sp>
        <p:nvSpPr>
          <p:cNvPr id="15" name="Shape 10"/>
          <p:cNvSpPr/>
          <p:nvPr/>
        </p:nvSpPr>
        <p:spPr>
          <a:xfrm>
            <a:off x="7955280" y="4140517"/>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8074152" y="4259389"/>
            <a:ext cx="237744" cy="237744"/>
          </a:xfrm>
          <a:prstGeom prst="rect">
            <a:avLst/>
          </a:prstGeom>
        </p:spPr>
      </p:pic>
      <p:sp>
        <p:nvSpPr>
          <p:cNvPr id="17" name="Text 11"/>
          <p:cNvSpPr txBox="1"/>
          <p:nvPr/>
        </p:nvSpPr>
        <p:spPr>
          <a:xfrm>
            <a:off x="8613648" y="4122229"/>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Favorites and more</a:t>
            </a:r>
            <a:endParaRPr lang="en-US" sz="1600" dirty="0"/>
          </a:p>
          <a:p>
            <a:pPr marL="0" indent="0">
              <a:spcAft>
                <a:spcPts val="200"/>
              </a:spcAft>
              <a:buNone/>
            </a:pPr>
            <a:r>
              <a:rPr lang="en-US" sz="1400" dirty="0">
                <a:solidFill>
                  <a:schemeClr val="bg2"/>
                </a:solidFill>
              </a:rPr>
              <a:t>Heart a movie, see "More like this" and the upcoming shows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Choosing a show</a:t>
            </a:r>
            <a:endParaRPr lang="en-US" sz="3200" dirty="0"/>
          </a:p>
        </p:txBody>
      </p:sp>
      <p:sp>
        <p:nvSpPr>
          <p:cNvPr id="3" name="Window select_show"/>
          <p:cNvSpPr/>
          <p:nvPr/>
        </p:nvSpPr>
        <p:spPr>
          <a:xfrm>
            <a:off x="4693615"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4821631"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4977079"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5132527"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5379415"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select_show.php</a:t>
            </a:r>
            <a:endParaRPr lang="en-US" sz="1000" dirty="0"/>
          </a:p>
        </p:txBody>
      </p:sp>
      <p:pic>
        <p:nvPicPr>
          <p:cNvPr id="8" name="Screenshot select_show" descr="Screenshot: select_show.php"/>
          <p:cNvPicPr>
            <a:picLocks noChangeAspect="1"/>
          </p:cNvPicPr>
          <p:nvPr/>
        </p:nvPicPr>
        <p:blipFill>
          <a:blip r:embed="rId1"/>
          <a:stretch>
            <a:fillRect/>
          </a:stretch>
        </p:blipFill>
        <p:spPr>
          <a:xfrm>
            <a:off x="4757623" y="1691640"/>
            <a:ext cx="6821424" cy="3837051"/>
          </a:xfrm>
          <a:prstGeom prst="rect">
            <a:avLst/>
          </a:prstGeom>
        </p:spPr>
      </p:pic>
      <p:sp>
        <p:nvSpPr>
          <p:cNvPr id="9" name="Shape 6"/>
          <p:cNvSpPr/>
          <p:nvPr/>
        </p:nvSpPr>
        <p:spPr>
          <a:xfrm>
            <a:off x="548640" y="18545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667512" y="1973390"/>
            <a:ext cx="237744" cy="237744"/>
          </a:xfrm>
          <a:prstGeom prst="rect">
            <a:avLst/>
          </a:prstGeom>
        </p:spPr>
      </p:pic>
      <p:sp>
        <p:nvSpPr>
          <p:cNvPr id="11" name="Text 7"/>
          <p:cNvSpPr txBox="1"/>
          <p:nvPr/>
        </p:nvSpPr>
        <p:spPr>
          <a:xfrm>
            <a:off x="1207008" y="1836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Date tabs</a:t>
            </a:r>
            <a:endParaRPr lang="en-US" sz="1600" dirty="0"/>
          </a:p>
          <a:p>
            <a:pPr marL="0" indent="0">
              <a:spcAft>
                <a:spcPts val="200"/>
              </a:spcAft>
              <a:buNone/>
            </a:pPr>
            <a:r>
              <a:rPr lang="en-US" sz="1400" dirty="0">
                <a:solidFill>
                  <a:schemeClr val="bg2"/>
                </a:solidFill>
              </a:rPr>
              <a:t>Only dates that have shows for this movie are offered</a:t>
            </a:r>
            <a:endParaRPr lang="en-US" sz="1600" dirty="0"/>
          </a:p>
        </p:txBody>
      </p:sp>
      <p:sp>
        <p:nvSpPr>
          <p:cNvPr id="12" name="Shape 8"/>
          <p:cNvSpPr/>
          <p:nvPr/>
        </p:nvSpPr>
        <p:spPr>
          <a:xfrm>
            <a:off x="548640" y="29975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667512" y="3116390"/>
            <a:ext cx="237744" cy="237744"/>
          </a:xfrm>
          <a:prstGeom prst="rect">
            <a:avLst/>
          </a:prstGeom>
        </p:spPr>
      </p:pic>
      <p:sp>
        <p:nvSpPr>
          <p:cNvPr id="14" name="Text 9"/>
          <p:cNvSpPr txBox="1"/>
          <p:nvPr/>
        </p:nvSpPr>
        <p:spPr>
          <a:xfrm>
            <a:off x="1207008" y="2979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Showtimes per cinema</a:t>
            </a:r>
            <a:endParaRPr lang="en-US" sz="1600" dirty="0"/>
          </a:p>
          <a:p>
            <a:pPr marL="0" indent="0">
              <a:spcAft>
                <a:spcPts val="200"/>
              </a:spcAft>
              <a:buNone/>
            </a:pPr>
            <a:r>
              <a:rPr lang="en-US" sz="1400" dirty="0">
                <a:solidFill>
                  <a:schemeClr val="bg2"/>
                </a:solidFill>
              </a:rPr>
              <a:t>Each time shows the hall and how many seats are left</a:t>
            </a:r>
            <a:endParaRPr lang="en-US" sz="1600" dirty="0"/>
          </a:p>
        </p:txBody>
      </p:sp>
      <p:sp>
        <p:nvSpPr>
          <p:cNvPr id="15" name="Shape 10"/>
          <p:cNvSpPr/>
          <p:nvPr/>
        </p:nvSpPr>
        <p:spPr>
          <a:xfrm>
            <a:off x="548640" y="4140517"/>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667512" y="4259389"/>
            <a:ext cx="237744" cy="237744"/>
          </a:xfrm>
          <a:prstGeom prst="rect">
            <a:avLst/>
          </a:prstGeom>
        </p:spPr>
      </p:pic>
      <p:sp>
        <p:nvSpPr>
          <p:cNvPr id="17" name="Text 11"/>
          <p:cNvSpPr txBox="1"/>
          <p:nvPr/>
        </p:nvSpPr>
        <p:spPr>
          <a:xfrm>
            <a:off x="1207008" y="4122229"/>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Prices up front</a:t>
            </a:r>
            <a:endParaRPr lang="en-US" sz="1600" dirty="0"/>
          </a:p>
          <a:p>
            <a:pPr marL="0" indent="0">
              <a:spcAft>
                <a:spcPts val="200"/>
              </a:spcAft>
              <a:buNone/>
            </a:pPr>
            <a:r>
              <a:rPr lang="en-US" sz="1400" dirty="0">
                <a:solidFill>
                  <a:schemeClr val="bg2"/>
                </a:solidFill>
              </a:rPr>
              <a:t>Economy, Business and First prices are shown before choosing</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Interactive seat map</a:t>
            </a:r>
            <a:endParaRPr lang="en-US" sz="3200" dirty="0"/>
          </a:p>
        </p:txBody>
      </p:sp>
      <p:sp>
        <p:nvSpPr>
          <p:cNvPr id="3" name="Window seat_map"/>
          <p:cNvSpPr/>
          <p:nvPr/>
        </p:nvSpPr>
        <p:spPr>
          <a:xfrm>
            <a:off x="548640"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seat_map.php</a:t>
            </a:r>
            <a:endParaRPr lang="en-US" sz="1000" dirty="0"/>
          </a:p>
        </p:txBody>
      </p:sp>
      <p:pic>
        <p:nvPicPr>
          <p:cNvPr id="8" name="Screenshot seat_map" descr="Screenshot: seat_map.php"/>
          <p:cNvPicPr>
            <a:picLocks noChangeAspect="1"/>
          </p:cNvPicPr>
          <p:nvPr/>
        </p:nvPicPr>
        <p:blipFill>
          <a:blip r:embed="rId1"/>
          <a:stretch>
            <a:fillRect/>
          </a:stretch>
        </p:blipFill>
        <p:spPr>
          <a:xfrm>
            <a:off x="612648" y="1691640"/>
            <a:ext cx="6821424" cy="3837051"/>
          </a:xfrm>
          <a:prstGeom prst="rect">
            <a:avLst/>
          </a:prstGeom>
        </p:spPr>
      </p:pic>
      <p:sp>
        <p:nvSpPr>
          <p:cNvPr id="9" name="Shape 6"/>
          <p:cNvSpPr/>
          <p:nvPr/>
        </p:nvSpPr>
        <p:spPr>
          <a:xfrm>
            <a:off x="7955280" y="12830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8074152" y="1401890"/>
            <a:ext cx="237744" cy="237744"/>
          </a:xfrm>
          <a:prstGeom prst="rect">
            <a:avLst/>
          </a:prstGeom>
        </p:spPr>
      </p:pic>
      <p:sp>
        <p:nvSpPr>
          <p:cNvPr id="11" name="Text 7"/>
          <p:cNvSpPr txBox="1"/>
          <p:nvPr/>
        </p:nvSpPr>
        <p:spPr>
          <a:xfrm>
            <a:off x="8613648" y="1264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Three seat classes</a:t>
            </a:r>
            <a:endParaRPr lang="en-US" sz="1600" dirty="0"/>
          </a:p>
          <a:p>
            <a:pPr marL="0" indent="0">
              <a:spcAft>
                <a:spcPts val="200"/>
              </a:spcAft>
              <a:buNone/>
            </a:pPr>
            <a:r>
              <a:rPr lang="en-US" sz="1400" dirty="0">
                <a:solidFill>
                  <a:schemeClr val="bg2"/>
                </a:solidFill>
              </a:rPr>
              <a:t>Rows A–C Economy, D–F Business, G–H First, 8 × 12 seats per hall</a:t>
            </a:r>
            <a:endParaRPr lang="en-US" sz="1600" dirty="0"/>
          </a:p>
        </p:txBody>
      </p:sp>
      <p:sp>
        <p:nvSpPr>
          <p:cNvPr id="12" name="Shape 8"/>
          <p:cNvSpPr/>
          <p:nvPr/>
        </p:nvSpPr>
        <p:spPr>
          <a:xfrm>
            <a:off x="7955280" y="24260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8074152" y="2544890"/>
            <a:ext cx="237744" cy="237744"/>
          </a:xfrm>
          <a:prstGeom prst="rect">
            <a:avLst/>
          </a:prstGeom>
        </p:spPr>
      </p:pic>
      <p:sp>
        <p:nvSpPr>
          <p:cNvPr id="14" name="Text 9"/>
          <p:cNvSpPr txBox="1"/>
          <p:nvPr/>
        </p:nvSpPr>
        <p:spPr>
          <a:xfrm>
            <a:off x="8613648" y="2407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Live total</a:t>
            </a:r>
            <a:endParaRPr lang="en-US" sz="1600" dirty="0"/>
          </a:p>
          <a:p>
            <a:pPr marL="0" indent="0">
              <a:spcAft>
                <a:spcPts val="200"/>
              </a:spcAft>
              <a:buNone/>
            </a:pPr>
            <a:r>
              <a:rPr lang="en-US" sz="1400" dirty="0">
                <a:solidFill>
                  <a:schemeClr val="bg2"/>
                </a:solidFill>
              </a:rPr>
              <a:t>Selected seats turn green; the side panel updates the price</a:t>
            </a:r>
            <a:endParaRPr lang="en-US" sz="1600" dirty="0"/>
          </a:p>
        </p:txBody>
      </p:sp>
      <p:sp>
        <p:nvSpPr>
          <p:cNvPr id="15" name="Shape 10"/>
          <p:cNvSpPr/>
          <p:nvPr/>
        </p:nvSpPr>
        <p:spPr>
          <a:xfrm>
            <a:off x="7955280" y="3569018"/>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8074152" y="3687890"/>
            <a:ext cx="237744" cy="237744"/>
          </a:xfrm>
          <a:prstGeom prst="rect">
            <a:avLst/>
          </a:prstGeom>
        </p:spPr>
      </p:pic>
      <p:sp>
        <p:nvSpPr>
          <p:cNvPr id="17" name="Text 11"/>
          <p:cNvSpPr txBox="1"/>
          <p:nvPr/>
        </p:nvSpPr>
        <p:spPr>
          <a:xfrm>
            <a:off x="8613648" y="3550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Seats held for 5 minutes</a:t>
            </a:r>
            <a:endParaRPr lang="en-US" sz="1600" dirty="0"/>
          </a:p>
          <a:p>
            <a:pPr marL="0" indent="0">
              <a:spcAft>
                <a:spcPts val="200"/>
              </a:spcAft>
              <a:buNone/>
            </a:pPr>
            <a:r>
              <a:rPr lang="en-US" sz="1400" dirty="0">
                <a:solidFill>
                  <a:schemeClr val="bg2"/>
                </a:solidFill>
              </a:rPr>
              <a:t>Continue reserves the seats; others see them "On hold"</a:t>
            </a:r>
            <a:endParaRPr lang="en-US" sz="1600" dirty="0"/>
          </a:p>
        </p:txBody>
      </p:sp>
      <p:sp>
        <p:nvSpPr>
          <p:cNvPr id="18" name="Shape 12"/>
          <p:cNvSpPr/>
          <p:nvPr/>
        </p:nvSpPr>
        <p:spPr>
          <a:xfrm>
            <a:off x="7955280" y="4712017"/>
            <a:ext cx="475488" cy="475488"/>
          </a:xfrm>
          <a:prstGeom prst="ellipse">
            <a:avLst/>
          </a:prstGeom>
          <a:solidFill>
            <a:schemeClr val="accent1"/>
          </a:solidFill>
          <a:ln w="12700">
            <a:solidFill>
              <a:schemeClr val="accent1"/>
            </a:solidFill>
            <a:prstDash val="solid"/>
          </a:ln>
        </p:spPr>
      </p:sp>
      <p:pic>
        <p:nvPicPr>
          <p:cNvPr id="19" name="Image 4" descr="preencoded.png"/>
          <p:cNvPicPr>
            <a:picLocks noChangeAspect="1"/>
          </p:cNvPicPr>
          <p:nvPr/>
        </p:nvPicPr>
        <p:blipFill>
          <a:blip r:embed="rId5"/>
          <a:stretch>
            <a:fillRect/>
          </a:stretch>
        </p:blipFill>
        <p:spPr>
          <a:xfrm>
            <a:off x="8074152" y="4830889"/>
            <a:ext cx="237744" cy="237744"/>
          </a:xfrm>
          <a:prstGeom prst="rect">
            <a:avLst/>
          </a:prstGeom>
        </p:spPr>
      </p:pic>
      <p:sp>
        <p:nvSpPr>
          <p:cNvPr id="20" name="Text 13"/>
          <p:cNvSpPr txBox="1"/>
          <p:nvPr/>
        </p:nvSpPr>
        <p:spPr>
          <a:xfrm>
            <a:off x="8613648" y="4693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Clear limits</a:t>
            </a:r>
            <a:endParaRPr lang="en-US" sz="1600" dirty="0"/>
          </a:p>
          <a:p>
            <a:pPr marL="0" indent="0">
              <a:spcAft>
                <a:spcPts val="200"/>
              </a:spcAft>
              <a:buNone/>
            </a:pPr>
            <a:r>
              <a:rPr lang="en-US" sz="1400" dirty="0">
                <a:solidFill>
                  <a:schemeClr val="bg2"/>
                </a:solidFill>
              </a:rPr>
              <a:t>Booked seats are disabled, max 10 seats per booking</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Checkout: snacks and promo codes</a:t>
            </a:r>
            <a:endParaRPr lang="en-US" sz="3200" dirty="0"/>
          </a:p>
        </p:txBody>
      </p:sp>
      <p:sp>
        <p:nvSpPr>
          <p:cNvPr id="3" name="Window checkout"/>
          <p:cNvSpPr/>
          <p:nvPr/>
        </p:nvSpPr>
        <p:spPr>
          <a:xfrm>
            <a:off x="4693615"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4821631"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4977079"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5132527"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5379415"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checkout.php</a:t>
            </a:r>
            <a:endParaRPr lang="en-US" sz="1000" dirty="0"/>
          </a:p>
        </p:txBody>
      </p:sp>
      <p:pic>
        <p:nvPicPr>
          <p:cNvPr id="8" name="Screenshot checkout" descr="Screenshot: checkout.php"/>
          <p:cNvPicPr>
            <a:picLocks noChangeAspect="1"/>
          </p:cNvPicPr>
          <p:nvPr/>
        </p:nvPicPr>
        <p:blipFill>
          <a:blip r:embed="rId1"/>
          <a:stretch>
            <a:fillRect/>
          </a:stretch>
        </p:blipFill>
        <p:spPr>
          <a:xfrm>
            <a:off x="4757623" y="1691640"/>
            <a:ext cx="6821424" cy="3837051"/>
          </a:xfrm>
          <a:prstGeom prst="rect">
            <a:avLst/>
          </a:prstGeom>
        </p:spPr>
      </p:pic>
      <p:sp>
        <p:nvSpPr>
          <p:cNvPr id="9" name="Shape 6"/>
          <p:cNvSpPr/>
          <p:nvPr/>
        </p:nvSpPr>
        <p:spPr>
          <a:xfrm>
            <a:off x="548640" y="12830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667512" y="1401890"/>
            <a:ext cx="237744" cy="237744"/>
          </a:xfrm>
          <a:prstGeom prst="rect">
            <a:avLst/>
          </a:prstGeom>
        </p:spPr>
      </p:pic>
      <p:sp>
        <p:nvSpPr>
          <p:cNvPr id="11" name="Text 7"/>
          <p:cNvSpPr txBox="1"/>
          <p:nvPr/>
        </p:nvSpPr>
        <p:spPr>
          <a:xfrm>
            <a:off x="1207008" y="1264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Add snacks</a:t>
            </a:r>
            <a:endParaRPr lang="en-US" sz="1600" dirty="0"/>
          </a:p>
          <a:p>
            <a:pPr marL="0" indent="0">
              <a:spcAft>
                <a:spcPts val="200"/>
              </a:spcAft>
              <a:buNone/>
            </a:pPr>
            <a:r>
              <a:rPr lang="en-US" sz="1400" dirty="0">
                <a:solidFill>
                  <a:schemeClr val="bg2"/>
                </a:solidFill>
              </a:rPr>
              <a:t>Popcorn, drinks and combos with + / − buttons, managed by admin</a:t>
            </a:r>
            <a:endParaRPr lang="en-US" sz="1600" dirty="0"/>
          </a:p>
        </p:txBody>
      </p:sp>
      <p:sp>
        <p:nvSpPr>
          <p:cNvPr id="12" name="Shape 8"/>
          <p:cNvSpPr/>
          <p:nvPr/>
        </p:nvSpPr>
        <p:spPr>
          <a:xfrm>
            <a:off x="548640" y="24260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667512" y="2544890"/>
            <a:ext cx="237744" cy="237744"/>
          </a:xfrm>
          <a:prstGeom prst="rect">
            <a:avLst/>
          </a:prstGeom>
        </p:spPr>
      </p:pic>
      <p:sp>
        <p:nvSpPr>
          <p:cNvPr id="14" name="Text 9"/>
          <p:cNvSpPr txBox="1"/>
          <p:nvPr/>
        </p:nvSpPr>
        <p:spPr>
          <a:xfrm>
            <a:off x="1207008" y="2407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Promo codes</a:t>
            </a:r>
            <a:endParaRPr lang="en-US" sz="1600" dirty="0"/>
          </a:p>
          <a:p>
            <a:pPr marL="0" indent="0">
              <a:spcAft>
                <a:spcPts val="200"/>
              </a:spcAft>
              <a:buNone/>
            </a:pPr>
            <a:r>
              <a:rPr lang="en-US" sz="1400" dirty="0">
                <a:solidFill>
                  <a:schemeClr val="bg2"/>
                </a:solidFill>
              </a:rPr>
              <a:t>EID20, FYP10, WELCOME50 checked for expiry and usage limits</a:t>
            </a:r>
            <a:endParaRPr lang="en-US" sz="1600" dirty="0"/>
          </a:p>
        </p:txBody>
      </p:sp>
      <p:sp>
        <p:nvSpPr>
          <p:cNvPr id="15" name="Shape 10"/>
          <p:cNvSpPr/>
          <p:nvPr/>
        </p:nvSpPr>
        <p:spPr>
          <a:xfrm>
            <a:off x="548640" y="3569018"/>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667512" y="3687890"/>
            <a:ext cx="237744" cy="237744"/>
          </a:xfrm>
          <a:prstGeom prst="rect">
            <a:avLst/>
          </a:prstGeom>
        </p:spPr>
      </p:pic>
      <p:sp>
        <p:nvSpPr>
          <p:cNvPr id="17" name="Text 11"/>
          <p:cNvSpPr txBox="1"/>
          <p:nvPr/>
        </p:nvSpPr>
        <p:spPr>
          <a:xfrm>
            <a:off x="1207008" y="3550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Loyalty points</a:t>
            </a:r>
            <a:endParaRPr lang="en-US" sz="1600" dirty="0"/>
          </a:p>
          <a:p>
            <a:pPr marL="0" indent="0">
              <a:spcAft>
                <a:spcPts val="200"/>
              </a:spcAft>
              <a:buNone/>
            </a:pPr>
            <a:r>
              <a:rPr lang="en-US" sz="1400" dirty="0">
                <a:solidFill>
                  <a:schemeClr val="bg2"/>
                </a:solidFill>
              </a:rPr>
              <a:t>1 point for every PKR 100, shown before paying</a:t>
            </a:r>
            <a:endParaRPr lang="en-US" sz="1600" dirty="0"/>
          </a:p>
        </p:txBody>
      </p:sp>
      <p:sp>
        <p:nvSpPr>
          <p:cNvPr id="18" name="Shape 12"/>
          <p:cNvSpPr/>
          <p:nvPr/>
        </p:nvSpPr>
        <p:spPr>
          <a:xfrm>
            <a:off x="548640" y="4712017"/>
            <a:ext cx="475488" cy="475488"/>
          </a:xfrm>
          <a:prstGeom prst="ellipse">
            <a:avLst/>
          </a:prstGeom>
          <a:solidFill>
            <a:schemeClr val="accent1"/>
          </a:solidFill>
          <a:ln w="12700">
            <a:solidFill>
              <a:schemeClr val="accent1"/>
            </a:solidFill>
            <a:prstDash val="solid"/>
          </a:ln>
        </p:spPr>
      </p:sp>
      <p:pic>
        <p:nvPicPr>
          <p:cNvPr id="19" name="Image 4" descr="preencoded.png"/>
          <p:cNvPicPr>
            <a:picLocks noChangeAspect="1"/>
          </p:cNvPicPr>
          <p:nvPr/>
        </p:nvPicPr>
        <p:blipFill>
          <a:blip r:embed="rId5"/>
          <a:stretch>
            <a:fillRect/>
          </a:stretch>
        </p:blipFill>
        <p:spPr>
          <a:xfrm>
            <a:off x="667512" y="4830889"/>
            <a:ext cx="237744" cy="237744"/>
          </a:xfrm>
          <a:prstGeom prst="rect">
            <a:avLst/>
          </a:prstGeom>
        </p:spPr>
      </p:pic>
      <p:sp>
        <p:nvSpPr>
          <p:cNvPr id="20" name="Text 13"/>
          <p:cNvSpPr txBox="1"/>
          <p:nvPr/>
        </p:nvSpPr>
        <p:spPr>
          <a:xfrm>
            <a:off x="1207008" y="4693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Hold countdown</a:t>
            </a:r>
            <a:endParaRPr lang="en-US" sz="1600" dirty="0"/>
          </a:p>
          <a:p>
            <a:pPr marL="0" indent="0">
              <a:spcAft>
                <a:spcPts val="200"/>
              </a:spcAft>
              <a:buNone/>
            </a:pPr>
            <a:r>
              <a:rPr lang="en-US" sz="1400" dirty="0">
                <a:solidFill>
                  <a:schemeClr val="bg2"/>
                </a:solidFill>
              </a:rPr>
              <a:t>A timer shows how long the seats stay reserved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Payment: card and mobile wallets</a:t>
            </a:r>
            <a:endParaRPr lang="en-US" sz="3200" dirty="0"/>
          </a:p>
        </p:txBody>
      </p:sp>
      <p:sp>
        <p:nvSpPr>
          <p:cNvPr id="3" name="Window payment"/>
          <p:cNvSpPr/>
          <p:nvPr/>
        </p:nvSpPr>
        <p:spPr>
          <a:xfrm>
            <a:off x="548640"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payment.php</a:t>
            </a:r>
            <a:endParaRPr lang="en-US" sz="1000" dirty="0"/>
          </a:p>
        </p:txBody>
      </p:sp>
      <p:pic>
        <p:nvPicPr>
          <p:cNvPr id="8" name="Screenshot payment" descr="Screenshot: payment.php"/>
          <p:cNvPicPr>
            <a:picLocks noChangeAspect="1"/>
          </p:cNvPicPr>
          <p:nvPr/>
        </p:nvPicPr>
        <p:blipFill>
          <a:blip r:embed="rId1"/>
          <a:stretch>
            <a:fillRect/>
          </a:stretch>
        </p:blipFill>
        <p:spPr>
          <a:xfrm>
            <a:off x="612648" y="1691640"/>
            <a:ext cx="6821424" cy="3837051"/>
          </a:xfrm>
          <a:prstGeom prst="rect">
            <a:avLst/>
          </a:prstGeom>
        </p:spPr>
      </p:pic>
      <p:sp>
        <p:nvSpPr>
          <p:cNvPr id="9" name="Shape 6"/>
          <p:cNvSpPr/>
          <p:nvPr/>
        </p:nvSpPr>
        <p:spPr>
          <a:xfrm>
            <a:off x="7955280" y="18545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8074152" y="1973390"/>
            <a:ext cx="237744" cy="237744"/>
          </a:xfrm>
          <a:prstGeom prst="rect">
            <a:avLst/>
          </a:prstGeom>
        </p:spPr>
      </p:pic>
      <p:sp>
        <p:nvSpPr>
          <p:cNvPr id="11" name="Text 7"/>
          <p:cNvSpPr txBox="1"/>
          <p:nvPr/>
        </p:nvSpPr>
        <p:spPr>
          <a:xfrm>
            <a:off x="8613648" y="1836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Card payment</a:t>
            </a:r>
            <a:endParaRPr lang="en-US" sz="1600" dirty="0"/>
          </a:p>
          <a:p>
            <a:pPr marL="0" indent="0">
              <a:spcAft>
                <a:spcPts val="200"/>
              </a:spcAft>
              <a:buNone/>
            </a:pPr>
            <a:r>
              <a:rPr lang="en-US" sz="1400" dirty="0">
                <a:solidFill>
                  <a:schemeClr val="bg2"/>
                </a:solidFill>
              </a:rPr>
              <a:t>Auto-spaced card number and expiry, only the last 4 digits are stored</a:t>
            </a:r>
            <a:endParaRPr lang="en-US" sz="1600" dirty="0"/>
          </a:p>
        </p:txBody>
      </p:sp>
      <p:sp>
        <p:nvSpPr>
          <p:cNvPr id="12" name="Shape 8"/>
          <p:cNvSpPr/>
          <p:nvPr/>
        </p:nvSpPr>
        <p:spPr>
          <a:xfrm>
            <a:off x="7955280" y="29975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8074152" y="3116390"/>
            <a:ext cx="237744" cy="237744"/>
          </a:xfrm>
          <a:prstGeom prst="rect">
            <a:avLst/>
          </a:prstGeom>
        </p:spPr>
      </p:pic>
      <p:sp>
        <p:nvSpPr>
          <p:cNvPr id="14" name="Text 9"/>
          <p:cNvSpPr txBox="1"/>
          <p:nvPr/>
        </p:nvSpPr>
        <p:spPr>
          <a:xfrm>
            <a:off x="8613648" y="2979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JazzCash and Easypaisa</a:t>
            </a:r>
            <a:endParaRPr lang="en-US" sz="1600" dirty="0"/>
          </a:p>
          <a:p>
            <a:pPr marL="0" indent="0">
              <a:spcAft>
                <a:spcPts val="200"/>
              </a:spcAft>
              <a:buNone/>
            </a:pPr>
            <a:r>
              <a:rPr lang="en-US" sz="1400" dirty="0">
                <a:solidFill>
                  <a:schemeClr val="bg2"/>
                </a:solidFill>
              </a:rPr>
              <a:t>Mobile number plus an OTP step, as in the real wallets</a:t>
            </a:r>
            <a:endParaRPr lang="en-US" sz="1600" dirty="0"/>
          </a:p>
        </p:txBody>
      </p:sp>
      <p:sp>
        <p:nvSpPr>
          <p:cNvPr id="15" name="Shape 10"/>
          <p:cNvSpPr/>
          <p:nvPr/>
        </p:nvSpPr>
        <p:spPr>
          <a:xfrm>
            <a:off x="7955280" y="4140517"/>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8074152" y="4259389"/>
            <a:ext cx="237744" cy="237744"/>
          </a:xfrm>
          <a:prstGeom prst="rect">
            <a:avLst/>
          </a:prstGeom>
        </p:spPr>
      </p:pic>
      <p:sp>
        <p:nvSpPr>
          <p:cNvPr id="17" name="Text 11"/>
          <p:cNvSpPr txBox="1"/>
          <p:nvPr/>
        </p:nvSpPr>
        <p:spPr>
          <a:xfrm>
            <a:off x="8613648" y="4122229"/>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Saved in one transaction</a:t>
            </a:r>
            <a:endParaRPr lang="en-US" sz="1600" dirty="0"/>
          </a:p>
          <a:p>
            <a:pPr marL="0" indent="0">
              <a:spcAft>
                <a:spcPts val="200"/>
              </a:spcAft>
              <a:buNone/>
            </a:pPr>
            <a:r>
              <a:rPr lang="en-US" sz="1400" dirty="0">
                <a:solidFill>
                  <a:schemeClr val="bg2"/>
                </a:solidFill>
              </a:rPr>
              <a:t>Booking, seats, snacks, promo use and points succeed together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E-ticket with QR code</a:t>
            </a:r>
            <a:endParaRPr lang="en-US" sz="3200" dirty="0"/>
          </a:p>
        </p:txBody>
      </p:sp>
      <p:sp>
        <p:nvSpPr>
          <p:cNvPr id="3" name="Window ticket"/>
          <p:cNvSpPr/>
          <p:nvPr/>
        </p:nvSpPr>
        <p:spPr>
          <a:xfrm>
            <a:off x="4693615"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4821631"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4977079"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5132527"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5379415"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ticket.php</a:t>
            </a:r>
            <a:endParaRPr lang="en-US" sz="1000" dirty="0"/>
          </a:p>
        </p:txBody>
      </p:sp>
      <p:pic>
        <p:nvPicPr>
          <p:cNvPr id="8" name="Screenshot ticket" descr="Screenshot: ticket.php"/>
          <p:cNvPicPr>
            <a:picLocks noChangeAspect="1"/>
          </p:cNvPicPr>
          <p:nvPr/>
        </p:nvPicPr>
        <p:blipFill>
          <a:blip r:embed="rId1"/>
          <a:stretch>
            <a:fillRect/>
          </a:stretch>
        </p:blipFill>
        <p:spPr>
          <a:xfrm>
            <a:off x="4757623" y="1691640"/>
            <a:ext cx="6821424" cy="3837051"/>
          </a:xfrm>
          <a:prstGeom prst="rect">
            <a:avLst/>
          </a:prstGeom>
        </p:spPr>
      </p:pic>
      <p:sp>
        <p:nvSpPr>
          <p:cNvPr id="9" name="Shape 6"/>
          <p:cNvSpPr/>
          <p:nvPr/>
        </p:nvSpPr>
        <p:spPr>
          <a:xfrm>
            <a:off x="548640" y="18545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667512" y="1973390"/>
            <a:ext cx="237744" cy="237744"/>
          </a:xfrm>
          <a:prstGeom prst="rect">
            <a:avLst/>
          </a:prstGeom>
        </p:spPr>
      </p:pic>
      <p:sp>
        <p:nvSpPr>
          <p:cNvPr id="11" name="Text 7"/>
          <p:cNvSpPr txBox="1"/>
          <p:nvPr/>
        </p:nvSpPr>
        <p:spPr>
          <a:xfrm>
            <a:off x="1207008" y="1836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Reference CNX-YYYY-00001</a:t>
            </a:r>
            <a:endParaRPr lang="en-US" sz="1600" dirty="0"/>
          </a:p>
          <a:p>
            <a:pPr marL="0" indent="0">
              <a:spcAft>
                <a:spcPts val="200"/>
              </a:spcAft>
              <a:buNone/>
            </a:pPr>
            <a:r>
              <a:rPr lang="en-US" sz="1400" dirty="0">
                <a:solidFill>
                  <a:schemeClr val="bg2"/>
                </a:solidFill>
              </a:rPr>
              <a:t>Movie, cinema, hall, date, time, seats, snacks and total</a:t>
            </a:r>
            <a:endParaRPr lang="en-US" sz="1600" dirty="0"/>
          </a:p>
        </p:txBody>
      </p:sp>
      <p:sp>
        <p:nvSpPr>
          <p:cNvPr id="12" name="Shape 8"/>
          <p:cNvSpPr/>
          <p:nvPr/>
        </p:nvSpPr>
        <p:spPr>
          <a:xfrm>
            <a:off x="548640" y="29975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667512" y="3116390"/>
            <a:ext cx="237744" cy="237744"/>
          </a:xfrm>
          <a:prstGeom prst="rect">
            <a:avLst/>
          </a:prstGeom>
        </p:spPr>
      </p:pic>
      <p:sp>
        <p:nvSpPr>
          <p:cNvPr id="14" name="Text 9"/>
          <p:cNvSpPr txBox="1"/>
          <p:nvPr/>
        </p:nvSpPr>
        <p:spPr>
          <a:xfrm>
            <a:off x="1207008" y="2979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QR holds only the reference</a:t>
            </a:r>
            <a:endParaRPr lang="en-US" sz="1600" dirty="0"/>
          </a:p>
          <a:p>
            <a:pPr marL="0" indent="0">
              <a:spcAft>
                <a:spcPts val="200"/>
              </a:spcAft>
              <a:buNone/>
            </a:pPr>
            <a:r>
              <a:rPr lang="en-US" sz="1400" dirty="0">
                <a:solidFill>
                  <a:schemeClr val="bg2"/>
                </a:solidFill>
              </a:rPr>
              <a:t>No personal data inside; staff scan it at the entrance</a:t>
            </a:r>
            <a:endParaRPr lang="en-US" sz="1600" dirty="0"/>
          </a:p>
        </p:txBody>
      </p:sp>
      <p:sp>
        <p:nvSpPr>
          <p:cNvPr id="15" name="Shape 10"/>
          <p:cNvSpPr/>
          <p:nvPr/>
        </p:nvSpPr>
        <p:spPr>
          <a:xfrm>
            <a:off x="548640" y="4140517"/>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667512" y="4259389"/>
            <a:ext cx="237744" cy="237744"/>
          </a:xfrm>
          <a:prstGeom prst="rect">
            <a:avLst/>
          </a:prstGeom>
        </p:spPr>
      </p:pic>
      <p:sp>
        <p:nvSpPr>
          <p:cNvPr id="17" name="Text 11"/>
          <p:cNvSpPr txBox="1"/>
          <p:nvPr/>
        </p:nvSpPr>
        <p:spPr>
          <a:xfrm>
            <a:off x="1207008" y="4122229"/>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Print or save as PDF</a:t>
            </a:r>
            <a:endParaRPr lang="en-US" sz="1600" dirty="0"/>
          </a:p>
          <a:p>
            <a:pPr marL="0" indent="0">
              <a:spcAft>
                <a:spcPts val="200"/>
              </a:spcAft>
              <a:buNone/>
            </a:pPr>
            <a:r>
              <a:rPr lang="en-US" sz="1400" dirty="0">
                <a:solidFill>
                  <a:schemeClr val="bg2"/>
                </a:solidFill>
              </a:rPr>
              <a:t>Print layout shows only the ticket; a USED stamp after check-in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My Bookings and cancellations</a:t>
            </a:r>
            <a:endParaRPr lang="en-US" sz="3200" dirty="0"/>
          </a:p>
        </p:txBody>
      </p:sp>
      <p:sp>
        <p:nvSpPr>
          <p:cNvPr id="3" name="Window mybookings"/>
          <p:cNvSpPr/>
          <p:nvPr/>
        </p:nvSpPr>
        <p:spPr>
          <a:xfrm>
            <a:off x="548640"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userbooking.php</a:t>
            </a:r>
            <a:endParaRPr lang="en-US" sz="1000" dirty="0"/>
          </a:p>
        </p:txBody>
      </p:sp>
      <p:pic>
        <p:nvPicPr>
          <p:cNvPr id="8" name="Screenshot mybookings" descr="Screenshot: userbooking.php"/>
          <p:cNvPicPr>
            <a:picLocks noChangeAspect="1"/>
          </p:cNvPicPr>
          <p:nvPr/>
        </p:nvPicPr>
        <p:blipFill>
          <a:blip r:embed="rId1"/>
          <a:stretch>
            <a:fillRect/>
          </a:stretch>
        </p:blipFill>
        <p:spPr>
          <a:xfrm>
            <a:off x="612648" y="1691640"/>
            <a:ext cx="6821424" cy="3837051"/>
          </a:xfrm>
          <a:prstGeom prst="rect">
            <a:avLst/>
          </a:prstGeom>
        </p:spPr>
      </p:pic>
      <p:sp>
        <p:nvSpPr>
          <p:cNvPr id="9" name="Shape 6"/>
          <p:cNvSpPr/>
          <p:nvPr/>
        </p:nvSpPr>
        <p:spPr>
          <a:xfrm>
            <a:off x="7955280" y="18545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8074152" y="1973390"/>
            <a:ext cx="237744" cy="237744"/>
          </a:xfrm>
          <a:prstGeom prst="rect">
            <a:avLst/>
          </a:prstGeom>
        </p:spPr>
      </p:pic>
      <p:sp>
        <p:nvSpPr>
          <p:cNvPr id="11" name="Text 7"/>
          <p:cNvSpPr txBox="1"/>
          <p:nvPr/>
        </p:nvSpPr>
        <p:spPr>
          <a:xfrm>
            <a:off x="8613648" y="1836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Upcoming, Past, Cancelled</a:t>
            </a:r>
            <a:endParaRPr lang="en-US" sz="1600" dirty="0"/>
          </a:p>
          <a:p>
            <a:pPr marL="0" indent="0">
              <a:spcAft>
                <a:spcPts val="200"/>
              </a:spcAft>
              <a:buNone/>
            </a:pPr>
            <a:r>
              <a:rPr lang="en-US" sz="1400" dirty="0">
                <a:solidFill>
                  <a:schemeClr val="bg2"/>
                </a:solidFill>
              </a:rPr>
              <a:t>Tabs with counts, plus loyalty points at the top</a:t>
            </a:r>
            <a:endParaRPr lang="en-US" sz="1600" dirty="0"/>
          </a:p>
        </p:txBody>
      </p:sp>
      <p:sp>
        <p:nvSpPr>
          <p:cNvPr id="12" name="Shape 8"/>
          <p:cNvSpPr/>
          <p:nvPr/>
        </p:nvSpPr>
        <p:spPr>
          <a:xfrm>
            <a:off x="7955280" y="29975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8074152" y="3116390"/>
            <a:ext cx="237744" cy="237744"/>
          </a:xfrm>
          <a:prstGeom prst="rect">
            <a:avLst/>
          </a:prstGeom>
        </p:spPr>
      </p:pic>
      <p:sp>
        <p:nvSpPr>
          <p:cNvPr id="14" name="Text 9"/>
          <p:cNvSpPr txBox="1"/>
          <p:nvPr/>
        </p:nvSpPr>
        <p:spPr>
          <a:xfrm>
            <a:off x="8613648" y="2979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Cancel with automatic refund</a:t>
            </a:r>
            <a:endParaRPr lang="en-US" sz="1600" dirty="0"/>
          </a:p>
          <a:p>
            <a:pPr marL="0" indent="0">
              <a:spcAft>
                <a:spcPts val="200"/>
              </a:spcAft>
              <a:buNone/>
            </a:pPr>
            <a:r>
              <a:rPr lang="en-US" sz="1400" dirty="0">
                <a:solidFill>
                  <a:schemeClr val="bg2"/>
                </a:solidFill>
              </a:rPr>
              <a:t>100% refund 24h or more before the show, 50% after that</a:t>
            </a:r>
            <a:endParaRPr lang="en-US" sz="1600" dirty="0"/>
          </a:p>
        </p:txBody>
      </p:sp>
      <p:sp>
        <p:nvSpPr>
          <p:cNvPr id="15" name="Shape 10"/>
          <p:cNvSpPr/>
          <p:nvPr/>
        </p:nvSpPr>
        <p:spPr>
          <a:xfrm>
            <a:off x="7955280" y="4140517"/>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8074152" y="4259389"/>
            <a:ext cx="237744" cy="237744"/>
          </a:xfrm>
          <a:prstGeom prst="rect">
            <a:avLst/>
          </a:prstGeom>
        </p:spPr>
      </p:pic>
      <p:sp>
        <p:nvSpPr>
          <p:cNvPr id="17" name="Text 11"/>
          <p:cNvSpPr txBox="1"/>
          <p:nvPr/>
        </p:nvSpPr>
        <p:spPr>
          <a:xfrm>
            <a:off x="8613648" y="4122229"/>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Refund status</a:t>
            </a:r>
            <a:endParaRPr lang="en-US" sz="1600" dirty="0"/>
          </a:p>
          <a:p>
            <a:pPr marL="0" indent="0">
              <a:spcAft>
                <a:spcPts val="200"/>
              </a:spcAft>
              <a:buNone/>
            </a:pPr>
            <a:r>
              <a:rPr lang="en-US" sz="1400" dirty="0">
                <a:solidFill>
                  <a:schemeClr val="bg2"/>
                </a:solidFill>
              </a:rPr>
              <a:t>Pending, Refunded or Rejected with the admin's reason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Profile, favorites and Coming Soon</a:t>
            </a:r>
            <a:endParaRPr lang="en-US" sz="3200" dirty="0"/>
          </a:p>
        </p:txBody>
      </p:sp>
      <p:sp>
        <p:nvSpPr>
          <p:cNvPr id="3" name="Window profile"/>
          <p:cNvSpPr/>
          <p:nvPr/>
        </p:nvSpPr>
        <p:spPr>
          <a:xfrm>
            <a:off x="548640" y="1758534"/>
            <a:ext cx="3515258" cy="2243652"/>
          </a:xfrm>
          <a:prstGeom prst="roundRect">
            <a:avLst>
              <a:gd name="adj" fmla="val 3260"/>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845402"/>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845402"/>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845402"/>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776822"/>
            <a:ext cx="2692298" cy="237744"/>
          </a:xfrm>
          <a:prstGeom prst="rect">
            <a:avLst/>
          </a:prstGeom>
          <a:noFill/>
        </p:spPr>
        <p:txBody>
          <a:bodyPr wrap="square" lIns="0" tIns="0" rIns="0" bIns="0" rtlCol="0" anchor="ctr"/>
          <a:lstStyle/>
          <a:p>
            <a:pPr marL="0" indent="0">
              <a:buNone/>
            </a:pPr>
            <a:r>
              <a:rPr lang="en-US" sz="1000" dirty="0">
                <a:solidFill>
                  <a:schemeClr val="bg2"/>
                </a:solidFill>
              </a:rPr>
              <a:t>profile.php</a:t>
            </a:r>
            <a:endParaRPr lang="en-US" sz="1000" dirty="0"/>
          </a:p>
        </p:txBody>
      </p:sp>
      <p:pic>
        <p:nvPicPr>
          <p:cNvPr id="8" name="Screenshot profile" descr="Screenshot: profile.php"/>
          <p:cNvPicPr>
            <a:picLocks noChangeAspect="1"/>
          </p:cNvPicPr>
          <p:nvPr/>
        </p:nvPicPr>
        <p:blipFill>
          <a:blip r:embed="rId1"/>
          <a:stretch>
            <a:fillRect/>
          </a:stretch>
        </p:blipFill>
        <p:spPr>
          <a:xfrm>
            <a:off x="612648" y="2032854"/>
            <a:ext cx="3387242" cy="1905324"/>
          </a:xfrm>
          <a:prstGeom prst="rect">
            <a:avLst/>
          </a:prstGeom>
        </p:spPr>
      </p:pic>
      <p:sp>
        <p:nvSpPr>
          <p:cNvPr id="9" name="Shape 6"/>
          <p:cNvSpPr/>
          <p:nvPr/>
        </p:nvSpPr>
        <p:spPr>
          <a:xfrm>
            <a:off x="548640" y="4276506"/>
            <a:ext cx="3515258" cy="1600200"/>
          </a:xfrm>
          <a:prstGeom prst="roundRect">
            <a:avLst>
              <a:gd name="adj" fmla="val 5714"/>
            </a:avLst>
          </a:prstGeom>
          <a:solidFill>
            <a:schemeClr val="tx2"/>
          </a:solidFill>
          <a:ln w="9525">
            <a:solidFill>
              <a:srgbClr val="3A3B48"/>
            </a:solidFill>
            <a:prstDash val="solid"/>
          </a:ln>
        </p:spPr>
      </p:sp>
      <p:sp>
        <p:nvSpPr>
          <p:cNvPr id="10" name="Shape 7"/>
          <p:cNvSpPr/>
          <p:nvPr/>
        </p:nvSpPr>
        <p:spPr>
          <a:xfrm>
            <a:off x="777240" y="4505106"/>
            <a:ext cx="457200" cy="457200"/>
          </a:xfrm>
          <a:prstGeom prst="ellipse">
            <a:avLst/>
          </a:prstGeom>
          <a:solidFill>
            <a:schemeClr val="accent1"/>
          </a:solidFill>
          <a:ln w="12700">
            <a:solidFill>
              <a:schemeClr val="accent1"/>
            </a:solidFill>
            <a:prstDash val="solid"/>
          </a:ln>
        </p:spPr>
      </p:sp>
      <p:pic>
        <p:nvPicPr>
          <p:cNvPr id="11" name="Image 1" descr="preencoded.png"/>
          <p:cNvPicPr>
            <a:picLocks noChangeAspect="1"/>
          </p:cNvPicPr>
          <p:nvPr/>
        </p:nvPicPr>
        <p:blipFill>
          <a:blip r:embed="rId2"/>
          <a:stretch>
            <a:fillRect/>
          </a:stretch>
        </p:blipFill>
        <p:spPr>
          <a:xfrm>
            <a:off x="891540" y="4619406"/>
            <a:ext cx="228600" cy="228600"/>
          </a:xfrm>
          <a:prstGeom prst="rect">
            <a:avLst/>
          </a:prstGeom>
        </p:spPr>
      </p:pic>
      <p:sp>
        <p:nvSpPr>
          <p:cNvPr id="12" name="Text 8"/>
          <p:cNvSpPr txBox="1"/>
          <p:nvPr/>
        </p:nvSpPr>
        <p:spPr>
          <a:xfrm>
            <a:off x="1417320" y="4459386"/>
            <a:ext cx="2463698" cy="128016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Profile</a:t>
            </a:r>
            <a:endParaRPr lang="en-US" sz="1800" dirty="0"/>
          </a:p>
          <a:p>
            <a:pPr marL="0" indent="0">
              <a:spcAft>
                <a:spcPts val="400"/>
              </a:spcAft>
              <a:buNone/>
            </a:pPr>
            <a:r>
              <a:rPr lang="en-US" sz="1400" dirty="0">
                <a:solidFill>
                  <a:schemeClr val="bg2"/>
                </a:solidFill>
              </a:rPr>
              <a:t>Photo upload, edit details, change password, points and stats</a:t>
            </a:r>
            <a:endParaRPr lang="en-US" sz="1800" dirty="0"/>
          </a:p>
        </p:txBody>
      </p:sp>
      <p:sp>
        <p:nvSpPr>
          <p:cNvPr id="13" name="Window favorites"/>
          <p:cNvSpPr/>
          <p:nvPr/>
        </p:nvSpPr>
        <p:spPr>
          <a:xfrm>
            <a:off x="4338218" y="1758534"/>
            <a:ext cx="3515258" cy="2243652"/>
          </a:xfrm>
          <a:prstGeom prst="roundRect">
            <a:avLst>
              <a:gd name="adj" fmla="val 3260"/>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14" name="Shape 10"/>
          <p:cNvSpPr/>
          <p:nvPr/>
        </p:nvSpPr>
        <p:spPr>
          <a:xfrm>
            <a:off x="4466234" y="1845402"/>
            <a:ext cx="100584" cy="100584"/>
          </a:xfrm>
          <a:prstGeom prst="ellipse">
            <a:avLst/>
          </a:prstGeom>
          <a:solidFill>
            <a:srgbClr val="FF5F57"/>
          </a:solidFill>
          <a:ln w="12700">
            <a:solidFill>
              <a:srgbClr val="FF5F57"/>
            </a:solidFill>
            <a:prstDash val="solid"/>
          </a:ln>
        </p:spPr>
      </p:sp>
      <p:sp>
        <p:nvSpPr>
          <p:cNvPr id="15" name="Shape 11"/>
          <p:cNvSpPr/>
          <p:nvPr/>
        </p:nvSpPr>
        <p:spPr>
          <a:xfrm>
            <a:off x="4621682" y="1845402"/>
            <a:ext cx="100584" cy="100584"/>
          </a:xfrm>
          <a:prstGeom prst="ellipse">
            <a:avLst/>
          </a:prstGeom>
          <a:solidFill>
            <a:srgbClr val="FEBC2E"/>
          </a:solidFill>
          <a:ln w="12700">
            <a:solidFill>
              <a:srgbClr val="FEBC2E"/>
            </a:solidFill>
            <a:prstDash val="solid"/>
          </a:ln>
        </p:spPr>
      </p:sp>
      <p:sp>
        <p:nvSpPr>
          <p:cNvPr id="16" name="Shape 12"/>
          <p:cNvSpPr/>
          <p:nvPr/>
        </p:nvSpPr>
        <p:spPr>
          <a:xfrm>
            <a:off x="4777130" y="1845402"/>
            <a:ext cx="100584" cy="100584"/>
          </a:xfrm>
          <a:prstGeom prst="ellipse">
            <a:avLst/>
          </a:prstGeom>
          <a:solidFill>
            <a:srgbClr val="28C840"/>
          </a:solidFill>
          <a:ln w="12700">
            <a:solidFill>
              <a:srgbClr val="28C840"/>
            </a:solidFill>
            <a:prstDash val="solid"/>
          </a:ln>
        </p:spPr>
      </p:sp>
      <p:sp>
        <p:nvSpPr>
          <p:cNvPr id="17" name="Text 13"/>
          <p:cNvSpPr txBox="1"/>
          <p:nvPr/>
        </p:nvSpPr>
        <p:spPr>
          <a:xfrm>
            <a:off x="5024018" y="1776822"/>
            <a:ext cx="2692298" cy="237744"/>
          </a:xfrm>
          <a:prstGeom prst="rect">
            <a:avLst/>
          </a:prstGeom>
          <a:noFill/>
        </p:spPr>
        <p:txBody>
          <a:bodyPr wrap="square" lIns="0" tIns="0" rIns="0" bIns="0" rtlCol="0" anchor="ctr"/>
          <a:lstStyle/>
          <a:p>
            <a:pPr marL="0" indent="0">
              <a:buNone/>
            </a:pPr>
            <a:r>
              <a:rPr lang="en-US" sz="1000" dirty="0">
                <a:solidFill>
                  <a:schemeClr val="bg2"/>
                </a:solidFill>
              </a:rPr>
              <a:t>favorites.php</a:t>
            </a:r>
            <a:endParaRPr lang="en-US" sz="1000" dirty="0"/>
          </a:p>
        </p:txBody>
      </p:sp>
      <p:pic>
        <p:nvPicPr>
          <p:cNvPr id="18" name="Screenshot favorites" descr="Screenshot: favorites.php"/>
          <p:cNvPicPr>
            <a:picLocks noChangeAspect="1"/>
          </p:cNvPicPr>
          <p:nvPr/>
        </p:nvPicPr>
        <p:blipFill>
          <a:blip r:embed="rId3"/>
          <a:stretch>
            <a:fillRect/>
          </a:stretch>
        </p:blipFill>
        <p:spPr>
          <a:xfrm>
            <a:off x="4402226" y="2032854"/>
            <a:ext cx="3387242" cy="1905324"/>
          </a:xfrm>
          <a:prstGeom prst="rect">
            <a:avLst/>
          </a:prstGeom>
        </p:spPr>
      </p:pic>
      <p:sp>
        <p:nvSpPr>
          <p:cNvPr id="19" name="Shape 14"/>
          <p:cNvSpPr/>
          <p:nvPr/>
        </p:nvSpPr>
        <p:spPr>
          <a:xfrm>
            <a:off x="4338218" y="4276506"/>
            <a:ext cx="3515258" cy="1600200"/>
          </a:xfrm>
          <a:prstGeom prst="roundRect">
            <a:avLst>
              <a:gd name="adj" fmla="val 5714"/>
            </a:avLst>
          </a:prstGeom>
          <a:solidFill>
            <a:schemeClr val="tx2"/>
          </a:solidFill>
          <a:ln w="9525">
            <a:solidFill>
              <a:srgbClr val="3A3B48"/>
            </a:solidFill>
            <a:prstDash val="solid"/>
          </a:ln>
        </p:spPr>
      </p:sp>
      <p:sp>
        <p:nvSpPr>
          <p:cNvPr id="20" name="Shape 15"/>
          <p:cNvSpPr/>
          <p:nvPr/>
        </p:nvSpPr>
        <p:spPr>
          <a:xfrm>
            <a:off x="4566818" y="4505106"/>
            <a:ext cx="457200" cy="457200"/>
          </a:xfrm>
          <a:prstGeom prst="ellipse">
            <a:avLst/>
          </a:prstGeom>
          <a:solidFill>
            <a:schemeClr val="accent1"/>
          </a:solidFill>
          <a:ln w="12700">
            <a:solidFill>
              <a:schemeClr val="accent1"/>
            </a:solidFill>
            <a:prstDash val="solid"/>
          </a:ln>
        </p:spPr>
      </p:sp>
      <p:pic>
        <p:nvPicPr>
          <p:cNvPr id="21" name="Image 3" descr="preencoded.png"/>
          <p:cNvPicPr>
            <a:picLocks noChangeAspect="1"/>
          </p:cNvPicPr>
          <p:nvPr/>
        </p:nvPicPr>
        <p:blipFill>
          <a:blip r:embed="rId4"/>
          <a:stretch>
            <a:fillRect/>
          </a:stretch>
        </p:blipFill>
        <p:spPr>
          <a:xfrm>
            <a:off x="4681118" y="4619406"/>
            <a:ext cx="228600" cy="228600"/>
          </a:xfrm>
          <a:prstGeom prst="rect">
            <a:avLst/>
          </a:prstGeom>
        </p:spPr>
      </p:pic>
      <p:sp>
        <p:nvSpPr>
          <p:cNvPr id="22" name="Text 16"/>
          <p:cNvSpPr txBox="1"/>
          <p:nvPr/>
        </p:nvSpPr>
        <p:spPr>
          <a:xfrm>
            <a:off x="5206898" y="4459386"/>
            <a:ext cx="2463698" cy="128016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Favorites</a:t>
            </a:r>
            <a:endParaRPr lang="en-US" sz="1800" dirty="0"/>
          </a:p>
          <a:p>
            <a:pPr marL="0" indent="0">
              <a:spcAft>
                <a:spcPts val="400"/>
              </a:spcAft>
              <a:buNone/>
            </a:pPr>
            <a:r>
              <a:rPr lang="en-US" sz="1400" dirty="0">
                <a:solidFill>
                  <a:schemeClr val="bg2"/>
                </a:solidFill>
              </a:rPr>
              <a:t>Movies saved with the heart button, removable in one click</a:t>
            </a:r>
            <a:endParaRPr lang="en-US" sz="1800" dirty="0"/>
          </a:p>
        </p:txBody>
      </p:sp>
      <p:sp>
        <p:nvSpPr>
          <p:cNvPr id="23" name="Window coming_soon"/>
          <p:cNvSpPr/>
          <p:nvPr/>
        </p:nvSpPr>
        <p:spPr>
          <a:xfrm>
            <a:off x="8127797" y="1758534"/>
            <a:ext cx="3515258" cy="2243652"/>
          </a:xfrm>
          <a:prstGeom prst="roundRect">
            <a:avLst>
              <a:gd name="adj" fmla="val 3260"/>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24" name="Shape 18"/>
          <p:cNvSpPr/>
          <p:nvPr/>
        </p:nvSpPr>
        <p:spPr>
          <a:xfrm>
            <a:off x="8255813" y="1845402"/>
            <a:ext cx="100584" cy="100584"/>
          </a:xfrm>
          <a:prstGeom prst="ellipse">
            <a:avLst/>
          </a:prstGeom>
          <a:solidFill>
            <a:srgbClr val="FF5F57"/>
          </a:solidFill>
          <a:ln w="12700">
            <a:solidFill>
              <a:srgbClr val="FF5F57"/>
            </a:solidFill>
            <a:prstDash val="solid"/>
          </a:ln>
        </p:spPr>
      </p:sp>
      <p:sp>
        <p:nvSpPr>
          <p:cNvPr id="25" name="Shape 19"/>
          <p:cNvSpPr/>
          <p:nvPr/>
        </p:nvSpPr>
        <p:spPr>
          <a:xfrm>
            <a:off x="8411261" y="1845402"/>
            <a:ext cx="100584" cy="100584"/>
          </a:xfrm>
          <a:prstGeom prst="ellipse">
            <a:avLst/>
          </a:prstGeom>
          <a:solidFill>
            <a:srgbClr val="FEBC2E"/>
          </a:solidFill>
          <a:ln w="12700">
            <a:solidFill>
              <a:srgbClr val="FEBC2E"/>
            </a:solidFill>
            <a:prstDash val="solid"/>
          </a:ln>
        </p:spPr>
      </p:sp>
      <p:sp>
        <p:nvSpPr>
          <p:cNvPr id="26" name="Shape 20"/>
          <p:cNvSpPr/>
          <p:nvPr/>
        </p:nvSpPr>
        <p:spPr>
          <a:xfrm>
            <a:off x="8566709" y="1845402"/>
            <a:ext cx="100584" cy="100584"/>
          </a:xfrm>
          <a:prstGeom prst="ellipse">
            <a:avLst/>
          </a:prstGeom>
          <a:solidFill>
            <a:srgbClr val="28C840"/>
          </a:solidFill>
          <a:ln w="12700">
            <a:solidFill>
              <a:srgbClr val="28C840"/>
            </a:solidFill>
            <a:prstDash val="solid"/>
          </a:ln>
        </p:spPr>
      </p:sp>
      <p:sp>
        <p:nvSpPr>
          <p:cNvPr id="27" name="Text 21"/>
          <p:cNvSpPr txBox="1"/>
          <p:nvPr/>
        </p:nvSpPr>
        <p:spPr>
          <a:xfrm>
            <a:off x="8813597" y="1776822"/>
            <a:ext cx="2692298" cy="237744"/>
          </a:xfrm>
          <a:prstGeom prst="rect">
            <a:avLst/>
          </a:prstGeom>
          <a:noFill/>
        </p:spPr>
        <p:txBody>
          <a:bodyPr wrap="square" lIns="0" tIns="0" rIns="0" bIns="0" rtlCol="0" anchor="ctr"/>
          <a:lstStyle/>
          <a:p>
            <a:pPr marL="0" indent="0">
              <a:buNone/>
            </a:pPr>
            <a:r>
              <a:rPr lang="en-US" sz="1000" dirty="0">
                <a:solidFill>
                  <a:schemeClr val="bg2"/>
                </a:solidFill>
              </a:rPr>
              <a:t>Coming Soon</a:t>
            </a:r>
            <a:endParaRPr lang="en-US" sz="1000" dirty="0"/>
          </a:p>
        </p:txBody>
      </p:sp>
      <p:pic>
        <p:nvPicPr>
          <p:cNvPr id="28" name="Screenshot coming_soon" descr="Screenshot: Coming Soon"/>
          <p:cNvPicPr>
            <a:picLocks noChangeAspect="1"/>
          </p:cNvPicPr>
          <p:nvPr/>
        </p:nvPicPr>
        <p:blipFill>
          <a:blip r:embed="rId5"/>
          <a:stretch>
            <a:fillRect/>
          </a:stretch>
        </p:blipFill>
        <p:spPr>
          <a:xfrm>
            <a:off x="8191805" y="2032854"/>
            <a:ext cx="3387242" cy="1905324"/>
          </a:xfrm>
          <a:prstGeom prst="rect">
            <a:avLst/>
          </a:prstGeom>
        </p:spPr>
      </p:pic>
      <p:sp>
        <p:nvSpPr>
          <p:cNvPr id="29" name="Shape 22"/>
          <p:cNvSpPr/>
          <p:nvPr/>
        </p:nvSpPr>
        <p:spPr>
          <a:xfrm>
            <a:off x="8127797" y="4276506"/>
            <a:ext cx="3515258" cy="1600200"/>
          </a:xfrm>
          <a:prstGeom prst="roundRect">
            <a:avLst>
              <a:gd name="adj" fmla="val 5714"/>
            </a:avLst>
          </a:prstGeom>
          <a:solidFill>
            <a:schemeClr val="tx2"/>
          </a:solidFill>
          <a:ln w="9525">
            <a:solidFill>
              <a:srgbClr val="3A3B48"/>
            </a:solidFill>
            <a:prstDash val="solid"/>
          </a:ln>
        </p:spPr>
      </p:sp>
      <p:sp>
        <p:nvSpPr>
          <p:cNvPr id="30" name="Shape 23"/>
          <p:cNvSpPr/>
          <p:nvPr/>
        </p:nvSpPr>
        <p:spPr>
          <a:xfrm>
            <a:off x="8356397" y="4505106"/>
            <a:ext cx="457200" cy="457200"/>
          </a:xfrm>
          <a:prstGeom prst="ellipse">
            <a:avLst/>
          </a:prstGeom>
          <a:solidFill>
            <a:schemeClr val="accent1"/>
          </a:solidFill>
          <a:ln w="12700">
            <a:solidFill>
              <a:schemeClr val="accent1"/>
            </a:solidFill>
            <a:prstDash val="solid"/>
          </a:ln>
        </p:spPr>
      </p:sp>
      <p:pic>
        <p:nvPicPr>
          <p:cNvPr id="31" name="Image 5" descr="preencoded.png"/>
          <p:cNvPicPr>
            <a:picLocks noChangeAspect="1"/>
          </p:cNvPicPr>
          <p:nvPr/>
        </p:nvPicPr>
        <p:blipFill>
          <a:blip r:embed="rId6"/>
          <a:stretch>
            <a:fillRect/>
          </a:stretch>
        </p:blipFill>
        <p:spPr>
          <a:xfrm>
            <a:off x="8470697" y="4619406"/>
            <a:ext cx="228600" cy="228600"/>
          </a:xfrm>
          <a:prstGeom prst="rect">
            <a:avLst/>
          </a:prstGeom>
        </p:spPr>
      </p:pic>
      <p:sp>
        <p:nvSpPr>
          <p:cNvPr id="32" name="Text 24"/>
          <p:cNvSpPr txBox="1"/>
          <p:nvPr/>
        </p:nvSpPr>
        <p:spPr>
          <a:xfrm>
            <a:off x="8996477" y="4459386"/>
            <a:ext cx="2463698" cy="128016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Coming Soon</a:t>
            </a:r>
            <a:endParaRPr lang="en-US" sz="1800" dirty="0"/>
          </a:p>
          <a:p>
            <a:pPr marL="0" indent="0">
              <a:spcAft>
                <a:spcPts val="400"/>
              </a:spcAft>
              <a:buNone/>
            </a:pPr>
            <a:r>
              <a:rPr lang="en-US" sz="1400" dirty="0">
                <a:solidFill>
                  <a:schemeClr val="bg2"/>
                </a:solidFill>
              </a:rPr>
              <a:t>Upcoming releases from TMDB with trailer links</a:t>
            </a:r>
            <a:endParaRPr lang="en-US" sz="1800" dirty="0"/>
          </a:p>
        </p:txBody>
      </p:sp>
      <p:sp>
        <p:nvSpPr>
          <p:cNvPr id="33"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indow dashboard"/>
          <p:cNvSpPr/>
          <p:nvPr/>
        </p:nvSpPr>
        <p:spPr>
          <a:xfrm>
            <a:off x="6796735" y="1932813"/>
            <a:ext cx="4846320" cy="2992374"/>
          </a:xfrm>
          <a:prstGeom prst="roundRect">
            <a:avLst>
              <a:gd name="adj" fmla="val 2445"/>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3" name="Shape 1"/>
          <p:cNvSpPr/>
          <p:nvPr/>
        </p:nvSpPr>
        <p:spPr>
          <a:xfrm>
            <a:off x="6924751" y="2019681"/>
            <a:ext cx="100584" cy="100584"/>
          </a:xfrm>
          <a:prstGeom prst="ellipse">
            <a:avLst/>
          </a:prstGeom>
          <a:solidFill>
            <a:srgbClr val="FF5F57"/>
          </a:solidFill>
          <a:ln w="12700">
            <a:solidFill>
              <a:srgbClr val="FF5F57"/>
            </a:solidFill>
            <a:prstDash val="solid"/>
          </a:ln>
        </p:spPr>
      </p:sp>
      <p:sp>
        <p:nvSpPr>
          <p:cNvPr id="4" name="Shape 2"/>
          <p:cNvSpPr/>
          <p:nvPr/>
        </p:nvSpPr>
        <p:spPr>
          <a:xfrm>
            <a:off x="7080199" y="2019681"/>
            <a:ext cx="100584" cy="100584"/>
          </a:xfrm>
          <a:prstGeom prst="ellipse">
            <a:avLst/>
          </a:prstGeom>
          <a:solidFill>
            <a:srgbClr val="FEBC2E"/>
          </a:solidFill>
          <a:ln w="12700">
            <a:solidFill>
              <a:srgbClr val="FEBC2E"/>
            </a:solidFill>
            <a:prstDash val="solid"/>
          </a:ln>
        </p:spPr>
      </p:sp>
      <p:sp>
        <p:nvSpPr>
          <p:cNvPr id="5" name="Shape 3"/>
          <p:cNvSpPr/>
          <p:nvPr/>
        </p:nvSpPr>
        <p:spPr>
          <a:xfrm>
            <a:off x="7235647" y="2019681"/>
            <a:ext cx="100584" cy="100584"/>
          </a:xfrm>
          <a:prstGeom prst="ellipse">
            <a:avLst/>
          </a:prstGeom>
          <a:solidFill>
            <a:srgbClr val="28C840"/>
          </a:solidFill>
          <a:ln w="12700">
            <a:solidFill>
              <a:srgbClr val="28C840"/>
            </a:solidFill>
            <a:prstDash val="solid"/>
          </a:ln>
        </p:spPr>
      </p:sp>
      <p:pic>
        <p:nvPicPr>
          <p:cNvPr id="6" name="Screenshot dashboard" descr="Screenshot: dashboard"/>
          <p:cNvPicPr>
            <a:picLocks noChangeAspect="1"/>
          </p:cNvPicPr>
          <p:nvPr/>
        </p:nvPicPr>
        <p:blipFill>
          <a:blip r:embed="rId1"/>
          <a:stretch>
            <a:fillRect/>
          </a:stretch>
        </p:blipFill>
        <p:spPr>
          <a:xfrm>
            <a:off x="6860743" y="2207133"/>
            <a:ext cx="4718304" cy="2654046"/>
          </a:xfrm>
          <a:prstGeom prst="rect">
            <a:avLst/>
          </a:prstGeom>
        </p:spPr>
      </p:pic>
      <p:sp>
        <p:nvSpPr>
          <p:cNvPr id="7" name="Text 4"/>
          <p:cNvSpPr txBox="1"/>
          <p:nvPr/>
        </p:nvSpPr>
        <p:spPr>
          <a:xfrm>
            <a:off x="548640" y="1554480"/>
            <a:ext cx="2743200" cy="1097280"/>
          </a:xfrm>
          <a:prstGeom prst="rect">
            <a:avLst/>
          </a:prstGeom>
          <a:noFill/>
        </p:spPr>
        <p:txBody>
          <a:bodyPr wrap="square" lIns="0" tIns="0" rIns="0" bIns="0" rtlCol="0" anchor="ctr"/>
          <a:lstStyle/>
          <a:p>
            <a:pPr marL="0" indent="0">
              <a:buNone/>
            </a:pPr>
            <a:r>
              <a:rPr lang="en-US" sz="7200" b="1" dirty="0">
                <a:solidFill>
                  <a:schemeClr val="accent1"/>
                </a:solidFill>
                <a:latin typeface="Arial" panose="020B0604020202020204" pitchFamily="34" charset="0"/>
                <a:ea typeface="Arial" panose="020B0604020202020204" pitchFamily="34" charset="-122"/>
                <a:cs typeface="Arial" panose="020B0604020202020204" pitchFamily="34" charset="-120"/>
              </a:rPr>
              <a:t>02</a:t>
            </a:r>
            <a:endParaRPr lang="en-US" sz="7200" dirty="0"/>
          </a:p>
        </p:txBody>
      </p:sp>
      <p:sp>
        <p:nvSpPr>
          <p:cNvPr id="8" name="Text 0"/>
          <p:cNvSpPr/>
          <p:nvPr>
            <p:ph type="title" idx="100" hasCustomPrompt="1"/>
          </p:nvPr>
        </p:nvSpPr>
        <p:spPr>
          <a:xfrm>
            <a:off x="548640" y="2788920"/>
            <a:ext cx="5852160" cy="1097280"/>
          </a:xfrm>
          <a:prstGeom prst="rect">
            <a:avLst/>
          </a:prstGeom>
          <a:noFill/>
        </p:spPr>
        <p:txBody>
          <a:bodyPr wrap="square" lIns="0" tIns="0" rIns="0" bIns="0" rtlCol="0" anchor="t"/>
          <a:lstStyle/>
          <a:p>
            <a:pPr marL="0" indent="0" algn="l">
              <a:buNone/>
            </a:pPr>
            <a:r>
              <a:rPr lang="en-US" sz="4400" b="1" dirty="0">
                <a:solidFill>
                  <a:schemeClr val="bg1"/>
                </a:solidFill>
              </a:rPr>
              <a:t>Admin panel</a:t>
            </a:r>
            <a:endParaRPr lang="en-US" sz="4400" dirty="0"/>
          </a:p>
        </p:txBody>
      </p:sp>
      <p:sp>
        <p:nvSpPr>
          <p:cNvPr id="9" name="Text 0"/>
          <p:cNvSpPr/>
          <p:nvPr>
            <p:ph type="body" idx="101" hasCustomPrompt="1"/>
          </p:nvPr>
        </p:nvSpPr>
        <p:spPr>
          <a:xfrm>
            <a:off x="548640" y="3931920"/>
            <a:ext cx="5669280" cy="1097280"/>
          </a:xfrm>
          <a:prstGeom prst="rect">
            <a:avLst/>
          </a:prstGeom>
          <a:noFill/>
        </p:spPr>
        <p:txBody>
          <a:bodyPr wrap="square" lIns="0" tIns="0" rIns="0" bIns="0" rtlCol="0" anchor="t"/>
          <a:lstStyle/>
          <a:p>
            <a:pPr marL="0" indent="0">
              <a:buNone/>
            </a:pPr>
            <a:r>
              <a:rPr lang="en-US" sz="1800" dirty="0">
                <a:solidFill>
                  <a:schemeClr val="bg2"/>
                </a:solidFill>
              </a:rPr>
              <a:t>Everything cinema staff need to run shows, sales and refunds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Secure admin login</a:t>
            </a:r>
            <a:endParaRPr lang="en-US" sz="3200" dirty="0"/>
          </a:p>
        </p:txBody>
      </p:sp>
      <p:sp>
        <p:nvSpPr>
          <p:cNvPr id="3" name="Window admin_login"/>
          <p:cNvSpPr/>
          <p:nvPr/>
        </p:nvSpPr>
        <p:spPr>
          <a:xfrm>
            <a:off x="548640"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Admin/login.php</a:t>
            </a:r>
            <a:endParaRPr lang="en-US" sz="1000" dirty="0"/>
          </a:p>
        </p:txBody>
      </p:sp>
      <p:pic>
        <p:nvPicPr>
          <p:cNvPr id="8" name="Screenshot admin_login" descr="Screenshot: Admin/login.php"/>
          <p:cNvPicPr>
            <a:picLocks noChangeAspect="1"/>
          </p:cNvPicPr>
          <p:nvPr/>
        </p:nvPicPr>
        <p:blipFill>
          <a:blip r:embed="rId1"/>
          <a:stretch>
            <a:fillRect/>
          </a:stretch>
        </p:blipFill>
        <p:spPr>
          <a:xfrm>
            <a:off x="612648" y="1691640"/>
            <a:ext cx="6821424" cy="3837051"/>
          </a:xfrm>
          <a:prstGeom prst="rect">
            <a:avLst/>
          </a:prstGeom>
        </p:spPr>
      </p:pic>
      <p:sp>
        <p:nvSpPr>
          <p:cNvPr id="9" name="Shape 6"/>
          <p:cNvSpPr/>
          <p:nvPr/>
        </p:nvSpPr>
        <p:spPr>
          <a:xfrm>
            <a:off x="7955280" y="18545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8074152" y="1973390"/>
            <a:ext cx="237744" cy="237744"/>
          </a:xfrm>
          <a:prstGeom prst="rect">
            <a:avLst/>
          </a:prstGeom>
        </p:spPr>
      </p:pic>
      <p:sp>
        <p:nvSpPr>
          <p:cNvPr id="11" name="Text 7"/>
          <p:cNvSpPr txBox="1"/>
          <p:nvPr/>
        </p:nvSpPr>
        <p:spPr>
          <a:xfrm>
            <a:off x="8613648" y="1836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Separate admin accounts</a:t>
            </a:r>
            <a:endParaRPr lang="en-US" sz="1600" dirty="0"/>
          </a:p>
          <a:p>
            <a:pPr marL="0" indent="0">
              <a:spcAft>
                <a:spcPts val="200"/>
              </a:spcAft>
              <a:buNone/>
            </a:pPr>
            <a:r>
              <a:rPr lang="en-US" sz="1400" dirty="0">
                <a:solidFill>
                  <a:schemeClr val="bg2"/>
                </a:solidFill>
              </a:rPr>
              <a:t>Admins are stored apart from customers in admin_login</a:t>
            </a:r>
            <a:endParaRPr lang="en-US" sz="1600" dirty="0"/>
          </a:p>
        </p:txBody>
      </p:sp>
      <p:sp>
        <p:nvSpPr>
          <p:cNvPr id="12" name="Shape 8"/>
          <p:cNvSpPr/>
          <p:nvPr/>
        </p:nvSpPr>
        <p:spPr>
          <a:xfrm>
            <a:off x="7955280" y="29975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8074152" y="3116390"/>
            <a:ext cx="237744" cy="237744"/>
          </a:xfrm>
          <a:prstGeom prst="rect">
            <a:avLst/>
          </a:prstGeom>
        </p:spPr>
      </p:pic>
      <p:sp>
        <p:nvSpPr>
          <p:cNvPr id="14" name="Text 9"/>
          <p:cNvSpPr txBox="1"/>
          <p:nvPr/>
        </p:nvSpPr>
        <p:spPr>
          <a:xfrm>
            <a:off x="8613648" y="29792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auth.php on every page</a:t>
            </a:r>
            <a:endParaRPr lang="en-US" sz="1600" dirty="0"/>
          </a:p>
          <a:p>
            <a:pPr marL="0" indent="0">
              <a:spcAft>
                <a:spcPts val="200"/>
              </a:spcAft>
              <a:buNone/>
            </a:pPr>
            <a:r>
              <a:rPr lang="en-US" sz="1400" dirty="0">
                <a:solidFill>
                  <a:schemeClr val="bg2"/>
                </a:solidFill>
              </a:rPr>
              <a:t>Pages and delete links redirect to login when no admin session exists</a:t>
            </a:r>
            <a:endParaRPr lang="en-US" sz="1600" dirty="0"/>
          </a:p>
        </p:txBody>
      </p:sp>
      <p:sp>
        <p:nvSpPr>
          <p:cNvPr id="15" name="Shape 10"/>
          <p:cNvSpPr/>
          <p:nvPr/>
        </p:nvSpPr>
        <p:spPr>
          <a:xfrm>
            <a:off x="7955280" y="4140517"/>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8074152" y="4259389"/>
            <a:ext cx="237744" cy="237744"/>
          </a:xfrm>
          <a:prstGeom prst="rect">
            <a:avLst/>
          </a:prstGeom>
        </p:spPr>
      </p:pic>
      <p:sp>
        <p:nvSpPr>
          <p:cNvPr id="17" name="Text 11"/>
          <p:cNvSpPr txBox="1"/>
          <p:nvPr/>
        </p:nvSpPr>
        <p:spPr>
          <a:xfrm>
            <a:off x="8613648" y="4122229"/>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Safe login</a:t>
            </a:r>
            <a:endParaRPr lang="en-US" sz="1600" dirty="0"/>
          </a:p>
          <a:p>
            <a:pPr marL="0" indent="0">
              <a:spcAft>
                <a:spcPts val="200"/>
              </a:spcAft>
              <a:buNone/>
            </a:pPr>
            <a:r>
              <a:rPr lang="en-US" sz="1400" dirty="0">
                <a:solidFill>
                  <a:schemeClr val="bg2"/>
                </a:solidFill>
              </a:rPr>
              <a:t>Prepared statement, inline errors, show / hide password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Dashboard: the cinema at a glance</a:t>
            </a:r>
            <a:endParaRPr lang="en-US" sz="3200" dirty="0"/>
          </a:p>
        </p:txBody>
      </p:sp>
      <p:sp>
        <p:nvSpPr>
          <p:cNvPr id="3" name="Window dashboard"/>
          <p:cNvSpPr/>
          <p:nvPr/>
        </p:nvSpPr>
        <p:spPr>
          <a:xfrm>
            <a:off x="548640" y="1421363"/>
            <a:ext cx="5364328" cy="3283753"/>
          </a:xfrm>
          <a:prstGeom prst="roundRect">
            <a:avLst>
              <a:gd name="adj" fmla="val 2228"/>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508231"/>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508231"/>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508231"/>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439651"/>
            <a:ext cx="4541368" cy="237744"/>
          </a:xfrm>
          <a:prstGeom prst="rect">
            <a:avLst/>
          </a:prstGeom>
          <a:noFill/>
        </p:spPr>
        <p:txBody>
          <a:bodyPr wrap="square" lIns="0" tIns="0" rIns="0" bIns="0" rtlCol="0" anchor="ctr"/>
          <a:lstStyle/>
          <a:p>
            <a:pPr marL="0" indent="0">
              <a:buNone/>
            </a:pPr>
            <a:r>
              <a:rPr lang="en-US" sz="1000" dirty="0">
                <a:solidFill>
                  <a:schemeClr val="bg2"/>
                </a:solidFill>
              </a:rPr>
              <a:t>Admin/dashboard.php</a:t>
            </a:r>
            <a:endParaRPr lang="en-US" sz="1000" dirty="0"/>
          </a:p>
        </p:txBody>
      </p:sp>
      <p:pic>
        <p:nvPicPr>
          <p:cNvPr id="8" name="Screenshot dashboard" descr="Screenshot: Admin/dashboard.php"/>
          <p:cNvPicPr>
            <a:picLocks noChangeAspect="1"/>
          </p:cNvPicPr>
          <p:nvPr/>
        </p:nvPicPr>
        <p:blipFill>
          <a:blip r:embed="rId1"/>
          <a:stretch>
            <a:fillRect/>
          </a:stretch>
        </p:blipFill>
        <p:spPr>
          <a:xfrm>
            <a:off x="612648" y="1695683"/>
            <a:ext cx="5236312" cy="2945425"/>
          </a:xfrm>
          <a:prstGeom prst="rect">
            <a:avLst/>
          </a:prstGeom>
        </p:spPr>
      </p:pic>
      <p:sp>
        <p:nvSpPr>
          <p:cNvPr id="9" name="Shape 6"/>
          <p:cNvSpPr/>
          <p:nvPr/>
        </p:nvSpPr>
        <p:spPr>
          <a:xfrm>
            <a:off x="548640" y="4979437"/>
            <a:ext cx="5364328" cy="1234440"/>
          </a:xfrm>
          <a:prstGeom prst="roundRect">
            <a:avLst>
              <a:gd name="adj" fmla="val 7407"/>
            </a:avLst>
          </a:prstGeom>
          <a:solidFill>
            <a:schemeClr val="tx2"/>
          </a:solidFill>
          <a:ln w="9525">
            <a:solidFill>
              <a:srgbClr val="3A3B48"/>
            </a:solidFill>
            <a:prstDash val="solid"/>
          </a:ln>
        </p:spPr>
      </p:sp>
      <p:sp>
        <p:nvSpPr>
          <p:cNvPr id="10" name="Shape 7"/>
          <p:cNvSpPr/>
          <p:nvPr/>
        </p:nvSpPr>
        <p:spPr>
          <a:xfrm>
            <a:off x="777240" y="5208037"/>
            <a:ext cx="457200" cy="457200"/>
          </a:xfrm>
          <a:prstGeom prst="ellipse">
            <a:avLst/>
          </a:prstGeom>
          <a:solidFill>
            <a:schemeClr val="accent1"/>
          </a:solidFill>
          <a:ln w="12700">
            <a:solidFill>
              <a:schemeClr val="accent1"/>
            </a:solidFill>
            <a:prstDash val="solid"/>
          </a:ln>
        </p:spPr>
      </p:sp>
      <p:pic>
        <p:nvPicPr>
          <p:cNvPr id="11" name="Image 1" descr="preencoded.png"/>
          <p:cNvPicPr>
            <a:picLocks noChangeAspect="1"/>
          </p:cNvPicPr>
          <p:nvPr/>
        </p:nvPicPr>
        <p:blipFill>
          <a:blip r:embed="rId2"/>
          <a:stretch>
            <a:fillRect/>
          </a:stretch>
        </p:blipFill>
        <p:spPr>
          <a:xfrm>
            <a:off x="891540" y="5322337"/>
            <a:ext cx="228600" cy="228600"/>
          </a:xfrm>
          <a:prstGeom prst="rect">
            <a:avLst/>
          </a:prstGeom>
        </p:spPr>
      </p:pic>
      <p:sp>
        <p:nvSpPr>
          <p:cNvPr id="12" name="Text 8"/>
          <p:cNvSpPr txBox="1"/>
          <p:nvPr/>
        </p:nvSpPr>
        <p:spPr>
          <a:xfrm>
            <a:off x="1417320" y="5162317"/>
            <a:ext cx="4312768" cy="91440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Live KPIs</a:t>
            </a:r>
            <a:endParaRPr lang="en-US" sz="1800" dirty="0"/>
          </a:p>
          <a:p>
            <a:pPr marL="0" indent="0">
              <a:spcAft>
                <a:spcPts val="400"/>
              </a:spcAft>
              <a:buNone/>
            </a:pPr>
            <a:r>
              <a:rPr lang="en-US" sz="1400" dirty="0">
                <a:solidFill>
                  <a:schemeClr val="bg2"/>
                </a:solidFill>
              </a:rPr>
              <a:t>Revenue, tickets sold, bookings, cancellations, refunds, users and today's bookings</a:t>
            </a:r>
            <a:endParaRPr lang="en-US" sz="1800" dirty="0"/>
          </a:p>
        </p:txBody>
      </p:sp>
      <p:sp>
        <p:nvSpPr>
          <p:cNvPr id="13" name="Window dashboard_charts"/>
          <p:cNvSpPr/>
          <p:nvPr/>
        </p:nvSpPr>
        <p:spPr>
          <a:xfrm>
            <a:off x="6278728" y="1421363"/>
            <a:ext cx="5364328" cy="3283753"/>
          </a:xfrm>
          <a:prstGeom prst="roundRect">
            <a:avLst>
              <a:gd name="adj" fmla="val 2228"/>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14" name="Shape 10"/>
          <p:cNvSpPr/>
          <p:nvPr/>
        </p:nvSpPr>
        <p:spPr>
          <a:xfrm>
            <a:off x="6406744" y="1508231"/>
            <a:ext cx="100584" cy="100584"/>
          </a:xfrm>
          <a:prstGeom prst="ellipse">
            <a:avLst/>
          </a:prstGeom>
          <a:solidFill>
            <a:srgbClr val="FF5F57"/>
          </a:solidFill>
          <a:ln w="12700">
            <a:solidFill>
              <a:srgbClr val="FF5F57"/>
            </a:solidFill>
            <a:prstDash val="solid"/>
          </a:ln>
        </p:spPr>
      </p:sp>
      <p:sp>
        <p:nvSpPr>
          <p:cNvPr id="15" name="Shape 11"/>
          <p:cNvSpPr/>
          <p:nvPr/>
        </p:nvSpPr>
        <p:spPr>
          <a:xfrm>
            <a:off x="6562192" y="1508231"/>
            <a:ext cx="100584" cy="100584"/>
          </a:xfrm>
          <a:prstGeom prst="ellipse">
            <a:avLst/>
          </a:prstGeom>
          <a:solidFill>
            <a:srgbClr val="FEBC2E"/>
          </a:solidFill>
          <a:ln w="12700">
            <a:solidFill>
              <a:srgbClr val="FEBC2E"/>
            </a:solidFill>
            <a:prstDash val="solid"/>
          </a:ln>
        </p:spPr>
      </p:sp>
      <p:sp>
        <p:nvSpPr>
          <p:cNvPr id="16" name="Shape 12"/>
          <p:cNvSpPr/>
          <p:nvPr/>
        </p:nvSpPr>
        <p:spPr>
          <a:xfrm>
            <a:off x="6717640" y="1508231"/>
            <a:ext cx="100584" cy="100584"/>
          </a:xfrm>
          <a:prstGeom prst="ellipse">
            <a:avLst/>
          </a:prstGeom>
          <a:solidFill>
            <a:srgbClr val="28C840"/>
          </a:solidFill>
          <a:ln w="12700">
            <a:solidFill>
              <a:srgbClr val="28C840"/>
            </a:solidFill>
            <a:prstDash val="solid"/>
          </a:ln>
        </p:spPr>
      </p:sp>
      <p:sp>
        <p:nvSpPr>
          <p:cNvPr id="17" name="Text 13"/>
          <p:cNvSpPr txBox="1"/>
          <p:nvPr/>
        </p:nvSpPr>
        <p:spPr>
          <a:xfrm>
            <a:off x="6964528" y="1439651"/>
            <a:ext cx="4541368" cy="237744"/>
          </a:xfrm>
          <a:prstGeom prst="rect">
            <a:avLst/>
          </a:prstGeom>
          <a:noFill/>
        </p:spPr>
        <p:txBody>
          <a:bodyPr wrap="square" lIns="0" tIns="0" rIns="0" bIns="0" rtlCol="0" anchor="ctr"/>
          <a:lstStyle/>
          <a:p>
            <a:pPr marL="0" indent="0">
              <a:buNone/>
            </a:pPr>
            <a:r>
              <a:rPr lang="en-US" sz="1000" dirty="0">
                <a:solidFill>
                  <a:schemeClr val="bg2"/>
                </a:solidFill>
              </a:rPr>
              <a:t>Charts</a:t>
            </a:r>
            <a:endParaRPr lang="en-US" sz="1000" dirty="0"/>
          </a:p>
        </p:txBody>
      </p:sp>
      <p:pic>
        <p:nvPicPr>
          <p:cNvPr id="18" name="Screenshot dashboard_charts" descr="Screenshot: Charts"/>
          <p:cNvPicPr>
            <a:picLocks noChangeAspect="1"/>
          </p:cNvPicPr>
          <p:nvPr/>
        </p:nvPicPr>
        <p:blipFill>
          <a:blip r:embed="rId3"/>
          <a:stretch>
            <a:fillRect/>
          </a:stretch>
        </p:blipFill>
        <p:spPr>
          <a:xfrm>
            <a:off x="6342736" y="1695683"/>
            <a:ext cx="5236312" cy="2945425"/>
          </a:xfrm>
          <a:prstGeom prst="rect">
            <a:avLst/>
          </a:prstGeom>
        </p:spPr>
      </p:pic>
      <p:sp>
        <p:nvSpPr>
          <p:cNvPr id="19" name="Shape 14"/>
          <p:cNvSpPr/>
          <p:nvPr/>
        </p:nvSpPr>
        <p:spPr>
          <a:xfrm>
            <a:off x="6278728" y="4979437"/>
            <a:ext cx="5364328" cy="1234440"/>
          </a:xfrm>
          <a:prstGeom prst="roundRect">
            <a:avLst>
              <a:gd name="adj" fmla="val 7407"/>
            </a:avLst>
          </a:prstGeom>
          <a:solidFill>
            <a:schemeClr val="tx2"/>
          </a:solidFill>
          <a:ln w="9525">
            <a:solidFill>
              <a:srgbClr val="3A3B48"/>
            </a:solidFill>
            <a:prstDash val="solid"/>
          </a:ln>
        </p:spPr>
      </p:sp>
      <p:sp>
        <p:nvSpPr>
          <p:cNvPr id="20" name="Shape 15"/>
          <p:cNvSpPr/>
          <p:nvPr/>
        </p:nvSpPr>
        <p:spPr>
          <a:xfrm>
            <a:off x="6507328" y="5208037"/>
            <a:ext cx="457200" cy="457200"/>
          </a:xfrm>
          <a:prstGeom prst="ellipse">
            <a:avLst/>
          </a:prstGeom>
          <a:solidFill>
            <a:schemeClr val="accent1"/>
          </a:solidFill>
          <a:ln w="12700">
            <a:solidFill>
              <a:schemeClr val="accent1"/>
            </a:solidFill>
            <a:prstDash val="solid"/>
          </a:ln>
        </p:spPr>
      </p:sp>
      <p:pic>
        <p:nvPicPr>
          <p:cNvPr id="21" name="Image 3" descr="preencoded.png"/>
          <p:cNvPicPr>
            <a:picLocks noChangeAspect="1"/>
          </p:cNvPicPr>
          <p:nvPr/>
        </p:nvPicPr>
        <p:blipFill>
          <a:blip r:embed="rId2"/>
          <a:stretch>
            <a:fillRect/>
          </a:stretch>
        </p:blipFill>
        <p:spPr>
          <a:xfrm>
            <a:off x="6621628" y="5322337"/>
            <a:ext cx="228600" cy="228600"/>
          </a:xfrm>
          <a:prstGeom prst="rect">
            <a:avLst/>
          </a:prstGeom>
        </p:spPr>
      </p:pic>
      <p:sp>
        <p:nvSpPr>
          <p:cNvPr id="22" name="Text 16"/>
          <p:cNvSpPr txBox="1"/>
          <p:nvPr/>
        </p:nvSpPr>
        <p:spPr>
          <a:xfrm>
            <a:off x="7147408" y="5162317"/>
            <a:ext cx="4312768" cy="91440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Four Chart.js charts</a:t>
            </a:r>
            <a:endParaRPr lang="en-US" sz="1800" dirty="0"/>
          </a:p>
          <a:p>
            <a:pPr marL="0" indent="0">
              <a:spcAft>
                <a:spcPts val="400"/>
              </a:spcAft>
              <a:buNone/>
            </a:pPr>
            <a:r>
              <a:rPr lang="en-US" sz="1400" dirty="0">
                <a:solidFill>
                  <a:schemeClr val="bg2"/>
                </a:solidFill>
              </a:rPr>
              <a:t>Revenue for the last 7 days, top 5 movies, booking status and seat class split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Real data from the running system</a:t>
            </a:r>
            <a:endParaRPr lang="en-US" sz="3200" dirty="0"/>
          </a:p>
        </p:txBody>
      </p:sp>
      <p:sp>
        <p:nvSpPr>
          <p:cNvPr id="3" name="Shape 1"/>
          <p:cNvSpPr/>
          <p:nvPr/>
        </p:nvSpPr>
        <p:spPr>
          <a:xfrm>
            <a:off x="548640" y="1417320"/>
            <a:ext cx="6675120" cy="4709160"/>
          </a:xfrm>
          <a:prstGeom prst="roundRect">
            <a:avLst>
              <a:gd name="adj" fmla="val 1942"/>
            </a:avLst>
          </a:prstGeom>
          <a:solidFill>
            <a:schemeClr val="tx2"/>
          </a:solidFill>
          <a:ln w="9525">
            <a:solidFill>
              <a:srgbClr val="3A3B48"/>
            </a:solidFill>
            <a:prstDash val="solid"/>
          </a:ln>
        </p:spPr>
      </p:sp>
      <p:graphicFrame>
        <p:nvGraphicFramePr>
          <p:cNvPr id="4" name="Chart 0"/>
          <p:cNvGraphicFramePr/>
          <p:nvPr/>
        </p:nvGraphicFramePr>
        <p:xfrm>
          <a:off x="731520" y="1554480"/>
          <a:ext cx="6309360" cy="443484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589520" y="1417320"/>
            <a:ext cx="4053535" cy="4709160"/>
          </a:xfrm>
          <a:prstGeom prst="roundRect">
            <a:avLst>
              <a:gd name="adj" fmla="val 2256"/>
            </a:avLst>
          </a:prstGeom>
          <a:solidFill>
            <a:schemeClr val="tx2"/>
          </a:solidFill>
          <a:ln w="9525">
            <a:solidFill>
              <a:srgbClr val="3A3B48"/>
            </a:solidFill>
            <a:prstDash val="solid"/>
          </a:ln>
        </p:spPr>
      </p:sp>
      <p:graphicFrame>
        <p:nvGraphicFramePr>
          <p:cNvPr id="6" name="Chart 1"/>
          <p:cNvGraphicFramePr/>
          <p:nvPr/>
        </p:nvGraphicFramePr>
        <p:xfrm>
          <a:off x="7772400" y="1554480"/>
          <a:ext cx="3687775" cy="4434840"/>
        </p:xfrm>
        <a:graphic>
          <a:graphicData uri="http://schemas.openxmlformats.org/drawingml/2006/chart">
            <c:chart xmlns:c="http://schemas.openxmlformats.org/drawingml/2006/chart" xmlns:r="http://schemas.openxmlformats.org/officeDocument/2006/relationships" r:id="rId2"/>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Movie catalog management</a:t>
            </a:r>
            <a:endParaRPr lang="en-US" sz="3200" dirty="0"/>
          </a:p>
        </p:txBody>
      </p:sp>
      <p:sp>
        <p:nvSpPr>
          <p:cNvPr id="3" name="Window admin_viewmovie"/>
          <p:cNvSpPr/>
          <p:nvPr/>
        </p:nvSpPr>
        <p:spPr>
          <a:xfrm>
            <a:off x="4693615"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4821631"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4977079"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5132527"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5379415"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Admin/viewmovie.php</a:t>
            </a:r>
            <a:endParaRPr lang="en-US" sz="1000" dirty="0"/>
          </a:p>
        </p:txBody>
      </p:sp>
      <p:pic>
        <p:nvPicPr>
          <p:cNvPr id="8" name="Screenshot admin_viewmovie" descr="Screenshot: Admin/viewmovie.php"/>
          <p:cNvPicPr>
            <a:picLocks noChangeAspect="1"/>
          </p:cNvPicPr>
          <p:nvPr/>
        </p:nvPicPr>
        <p:blipFill>
          <a:blip r:embed="rId1"/>
          <a:stretch>
            <a:fillRect/>
          </a:stretch>
        </p:blipFill>
        <p:spPr>
          <a:xfrm>
            <a:off x="4757623" y="1691640"/>
            <a:ext cx="6821424" cy="3837051"/>
          </a:xfrm>
          <a:prstGeom prst="rect">
            <a:avLst/>
          </a:prstGeom>
        </p:spPr>
      </p:pic>
      <p:sp>
        <p:nvSpPr>
          <p:cNvPr id="9" name="Shape 6"/>
          <p:cNvSpPr/>
          <p:nvPr/>
        </p:nvSpPr>
        <p:spPr>
          <a:xfrm>
            <a:off x="548640" y="12830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667512" y="1401890"/>
            <a:ext cx="237744" cy="237744"/>
          </a:xfrm>
          <a:prstGeom prst="rect">
            <a:avLst/>
          </a:prstGeom>
        </p:spPr>
      </p:pic>
      <p:sp>
        <p:nvSpPr>
          <p:cNvPr id="11" name="Text 7"/>
          <p:cNvSpPr txBox="1"/>
          <p:nvPr/>
        </p:nvSpPr>
        <p:spPr>
          <a:xfrm>
            <a:off x="1207008" y="1264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Add, edit and delete movies</a:t>
            </a:r>
            <a:endParaRPr lang="en-US" sz="1600" dirty="0"/>
          </a:p>
          <a:p>
            <a:pPr marL="0" indent="0">
              <a:spcAft>
                <a:spcPts val="200"/>
              </a:spcAft>
              <a:buNone/>
            </a:pPr>
            <a:r>
              <a:rPr lang="en-US" sz="1400" dirty="0">
                <a:solidFill>
                  <a:schemeClr val="bg2"/>
                </a:solidFill>
              </a:rPr>
              <a:t>Poster, trailer, description, genre, language, industry, cinema</a:t>
            </a:r>
            <a:endParaRPr lang="en-US" sz="1600" dirty="0"/>
          </a:p>
        </p:txBody>
      </p:sp>
      <p:sp>
        <p:nvSpPr>
          <p:cNvPr id="12" name="Shape 8"/>
          <p:cNvSpPr/>
          <p:nvPr/>
        </p:nvSpPr>
        <p:spPr>
          <a:xfrm>
            <a:off x="548640" y="24260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667512" y="2544890"/>
            <a:ext cx="237744" cy="237744"/>
          </a:xfrm>
          <a:prstGeom prst="rect">
            <a:avLst/>
          </a:prstGeom>
        </p:spPr>
      </p:pic>
      <p:sp>
        <p:nvSpPr>
          <p:cNvPr id="14" name="Text 9"/>
          <p:cNvSpPr txBox="1"/>
          <p:nvPr/>
        </p:nvSpPr>
        <p:spPr>
          <a:xfrm>
            <a:off x="1207008" y="2407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Real catalog from TMDB</a:t>
            </a:r>
            <a:endParaRPr lang="en-US" sz="1600" dirty="0"/>
          </a:p>
          <a:p>
            <a:pPr marL="0" indent="0">
              <a:spcAft>
                <a:spcPts val="200"/>
              </a:spcAft>
              <a:buNone/>
            </a:pPr>
            <a:r>
              <a:rPr lang="en-US" sz="1400" dirty="0">
                <a:solidFill>
                  <a:schemeClr val="bg2"/>
                </a:solidFill>
              </a:rPr>
              <a:t>seed_tmdb.php loads now-playing movies, posters and trailers</a:t>
            </a:r>
            <a:endParaRPr lang="en-US" sz="1600" dirty="0"/>
          </a:p>
        </p:txBody>
      </p:sp>
      <p:sp>
        <p:nvSpPr>
          <p:cNvPr id="15" name="Shape 10"/>
          <p:cNvSpPr/>
          <p:nvPr/>
        </p:nvSpPr>
        <p:spPr>
          <a:xfrm>
            <a:off x="548640" y="3569018"/>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667512" y="3687890"/>
            <a:ext cx="237744" cy="237744"/>
          </a:xfrm>
          <a:prstGeom prst="rect">
            <a:avLst/>
          </a:prstGeom>
        </p:spPr>
      </p:pic>
      <p:sp>
        <p:nvSpPr>
          <p:cNvPr id="17" name="Text 11"/>
          <p:cNvSpPr txBox="1"/>
          <p:nvPr/>
        </p:nvSpPr>
        <p:spPr>
          <a:xfrm>
            <a:off x="1207008" y="3550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Seat prices per movie</a:t>
            </a:r>
            <a:endParaRPr lang="en-US" sz="1600" dirty="0"/>
          </a:p>
          <a:p>
            <a:pPr marL="0" indent="0">
              <a:spcAft>
                <a:spcPts val="200"/>
              </a:spcAft>
              <a:buNone/>
            </a:pPr>
            <a:r>
              <a:rPr lang="en-US" sz="1400" dirty="0">
                <a:solidFill>
                  <a:schemeClr val="bg2"/>
                </a:solidFill>
              </a:rPr>
              <a:t>Economy, Business and First prices used by checkout</a:t>
            </a:r>
            <a:endParaRPr lang="en-US" sz="1600" dirty="0"/>
          </a:p>
        </p:txBody>
      </p:sp>
      <p:sp>
        <p:nvSpPr>
          <p:cNvPr id="18" name="Shape 12"/>
          <p:cNvSpPr/>
          <p:nvPr/>
        </p:nvSpPr>
        <p:spPr>
          <a:xfrm>
            <a:off x="548640" y="4712017"/>
            <a:ext cx="475488" cy="475488"/>
          </a:xfrm>
          <a:prstGeom prst="ellipse">
            <a:avLst/>
          </a:prstGeom>
          <a:solidFill>
            <a:schemeClr val="accent1"/>
          </a:solidFill>
          <a:ln w="12700">
            <a:solidFill>
              <a:schemeClr val="accent1"/>
            </a:solidFill>
            <a:prstDash val="solid"/>
          </a:ln>
        </p:spPr>
      </p:sp>
      <p:pic>
        <p:nvPicPr>
          <p:cNvPr id="19" name="Image 4" descr="preencoded.png"/>
          <p:cNvPicPr>
            <a:picLocks noChangeAspect="1"/>
          </p:cNvPicPr>
          <p:nvPr/>
        </p:nvPicPr>
        <p:blipFill>
          <a:blip r:embed="rId5"/>
          <a:stretch>
            <a:fillRect/>
          </a:stretch>
        </p:blipFill>
        <p:spPr>
          <a:xfrm>
            <a:off x="667512" y="4830889"/>
            <a:ext cx="237744" cy="237744"/>
          </a:xfrm>
          <a:prstGeom prst="rect">
            <a:avLst/>
          </a:prstGeom>
        </p:spPr>
      </p:pic>
      <p:sp>
        <p:nvSpPr>
          <p:cNvPr id="20" name="Text 13"/>
          <p:cNvSpPr txBox="1"/>
          <p:nvPr/>
        </p:nvSpPr>
        <p:spPr>
          <a:xfrm>
            <a:off x="1207008" y="4693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Lookup tables</a:t>
            </a:r>
            <a:endParaRPr lang="en-US" sz="1600" dirty="0"/>
          </a:p>
          <a:p>
            <a:pPr marL="0" indent="0">
              <a:spcAft>
                <a:spcPts val="200"/>
              </a:spcAft>
              <a:buNone/>
            </a:pPr>
            <a:r>
              <a:rPr lang="en-US" sz="1400" dirty="0">
                <a:solidFill>
                  <a:schemeClr val="bg2"/>
                </a:solidFill>
              </a:rPr>
              <a:t>Cinemas, genres, industries, languages and dates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Shows and schedules</a:t>
            </a:r>
            <a:endParaRPr lang="en-US" sz="3200" dirty="0"/>
          </a:p>
        </p:txBody>
      </p:sp>
      <p:sp>
        <p:nvSpPr>
          <p:cNvPr id="3" name="Window admin_shows"/>
          <p:cNvSpPr/>
          <p:nvPr/>
        </p:nvSpPr>
        <p:spPr>
          <a:xfrm>
            <a:off x="548640"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Admin/shows.php</a:t>
            </a:r>
            <a:endParaRPr lang="en-US" sz="1000" dirty="0"/>
          </a:p>
        </p:txBody>
      </p:sp>
      <p:pic>
        <p:nvPicPr>
          <p:cNvPr id="8" name="Screenshot admin_shows" descr="Screenshot: Admin/shows.php"/>
          <p:cNvPicPr>
            <a:picLocks noChangeAspect="1"/>
          </p:cNvPicPr>
          <p:nvPr/>
        </p:nvPicPr>
        <p:blipFill>
          <a:blip r:embed="rId1"/>
          <a:stretch>
            <a:fillRect/>
          </a:stretch>
        </p:blipFill>
        <p:spPr>
          <a:xfrm>
            <a:off x="612648" y="1691640"/>
            <a:ext cx="6821424" cy="3837051"/>
          </a:xfrm>
          <a:prstGeom prst="rect">
            <a:avLst/>
          </a:prstGeom>
        </p:spPr>
      </p:pic>
      <p:sp>
        <p:nvSpPr>
          <p:cNvPr id="9" name="Shape 6"/>
          <p:cNvSpPr/>
          <p:nvPr/>
        </p:nvSpPr>
        <p:spPr>
          <a:xfrm>
            <a:off x="7955280" y="12830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8074152" y="1401890"/>
            <a:ext cx="237744" cy="237744"/>
          </a:xfrm>
          <a:prstGeom prst="rect">
            <a:avLst/>
          </a:prstGeom>
        </p:spPr>
      </p:pic>
      <p:sp>
        <p:nvSpPr>
          <p:cNvPr id="11" name="Text 7"/>
          <p:cNvSpPr txBox="1"/>
          <p:nvPr/>
        </p:nvSpPr>
        <p:spPr>
          <a:xfrm>
            <a:off x="8613648" y="1264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Add a show</a:t>
            </a:r>
            <a:endParaRPr lang="en-US" sz="1600" dirty="0"/>
          </a:p>
          <a:p>
            <a:pPr marL="0" indent="0">
              <a:spcAft>
                <a:spcPts val="200"/>
              </a:spcAft>
              <a:buNone/>
            </a:pPr>
            <a:r>
              <a:rPr lang="en-US" sz="1400" dirty="0">
                <a:solidFill>
                  <a:schemeClr val="bg2"/>
                </a:solidFill>
              </a:rPr>
              <a:t>Movie, cinema, hall, date, time, rows and seats per row</a:t>
            </a:r>
            <a:endParaRPr lang="en-US" sz="1600" dirty="0"/>
          </a:p>
        </p:txBody>
      </p:sp>
      <p:sp>
        <p:nvSpPr>
          <p:cNvPr id="12" name="Shape 8"/>
          <p:cNvSpPr/>
          <p:nvPr/>
        </p:nvSpPr>
        <p:spPr>
          <a:xfrm>
            <a:off x="7955280" y="24260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8074152" y="2544890"/>
            <a:ext cx="237744" cy="237744"/>
          </a:xfrm>
          <a:prstGeom prst="rect">
            <a:avLst/>
          </a:prstGeom>
        </p:spPr>
      </p:pic>
      <p:sp>
        <p:nvSpPr>
          <p:cNvPr id="14" name="Text 9"/>
          <p:cNvSpPr txBox="1"/>
          <p:nvPr/>
        </p:nvSpPr>
        <p:spPr>
          <a:xfrm>
            <a:off x="8613648" y="2407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Clash check</a:t>
            </a:r>
            <a:endParaRPr lang="en-US" sz="1600" dirty="0"/>
          </a:p>
          <a:p>
            <a:pPr marL="0" indent="0">
              <a:spcAft>
                <a:spcPts val="200"/>
              </a:spcAft>
              <a:buNone/>
            </a:pPr>
            <a:r>
              <a:rPr lang="en-US" sz="1400" dirty="0">
                <a:solidFill>
                  <a:schemeClr val="bg2"/>
                </a:solidFill>
              </a:rPr>
              <a:t>The same hall cannot have two shows at the same date and time</a:t>
            </a:r>
            <a:endParaRPr lang="en-US" sz="1600" dirty="0"/>
          </a:p>
        </p:txBody>
      </p:sp>
      <p:sp>
        <p:nvSpPr>
          <p:cNvPr id="15" name="Shape 10"/>
          <p:cNvSpPr/>
          <p:nvPr/>
        </p:nvSpPr>
        <p:spPr>
          <a:xfrm>
            <a:off x="7955280" y="3569018"/>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8074152" y="3687890"/>
            <a:ext cx="237744" cy="237744"/>
          </a:xfrm>
          <a:prstGeom prst="rect">
            <a:avLst/>
          </a:prstGeom>
        </p:spPr>
      </p:pic>
      <p:sp>
        <p:nvSpPr>
          <p:cNvPr id="17" name="Text 11"/>
          <p:cNvSpPr txBox="1"/>
          <p:nvPr/>
        </p:nvSpPr>
        <p:spPr>
          <a:xfrm>
            <a:off x="8613648" y="3550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Occupancy bars</a:t>
            </a:r>
            <a:endParaRPr lang="en-US" sz="1600" dirty="0"/>
          </a:p>
          <a:p>
            <a:pPr marL="0" indent="0">
              <a:spcAft>
                <a:spcPts val="200"/>
              </a:spcAft>
              <a:buNone/>
            </a:pPr>
            <a:r>
              <a:rPr lang="en-US" sz="1400" dirty="0">
                <a:solidFill>
                  <a:schemeClr val="bg2"/>
                </a:solidFill>
              </a:rPr>
              <a:t>Sold seats out of capacity for every show</a:t>
            </a:r>
            <a:endParaRPr lang="en-US" sz="1600" dirty="0"/>
          </a:p>
        </p:txBody>
      </p:sp>
      <p:sp>
        <p:nvSpPr>
          <p:cNvPr id="18" name="Shape 12"/>
          <p:cNvSpPr/>
          <p:nvPr/>
        </p:nvSpPr>
        <p:spPr>
          <a:xfrm>
            <a:off x="7955280" y="4712017"/>
            <a:ext cx="475488" cy="475488"/>
          </a:xfrm>
          <a:prstGeom prst="ellipse">
            <a:avLst/>
          </a:prstGeom>
          <a:solidFill>
            <a:schemeClr val="accent1"/>
          </a:solidFill>
          <a:ln w="12700">
            <a:solidFill>
              <a:schemeClr val="accent1"/>
            </a:solidFill>
            <a:prstDash val="solid"/>
          </a:ln>
        </p:spPr>
      </p:sp>
      <p:pic>
        <p:nvPicPr>
          <p:cNvPr id="19" name="Image 4" descr="preencoded.png"/>
          <p:cNvPicPr>
            <a:picLocks noChangeAspect="1"/>
          </p:cNvPicPr>
          <p:nvPr/>
        </p:nvPicPr>
        <p:blipFill>
          <a:blip r:embed="rId5"/>
          <a:stretch>
            <a:fillRect/>
          </a:stretch>
        </p:blipFill>
        <p:spPr>
          <a:xfrm>
            <a:off x="8074152" y="4830889"/>
            <a:ext cx="237744" cy="237744"/>
          </a:xfrm>
          <a:prstGeom prst="rect">
            <a:avLst/>
          </a:prstGeom>
        </p:spPr>
      </p:pic>
      <p:sp>
        <p:nvSpPr>
          <p:cNvPr id="20" name="Text 13"/>
          <p:cNvSpPr txBox="1"/>
          <p:nvPr/>
        </p:nvSpPr>
        <p:spPr>
          <a:xfrm>
            <a:off x="8613648" y="4693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Safe delete</a:t>
            </a:r>
            <a:endParaRPr lang="en-US" sz="1600" dirty="0"/>
          </a:p>
          <a:p>
            <a:pPr marL="0" indent="0">
              <a:spcAft>
                <a:spcPts val="200"/>
              </a:spcAft>
              <a:buNone/>
            </a:pPr>
            <a:r>
              <a:rPr lang="en-US" sz="1400" dirty="0">
                <a:solidFill>
                  <a:schemeClr val="bg2"/>
                </a:solidFill>
              </a:rPr>
              <a:t>Shows with bookings must be cancelled, not deleted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All bookings and refund decisions</a:t>
            </a:r>
            <a:endParaRPr lang="en-US" sz="3200" dirty="0"/>
          </a:p>
        </p:txBody>
      </p:sp>
      <p:sp>
        <p:nvSpPr>
          <p:cNvPr id="3" name="Window admin_booking"/>
          <p:cNvSpPr/>
          <p:nvPr/>
        </p:nvSpPr>
        <p:spPr>
          <a:xfrm>
            <a:off x="548640" y="1421363"/>
            <a:ext cx="5364328" cy="3283753"/>
          </a:xfrm>
          <a:prstGeom prst="roundRect">
            <a:avLst>
              <a:gd name="adj" fmla="val 2228"/>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508231"/>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508231"/>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508231"/>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439651"/>
            <a:ext cx="4541368" cy="237744"/>
          </a:xfrm>
          <a:prstGeom prst="rect">
            <a:avLst/>
          </a:prstGeom>
          <a:noFill/>
        </p:spPr>
        <p:txBody>
          <a:bodyPr wrap="square" lIns="0" tIns="0" rIns="0" bIns="0" rtlCol="0" anchor="ctr"/>
          <a:lstStyle/>
          <a:p>
            <a:pPr marL="0" indent="0">
              <a:buNone/>
            </a:pPr>
            <a:r>
              <a:rPr lang="en-US" sz="1000" dirty="0">
                <a:solidFill>
                  <a:schemeClr val="bg2"/>
                </a:solidFill>
              </a:rPr>
              <a:t>Admin/booking.php</a:t>
            </a:r>
            <a:endParaRPr lang="en-US" sz="1000" dirty="0"/>
          </a:p>
        </p:txBody>
      </p:sp>
      <p:pic>
        <p:nvPicPr>
          <p:cNvPr id="8" name="Screenshot admin_booking" descr="Screenshot: Admin/booking.php"/>
          <p:cNvPicPr>
            <a:picLocks noChangeAspect="1"/>
          </p:cNvPicPr>
          <p:nvPr/>
        </p:nvPicPr>
        <p:blipFill>
          <a:blip r:embed="rId1"/>
          <a:stretch>
            <a:fillRect/>
          </a:stretch>
        </p:blipFill>
        <p:spPr>
          <a:xfrm>
            <a:off x="612648" y="1695683"/>
            <a:ext cx="5236312" cy="2945425"/>
          </a:xfrm>
          <a:prstGeom prst="rect">
            <a:avLst/>
          </a:prstGeom>
        </p:spPr>
      </p:pic>
      <p:sp>
        <p:nvSpPr>
          <p:cNvPr id="9" name="Shape 6"/>
          <p:cNvSpPr/>
          <p:nvPr/>
        </p:nvSpPr>
        <p:spPr>
          <a:xfrm>
            <a:off x="548640" y="4979437"/>
            <a:ext cx="5364328" cy="1234440"/>
          </a:xfrm>
          <a:prstGeom prst="roundRect">
            <a:avLst>
              <a:gd name="adj" fmla="val 7407"/>
            </a:avLst>
          </a:prstGeom>
          <a:solidFill>
            <a:schemeClr val="tx2"/>
          </a:solidFill>
          <a:ln w="9525">
            <a:solidFill>
              <a:srgbClr val="3A3B48"/>
            </a:solidFill>
            <a:prstDash val="solid"/>
          </a:ln>
        </p:spPr>
      </p:sp>
      <p:sp>
        <p:nvSpPr>
          <p:cNvPr id="10" name="Shape 7"/>
          <p:cNvSpPr/>
          <p:nvPr/>
        </p:nvSpPr>
        <p:spPr>
          <a:xfrm>
            <a:off x="777240" y="5208037"/>
            <a:ext cx="457200" cy="457200"/>
          </a:xfrm>
          <a:prstGeom prst="ellipse">
            <a:avLst/>
          </a:prstGeom>
          <a:solidFill>
            <a:schemeClr val="accent1"/>
          </a:solidFill>
          <a:ln w="12700">
            <a:solidFill>
              <a:schemeClr val="accent1"/>
            </a:solidFill>
            <a:prstDash val="solid"/>
          </a:ln>
        </p:spPr>
      </p:sp>
      <p:pic>
        <p:nvPicPr>
          <p:cNvPr id="11" name="Image 1" descr="preencoded.png"/>
          <p:cNvPicPr>
            <a:picLocks noChangeAspect="1"/>
          </p:cNvPicPr>
          <p:nvPr/>
        </p:nvPicPr>
        <p:blipFill>
          <a:blip r:embed="rId2"/>
          <a:stretch>
            <a:fillRect/>
          </a:stretch>
        </p:blipFill>
        <p:spPr>
          <a:xfrm>
            <a:off x="891540" y="5322337"/>
            <a:ext cx="228600" cy="228600"/>
          </a:xfrm>
          <a:prstGeom prst="rect">
            <a:avLst/>
          </a:prstGeom>
        </p:spPr>
      </p:pic>
      <p:sp>
        <p:nvSpPr>
          <p:cNvPr id="12" name="Text 8"/>
          <p:cNvSpPr txBox="1"/>
          <p:nvPr/>
        </p:nvSpPr>
        <p:spPr>
          <a:xfrm>
            <a:off x="1417320" y="5162317"/>
            <a:ext cx="4312768" cy="91440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All bookings</a:t>
            </a:r>
            <a:endParaRPr lang="en-US" sz="1800" dirty="0"/>
          </a:p>
          <a:p>
            <a:pPr marL="0" indent="0">
              <a:spcAft>
                <a:spcPts val="400"/>
              </a:spcAft>
              <a:buNone/>
            </a:pPr>
            <a:r>
              <a:rPr lang="en-US" sz="1400" dirty="0">
                <a:solidFill>
                  <a:schemeClr val="bg2"/>
                </a:solidFill>
              </a:rPr>
              <a:t>Filter by reference, date range, movie and status; view seats, snacks, discount and payment</a:t>
            </a:r>
            <a:endParaRPr lang="en-US" sz="1800" dirty="0"/>
          </a:p>
        </p:txBody>
      </p:sp>
      <p:sp>
        <p:nvSpPr>
          <p:cNvPr id="13" name="Window admin_refunds"/>
          <p:cNvSpPr/>
          <p:nvPr/>
        </p:nvSpPr>
        <p:spPr>
          <a:xfrm>
            <a:off x="6278728" y="1421363"/>
            <a:ext cx="5364328" cy="3283753"/>
          </a:xfrm>
          <a:prstGeom prst="roundRect">
            <a:avLst>
              <a:gd name="adj" fmla="val 2228"/>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14" name="Shape 10"/>
          <p:cNvSpPr/>
          <p:nvPr/>
        </p:nvSpPr>
        <p:spPr>
          <a:xfrm>
            <a:off x="6406744" y="1508231"/>
            <a:ext cx="100584" cy="100584"/>
          </a:xfrm>
          <a:prstGeom prst="ellipse">
            <a:avLst/>
          </a:prstGeom>
          <a:solidFill>
            <a:srgbClr val="FF5F57"/>
          </a:solidFill>
          <a:ln w="12700">
            <a:solidFill>
              <a:srgbClr val="FF5F57"/>
            </a:solidFill>
            <a:prstDash val="solid"/>
          </a:ln>
        </p:spPr>
      </p:sp>
      <p:sp>
        <p:nvSpPr>
          <p:cNvPr id="15" name="Shape 11"/>
          <p:cNvSpPr/>
          <p:nvPr/>
        </p:nvSpPr>
        <p:spPr>
          <a:xfrm>
            <a:off x="6562192" y="1508231"/>
            <a:ext cx="100584" cy="100584"/>
          </a:xfrm>
          <a:prstGeom prst="ellipse">
            <a:avLst/>
          </a:prstGeom>
          <a:solidFill>
            <a:srgbClr val="FEBC2E"/>
          </a:solidFill>
          <a:ln w="12700">
            <a:solidFill>
              <a:srgbClr val="FEBC2E"/>
            </a:solidFill>
            <a:prstDash val="solid"/>
          </a:ln>
        </p:spPr>
      </p:sp>
      <p:sp>
        <p:nvSpPr>
          <p:cNvPr id="16" name="Shape 12"/>
          <p:cNvSpPr/>
          <p:nvPr/>
        </p:nvSpPr>
        <p:spPr>
          <a:xfrm>
            <a:off x="6717640" y="1508231"/>
            <a:ext cx="100584" cy="100584"/>
          </a:xfrm>
          <a:prstGeom prst="ellipse">
            <a:avLst/>
          </a:prstGeom>
          <a:solidFill>
            <a:srgbClr val="28C840"/>
          </a:solidFill>
          <a:ln w="12700">
            <a:solidFill>
              <a:srgbClr val="28C840"/>
            </a:solidFill>
            <a:prstDash val="solid"/>
          </a:ln>
        </p:spPr>
      </p:sp>
      <p:sp>
        <p:nvSpPr>
          <p:cNvPr id="17" name="Text 13"/>
          <p:cNvSpPr txBox="1"/>
          <p:nvPr/>
        </p:nvSpPr>
        <p:spPr>
          <a:xfrm>
            <a:off x="6964528" y="1439651"/>
            <a:ext cx="4541368" cy="237744"/>
          </a:xfrm>
          <a:prstGeom prst="rect">
            <a:avLst/>
          </a:prstGeom>
          <a:noFill/>
        </p:spPr>
        <p:txBody>
          <a:bodyPr wrap="square" lIns="0" tIns="0" rIns="0" bIns="0" rtlCol="0" anchor="ctr"/>
          <a:lstStyle/>
          <a:p>
            <a:pPr marL="0" indent="0">
              <a:buNone/>
            </a:pPr>
            <a:r>
              <a:rPr lang="en-US" sz="1000" dirty="0">
                <a:solidFill>
                  <a:schemeClr val="bg2"/>
                </a:solidFill>
              </a:rPr>
              <a:t>Admin/refunds.php</a:t>
            </a:r>
            <a:endParaRPr lang="en-US" sz="1000" dirty="0"/>
          </a:p>
        </p:txBody>
      </p:sp>
      <p:pic>
        <p:nvPicPr>
          <p:cNvPr id="18" name="Screenshot admin_refunds" descr="Screenshot: Admin/refunds.php"/>
          <p:cNvPicPr>
            <a:picLocks noChangeAspect="1"/>
          </p:cNvPicPr>
          <p:nvPr/>
        </p:nvPicPr>
        <p:blipFill>
          <a:blip r:embed="rId3"/>
          <a:stretch>
            <a:fillRect/>
          </a:stretch>
        </p:blipFill>
        <p:spPr>
          <a:xfrm>
            <a:off x="6342736" y="1695683"/>
            <a:ext cx="5236312" cy="2945425"/>
          </a:xfrm>
          <a:prstGeom prst="rect">
            <a:avLst/>
          </a:prstGeom>
        </p:spPr>
      </p:pic>
      <p:sp>
        <p:nvSpPr>
          <p:cNvPr id="19" name="Shape 14"/>
          <p:cNvSpPr/>
          <p:nvPr/>
        </p:nvSpPr>
        <p:spPr>
          <a:xfrm>
            <a:off x="6278728" y="4979437"/>
            <a:ext cx="5364328" cy="1234440"/>
          </a:xfrm>
          <a:prstGeom prst="roundRect">
            <a:avLst>
              <a:gd name="adj" fmla="val 7407"/>
            </a:avLst>
          </a:prstGeom>
          <a:solidFill>
            <a:schemeClr val="tx2"/>
          </a:solidFill>
          <a:ln w="9525">
            <a:solidFill>
              <a:srgbClr val="3A3B48"/>
            </a:solidFill>
            <a:prstDash val="solid"/>
          </a:ln>
        </p:spPr>
      </p:sp>
      <p:sp>
        <p:nvSpPr>
          <p:cNvPr id="20" name="Shape 15"/>
          <p:cNvSpPr/>
          <p:nvPr/>
        </p:nvSpPr>
        <p:spPr>
          <a:xfrm>
            <a:off x="6507328" y="5208037"/>
            <a:ext cx="457200" cy="457200"/>
          </a:xfrm>
          <a:prstGeom prst="ellipse">
            <a:avLst/>
          </a:prstGeom>
          <a:solidFill>
            <a:schemeClr val="accent1"/>
          </a:solidFill>
          <a:ln w="12700">
            <a:solidFill>
              <a:schemeClr val="accent1"/>
            </a:solidFill>
            <a:prstDash val="solid"/>
          </a:ln>
        </p:spPr>
      </p:sp>
      <p:pic>
        <p:nvPicPr>
          <p:cNvPr id="21" name="Image 3" descr="preencoded.png"/>
          <p:cNvPicPr>
            <a:picLocks noChangeAspect="1"/>
          </p:cNvPicPr>
          <p:nvPr/>
        </p:nvPicPr>
        <p:blipFill>
          <a:blip r:embed="rId4"/>
          <a:stretch>
            <a:fillRect/>
          </a:stretch>
        </p:blipFill>
        <p:spPr>
          <a:xfrm>
            <a:off x="6621628" y="5322337"/>
            <a:ext cx="228600" cy="228600"/>
          </a:xfrm>
          <a:prstGeom prst="rect">
            <a:avLst/>
          </a:prstGeom>
        </p:spPr>
      </p:pic>
      <p:sp>
        <p:nvSpPr>
          <p:cNvPr id="22" name="Text 16"/>
          <p:cNvSpPr txBox="1"/>
          <p:nvPr/>
        </p:nvSpPr>
        <p:spPr>
          <a:xfrm>
            <a:off x="7147408" y="5162317"/>
            <a:ext cx="4312768" cy="91440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Refunds</a:t>
            </a:r>
            <a:endParaRPr lang="en-US" sz="1800" dirty="0"/>
          </a:p>
          <a:p>
            <a:pPr marL="0" indent="0">
              <a:spcAft>
                <a:spcPts val="400"/>
              </a:spcAft>
              <a:buNone/>
            </a:pPr>
            <a:r>
              <a:rPr lang="en-US" sz="1400" dirty="0">
                <a:solidFill>
                  <a:schemeClr val="bg2"/>
                </a:solidFill>
              </a:rPr>
              <a:t>Pending, Refunded and Rejected tabs; approve, or reject with a reason the customer sees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QR ticket scanner at the door</a:t>
            </a:r>
            <a:endParaRPr lang="en-US" sz="3200" dirty="0"/>
          </a:p>
        </p:txBody>
      </p:sp>
      <p:sp>
        <p:nvSpPr>
          <p:cNvPr id="3" name="Window admin_scan_ticket"/>
          <p:cNvSpPr/>
          <p:nvPr/>
        </p:nvSpPr>
        <p:spPr>
          <a:xfrm>
            <a:off x="4693615"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4821631"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4977079"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5132527"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5379415"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Admin/scan_ticket.php</a:t>
            </a:r>
            <a:endParaRPr lang="en-US" sz="1000" dirty="0"/>
          </a:p>
        </p:txBody>
      </p:sp>
      <p:pic>
        <p:nvPicPr>
          <p:cNvPr id="8" name="Screenshot admin_scan_ticket" descr="Screenshot: Admin/scan_ticket.php"/>
          <p:cNvPicPr>
            <a:picLocks noChangeAspect="1"/>
          </p:cNvPicPr>
          <p:nvPr/>
        </p:nvPicPr>
        <p:blipFill>
          <a:blip r:embed="rId1"/>
          <a:stretch>
            <a:fillRect/>
          </a:stretch>
        </p:blipFill>
        <p:spPr>
          <a:xfrm>
            <a:off x="4757623" y="1691640"/>
            <a:ext cx="6821424" cy="3837051"/>
          </a:xfrm>
          <a:prstGeom prst="rect">
            <a:avLst/>
          </a:prstGeom>
        </p:spPr>
      </p:pic>
      <p:sp>
        <p:nvSpPr>
          <p:cNvPr id="9" name="Shape 6"/>
          <p:cNvSpPr/>
          <p:nvPr/>
        </p:nvSpPr>
        <p:spPr>
          <a:xfrm>
            <a:off x="548640" y="12830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667512" y="1401890"/>
            <a:ext cx="237744" cy="237744"/>
          </a:xfrm>
          <a:prstGeom prst="rect">
            <a:avLst/>
          </a:prstGeom>
        </p:spPr>
      </p:pic>
      <p:sp>
        <p:nvSpPr>
          <p:cNvPr id="11" name="Text 7"/>
          <p:cNvSpPr txBox="1"/>
          <p:nvPr/>
        </p:nvSpPr>
        <p:spPr>
          <a:xfrm>
            <a:off x="1207008" y="1264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Camera or manual entry</a:t>
            </a:r>
            <a:endParaRPr lang="en-US" sz="1600" dirty="0"/>
          </a:p>
          <a:p>
            <a:pPr marL="0" indent="0">
              <a:spcAft>
                <a:spcPts val="200"/>
              </a:spcAft>
              <a:buNone/>
            </a:pPr>
            <a:r>
              <a:rPr lang="en-US" sz="1400" dirty="0">
                <a:solidFill>
                  <a:schemeClr val="bg2"/>
                </a:solidFill>
              </a:rPr>
              <a:t>html5-qrcode reads the ticket QR from a phone or printout</a:t>
            </a:r>
            <a:endParaRPr lang="en-US" sz="1600" dirty="0"/>
          </a:p>
        </p:txBody>
      </p:sp>
      <p:sp>
        <p:nvSpPr>
          <p:cNvPr id="12" name="Shape 8"/>
          <p:cNvSpPr/>
          <p:nvPr/>
        </p:nvSpPr>
        <p:spPr>
          <a:xfrm>
            <a:off x="548640" y="24260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667512" y="2544890"/>
            <a:ext cx="237744" cy="237744"/>
          </a:xfrm>
          <a:prstGeom prst="rect">
            <a:avLst/>
          </a:prstGeom>
        </p:spPr>
      </p:pic>
      <p:sp>
        <p:nvSpPr>
          <p:cNvPr id="14" name="Text 9"/>
          <p:cNvSpPr txBox="1"/>
          <p:nvPr/>
        </p:nvSpPr>
        <p:spPr>
          <a:xfrm>
            <a:off x="1207008" y="2407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VALID</a:t>
            </a:r>
            <a:endParaRPr lang="en-US" sz="1600" dirty="0"/>
          </a:p>
          <a:p>
            <a:pPr marL="0" indent="0">
              <a:spcAft>
                <a:spcPts val="200"/>
              </a:spcAft>
              <a:buNone/>
            </a:pPr>
            <a:r>
              <a:rPr lang="en-US" sz="1400" dirty="0">
                <a:solidFill>
                  <a:schemeClr val="bg2"/>
                </a:solidFill>
              </a:rPr>
              <a:t>Booked ticket: entry allowed, status becomes Used with a check-in time</a:t>
            </a:r>
            <a:endParaRPr lang="en-US" sz="1600" dirty="0"/>
          </a:p>
        </p:txBody>
      </p:sp>
      <p:sp>
        <p:nvSpPr>
          <p:cNvPr id="15" name="Shape 10"/>
          <p:cNvSpPr/>
          <p:nvPr/>
        </p:nvSpPr>
        <p:spPr>
          <a:xfrm>
            <a:off x="548640" y="3569018"/>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667512" y="3687890"/>
            <a:ext cx="237744" cy="237744"/>
          </a:xfrm>
          <a:prstGeom prst="rect">
            <a:avLst/>
          </a:prstGeom>
        </p:spPr>
      </p:pic>
      <p:sp>
        <p:nvSpPr>
          <p:cNvPr id="17" name="Text 11"/>
          <p:cNvSpPr txBox="1"/>
          <p:nvPr/>
        </p:nvSpPr>
        <p:spPr>
          <a:xfrm>
            <a:off x="1207008" y="3550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ALREADY USED</a:t>
            </a:r>
            <a:endParaRPr lang="en-US" sz="1600" dirty="0"/>
          </a:p>
          <a:p>
            <a:pPr marL="0" indent="0">
              <a:spcAft>
                <a:spcPts val="200"/>
              </a:spcAft>
              <a:buNone/>
            </a:pPr>
            <a:r>
              <a:rPr lang="en-US" sz="1400" dirty="0">
                <a:solidFill>
                  <a:schemeClr val="bg2"/>
                </a:solidFill>
              </a:rPr>
              <a:t>A second scan of the same ticket is refused</a:t>
            </a:r>
            <a:endParaRPr lang="en-US" sz="1600" dirty="0"/>
          </a:p>
        </p:txBody>
      </p:sp>
      <p:sp>
        <p:nvSpPr>
          <p:cNvPr id="18" name="Shape 12"/>
          <p:cNvSpPr/>
          <p:nvPr/>
        </p:nvSpPr>
        <p:spPr>
          <a:xfrm>
            <a:off x="548640" y="4712017"/>
            <a:ext cx="475488" cy="475488"/>
          </a:xfrm>
          <a:prstGeom prst="ellipse">
            <a:avLst/>
          </a:prstGeom>
          <a:solidFill>
            <a:schemeClr val="accent1"/>
          </a:solidFill>
          <a:ln w="12700">
            <a:solidFill>
              <a:schemeClr val="accent1"/>
            </a:solidFill>
            <a:prstDash val="solid"/>
          </a:ln>
        </p:spPr>
      </p:sp>
      <p:pic>
        <p:nvPicPr>
          <p:cNvPr id="19" name="Image 4" descr="preencoded.png"/>
          <p:cNvPicPr>
            <a:picLocks noChangeAspect="1"/>
          </p:cNvPicPr>
          <p:nvPr/>
        </p:nvPicPr>
        <p:blipFill>
          <a:blip r:embed="rId5"/>
          <a:stretch>
            <a:fillRect/>
          </a:stretch>
        </p:blipFill>
        <p:spPr>
          <a:xfrm>
            <a:off x="667512" y="4830889"/>
            <a:ext cx="237744" cy="237744"/>
          </a:xfrm>
          <a:prstGeom prst="rect">
            <a:avLst/>
          </a:prstGeom>
        </p:spPr>
      </p:pic>
      <p:sp>
        <p:nvSpPr>
          <p:cNvPr id="20" name="Text 13"/>
          <p:cNvSpPr txBox="1"/>
          <p:nvPr/>
        </p:nvSpPr>
        <p:spPr>
          <a:xfrm>
            <a:off x="1207008" y="4693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CANCELLED / NOT FOUND</a:t>
            </a:r>
            <a:endParaRPr lang="en-US" sz="1600" dirty="0"/>
          </a:p>
          <a:p>
            <a:pPr marL="0" indent="0">
              <a:spcAft>
                <a:spcPts val="200"/>
              </a:spcAft>
              <a:buNone/>
            </a:pPr>
            <a:r>
              <a:rPr lang="en-US" sz="1400" dirty="0">
                <a:solidFill>
                  <a:schemeClr val="bg2"/>
                </a:solidFill>
              </a:rPr>
              <a:t>Cancelled or unknown references are rejected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Sales reports</a:t>
            </a:r>
            <a:endParaRPr lang="en-US" sz="3200" dirty="0"/>
          </a:p>
        </p:txBody>
      </p:sp>
      <p:sp>
        <p:nvSpPr>
          <p:cNvPr id="3" name="Window admin_reports"/>
          <p:cNvSpPr/>
          <p:nvPr/>
        </p:nvSpPr>
        <p:spPr>
          <a:xfrm>
            <a:off x="548640" y="1417320"/>
            <a:ext cx="6949440" cy="4175379"/>
          </a:xfrm>
          <a:prstGeom prst="roundRect">
            <a:avLst>
              <a:gd name="adj" fmla="val 1752"/>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504188"/>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504188"/>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504188"/>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435608"/>
            <a:ext cx="6126480" cy="237744"/>
          </a:xfrm>
          <a:prstGeom prst="rect">
            <a:avLst/>
          </a:prstGeom>
          <a:noFill/>
        </p:spPr>
        <p:txBody>
          <a:bodyPr wrap="square" lIns="0" tIns="0" rIns="0" bIns="0" rtlCol="0" anchor="ctr"/>
          <a:lstStyle/>
          <a:p>
            <a:pPr marL="0" indent="0">
              <a:buNone/>
            </a:pPr>
            <a:r>
              <a:rPr lang="en-US" sz="1000" dirty="0">
                <a:solidFill>
                  <a:schemeClr val="bg2"/>
                </a:solidFill>
              </a:rPr>
              <a:t>Admin/reports.php</a:t>
            </a:r>
            <a:endParaRPr lang="en-US" sz="1000" dirty="0"/>
          </a:p>
        </p:txBody>
      </p:sp>
      <p:pic>
        <p:nvPicPr>
          <p:cNvPr id="8" name="Screenshot admin_reports" descr="Screenshot: Admin/reports.php"/>
          <p:cNvPicPr>
            <a:picLocks noChangeAspect="1"/>
          </p:cNvPicPr>
          <p:nvPr/>
        </p:nvPicPr>
        <p:blipFill>
          <a:blip r:embed="rId1"/>
          <a:stretch>
            <a:fillRect/>
          </a:stretch>
        </p:blipFill>
        <p:spPr>
          <a:xfrm>
            <a:off x="612648" y="1691640"/>
            <a:ext cx="6821424" cy="3837051"/>
          </a:xfrm>
          <a:prstGeom prst="rect">
            <a:avLst/>
          </a:prstGeom>
        </p:spPr>
      </p:pic>
      <p:sp>
        <p:nvSpPr>
          <p:cNvPr id="9" name="Shape 6"/>
          <p:cNvSpPr/>
          <p:nvPr/>
        </p:nvSpPr>
        <p:spPr>
          <a:xfrm>
            <a:off x="7955280" y="1283018"/>
            <a:ext cx="475488" cy="475488"/>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8074152" y="1401890"/>
            <a:ext cx="237744" cy="237744"/>
          </a:xfrm>
          <a:prstGeom prst="rect">
            <a:avLst/>
          </a:prstGeom>
        </p:spPr>
      </p:pic>
      <p:sp>
        <p:nvSpPr>
          <p:cNvPr id="11" name="Text 7"/>
          <p:cNvSpPr txBox="1"/>
          <p:nvPr/>
        </p:nvSpPr>
        <p:spPr>
          <a:xfrm>
            <a:off x="8613648" y="1264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Any date range</a:t>
            </a:r>
            <a:endParaRPr lang="en-US" sz="1600" dirty="0"/>
          </a:p>
          <a:p>
            <a:pPr marL="0" indent="0">
              <a:spcAft>
                <a:spcPts val="200"/>
              </a:spcAft>
              <a:buNone/>
            </a:pPr>
            <a:r>
              <a:rPr lang="en-US" sz="1400" dirty="0">
                <a:solidFill>
                  <a:schemeClr val="bg2"/>
                </a:solidFill>
              </a:rPr>
              <a:t>Today, last 7 days, this month, this year or custom</a:t>
            </a:r>
            <a:endParaRPr lang="en-US" sz="1600" dirty="0"/>
          </a:p>
        </p:txBody>
      </p:sp>
      <p:sp>
        <p:nvSpPr>
          <p:cNvPr id="12" name="Shape 8"/>
          <p:cNvSpPr/>
          <p:nvPr/>
        </p:nvSpPr>
        <p:spPr>
          <a:xfrm>
            <a:off x="7955280" y="2426018"/>
            <a:ext cx="475488" cy="475488"/>
          </a:xfrm>
          <a:prstGeom prst="ellipse">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3"/>
          <a:stretch>
            <a:fillRect/>
          </a:stretch>
        </p:blipFill>
        <p:spPr>
          <a:xfrm>
            <a:off x="8074152" y="2544890"/>
            <a:ext cx="237744" cy="237744"/>
          </a:xfrm>
          <a:prstGeom prst="rect">
            <a:avLst/>
          </a:prstGeom>
        </p:spPr>
      </p:pic>
      <p:sp>
        <p:nvSpPr>
          <p:cNvPr id="14" name="Text 9"/>
          <p:cNvSpPr txBox="1"/>
          <p:nvPr/>
        </p:nvSpPr>
        <p:spPr>
          <a:xfrm>
            <a:off x="8613648" y="2407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Revenue breakdown</a:t>
            </a:r>
            <a:endParaRPr lang="en-US" sz="1600" dirty="0"/>
          </a:p>
          <a:p>
            <a:pPr marL="0" indent="0">
              <a:spcAft>
                <a:spcPts val="200"/>
              </a:spcAft>
              <a:buNone/>
            </a:pPr>
            <a:r>
              <a:rPr lang="en-US" sz="1400" dirty="0">
                <a:solidFill>
                  <a:schemeClr val="bg2"/>
                </a:solidFill>
              </a:rPr>
              <a:t>Net and gross revenue, tickets, refunds, snacks and discounts</a:t>
            </a:r>
            <a:endParaRPr lang="en-US" sz="1600" dirty="0"/>
          </a:p>
        </p:txBody>
      </p:sp>
      <p:sp>
        <p:nvSpPr>
          <p:cNvPr id="15" name="Shape 10"/>
          <p:cNvSpPr/>
          <p:nvPr/>
        </p:nvSpPr>
        <p:spPr>
          <a:xfrm>
            <a:off x="7955280" y="3569018"/>
            <a:ext cx="475488" cy="475488"/>
          </a:xfrm>
          <a:prstGeom prst="ellipse">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4"/>
          <a:stretch>
            <a:fillRect/>
          </a:stretch>
        </p:blipFill>
        <p:spPr>
          <a:xfrm>
            <a:off x="8074152" y="3687890"/>
            <a:ext cx="237744" cy="237744"/>
          </a:xfrm>
          <a:prstGeom prst="rect">
            <a:avLst/>
          </a:prstGeom>
        </p:spPr>
      </p:pic>
      <p:sp>
        <p:nvSpPr>
          <p:cNvPr id="17" name="Text 11"/>
          <p:cNvSpPr txBox="1"/>
          <p:nvPr/>
        </p:nvSpPr>
        <p:spPr>
          <a:xfrm>
            <a:off x="8613648" y="3550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Export CSV</a:t>
            </a:r>
            <a:endParaRPr lang="en-US" sz="1600" dirty="0"/>
          </a:p>
          <a:p>
            <a:pPr marL="0" indent="0">
              <a:spcAft>
                <a:spcPts val="200"/>
              </a:spcAft>
              <a:buNone/>
            </a:pPr>
            <a:r>
              <a:rPr lang="en-US" sz="1400" dirty="0">
                <a:solidFill>
                  <a:schemeClr val="bg2"/>
                </a:solidFill>
              </a:rPr>
              <a:t>Opens in Excel; per-movie and per-cinema tables</a:t>
            </a:r>
            <a:endParaRPr lang="en-US" sz="1600" dirty="0"/>
          </a:p>
        </p:txBody>
      </p:sp>
      <p:sp>
        <p:nvSpPr>
          <p:cNvPr id="18" name="Shape 12"/>
          <p:cNvSpPr/>
          <p:nvPr/>
        </p:nvSpPr>
        <p:spPr>
          <a:xfrm>
            <a:off x="7955280" y="4712017"/>
            <a:ext cx="475488" cy="475488"/>
          </a:xfrm>
          <a:prstGeom prst="ellipse">
            <a:avLst/>
          </a:prstGeom>
          <a:solidFill>
            <a:schemeClr val="accent1"/>
          </a:solidFill>
          <a:ln w="12700">
            <a:solidFill>
              <a:schemeClr val="accent1"/>
            </a:solidFill>
            <a:prstDash val="solid"/>
          </a:ln>
        </p:spPr>
      </p:sp>
      <p:pic>
        <p:nvPicPr>
          <p:cNvPr id="19" name="Image 4" descr="preencoded.png"/>
          <p:cNvPicPr>
            <a:picLocks noChangeAspect="1"/>
          </p:cNvPicPr>
          <p:nvPr/>
        </p:nvPicPr>
        <p:blipFill>
          <a:blip r:embed="rId5"/>
          <a:stretch>
            <a:fillRect/>
          </a:stretch>
        </p:blipFill>
        <p:spPr>
          <a:xfrm>
            <a:off x="8074152" y="4830889"/>
            <a:ext cx="237744" cy="237744"/>
          </a:xfrm>
          <a:prstGeom prst="rect">
            <a:avLst/>
          </a:prstGeom>
        </p:spPr>
      </p:pic>
      <p:sp>
        <p:nvSpPr>
          <p:cNvPr id="20" name="Text 13"/>
          <p:cNvSpPr txBox="1"/>
          <p:nvPr/>
        </p:nvSpPr>
        <p:spPr>
          <a:xfrm>
            <a:off x="8613648" y="4693730"/>
            <a:ext cx="3029407" cy="1051560"/>
          </a:xfrm>
          <a:prstGeom prst="rect">
            <a:avLst/>
          </a:prstGeom>
          <a:noFill/>
        </p:spPr>
        <p:txBody>
          <a:bodyPr wrap="square" lIns="0" tIns="0" rIns="0" bIns="0" rtlCol="0" anchor="t"/>
          <a:lstStyle/>
          <a:p>
            <a:pPr marL="0" indent="0">
              <a:spcAft>
                <a:spcPts val="200"/>
              </a:spcAft>
              <a:buNone/>
            </a:pPr>
            <a:r>
              <a:rPr lang="en-US" sz="1600" b="1" dirty="0">
                <a:solidFill>
                  <a:schemeClr val="bg1"/>
                </a:solidFill>
              </a:rPr>
              <a:t>Print view</a:t>
            </a:r>
            <a:endParaRPr lang="en-US" sz="1600" dirty="0"/>
          </a:p>
          <a:p>
            <a:pPr marL="0" indent="0">
              <a:spcAft>
                <a:spcPts val="200"/>
              </a:spcAft>
              <a:buNone/>
            </a:pPr>
            <a:r>
              <a:rPr lang="en-US" sz="1400" dirty="0">
                <a:solidFill>
                  <a:schemeClr val="bg2"/>
                </a:solidFill>
              </a:rPr>
              <a:t>Clean printable report for management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Snacks, promo codes and Coming Soon</a:t>
            </a:r>
            <a:endParaRPr lang="en-US" sz="3200" dirty="0"/>
          </a:p>
        </p:txBody>
      </p:sp>
      <p:sp>
        <p:nvSpPr>
          <p:cNvPr id="3" name="Window admin_snacks"/>
          <p:cNvSpPr/>
          <p:nvPr/>
        </p:nvSpPr>
        <p:spPr>
          <a:xfrm>
            <a:off x="548640" y="1758534"/>
            <a:ext cx="3515258" cy="2243652"/>
          </a:xfrm>
          <a:prstGeom prst="roundRect">
            <a:avLst>
              <a:gd name="adj" fmla="val 3260"/>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845402"/>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845402"/>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845402"/>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776822"/>
            <a:ext cx="2692298" cy="237744"/>
          </a:xfrm>
          <a:prstGeom prst="rect">
            <a:avLst/>
          </a:prstGeom>
          <a:noFill/>
        </p:spPr>
        <p:txBody>
          <a:bodyPr wrap="square" lIns="0" tIns="0" rIns="0" bIns="0" rtlCol="0" anchor="ctr"/>
          <a:lstStyle/>
          <a:p>
            <a:pPr marL="0" indent="0">
              <a:buNone/>
            </a:pPr>
            <a:r>
              <a:rPr lang="en-US" sz="1000" dirty="0">
                <a:solidFill>
                  <a:schemeClr val="bg2"/>
                </a:solidFill>
              </a:rPr>
              <a:t>Admin/snacks.php</a:t>
            </a:r>
            <a:endParaRPr lang="en-US" sz="1000" dirty="0"/>
          </a:p>
        </p:txBody>
      </p:sp>
      <p:pic>
        <p:nvPicPr>
          <p:cNvPr id="8" name="Screenshot admin_snacks" descr="Screenshot: Admin/snacks.php"/>
          <p:cNvPicPr>
            <a:picLocks noChangeAspect="1"/>
          </p:cNvPicPr>
          <p:nvPr/>
        </p:nvPicPr>
        <p:blipFill>
          <a:blip r:embed="rId1"/>
          <a:stretch>
            <a:fillRect/>
          </a:stretch>
        </p:blipFill>
        <p:spPr>
          <a:xfrm>
            <a:off x="612648" y="2032854"/>
            <a:ext cx="3387242" cy="1905324"/>
          </a:xfrm>
          <a:prstGeom prst="rect">
            <a:avLst/>
          </a:prstGeom>
        </p:spPr>
      </p:pic>
      <p:sp>
        <p:nvSpPr>
          <p:cNvPr id="9" name="Shape 6"/>
          <p:cNvSpPr/>
          <p:nvPr/>
        </p:nvSpPr>
        <p:spPr>
          <a:xfrm>
            <a:off x="548640" y="4276506"/>
            <a:ext cx="3515258" cy="1600200"/>
          </a:xfrm>
          <a:prstGeom prst="roundRect">
            <a:avLst>
              <a:gd name="adj" fmla="val 5714"/>
            </a:avLst>
          </a:prstGeom>
          <a:solidFill>
            <a:schemeClr val="tx2"/>
          </a:solidFill>
          <a:ln w="9525">
            <a:solidFill>
              <a:srgbClr val="3A3B48"/>
            </a:solidFill>
            <a:prstDash val="solid"/>
          </a:ln>
        </p:spPr>
      </p:sp>
      <p:sp>
        <p:nvSpPr>
          <p:cNvPr id="10" name="Shape 7"/>
          <p:cNvSpPr/>
          <p:nvPr/>
        </p:nvSpPr>
        <p:spPr>
          <a:xfrm>
            <a:off x="777240" y="4505106"/>
            <a:ext cx="457200" cy="457200"/>
          </a:xfrm>
          <a:prstGeom prst="ellipse">
            <a:avLst/>
          </a:prstGeom>
          <a:solidFill>
            <a:schemeClr val="accent1"/>
          </a:solidFill>
          <a:ln w="12700">
            <a:solidFill>
              <a:schemeClr val="accent1"/>
            </a:solidFill>
            <a:prstDash val="solid"/>
          </a:ln>
        </p:spPr>
      </p:sp>
      <p:pic>
        <p:nvPicPr>
          <p:cNvPr id="11" name="Image 1" descr="preencoded.png"/>
          <p:cNvPicPr>
            <a:picLocks noChangeAspect="1"/>
          </p:cNvPicPr>
          <p:nvPr/>
        </p:nvPicPr>
        <p:blipFill>
          <a:blip r:embed="rId2"/>
          <a:stretch>
            <a:fillRect/>
          </a:stretch>
        </p:blipFill>
        <p:spPr>
          <a:xfrm>
            <a:off x="891540" y="4619406"/>
            <a:ext cx="228600" cy="228600"/>
          </a:xfrm>
          <a:prstGeom prst="rect">
            <a:avLst/>
          </a:prstGeom>
        </p:spPr>
      </p:pic>
      <p:sp>
        <p:nvSpPr>
          <p:cNvPr id="12" name="Text 8"/>
          <p:cNvSpPr txBox="1"/>
          <p:nvPr/>
        </p:nvSpPr>
        <p:spPr>
          <a:xfrm>
            <a:off x="1417320" y="4459386"/>
            <a:ext cx="2463698" cy="128016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Snacks</a:t>
            </a:r>
            <a:endParaRPr lang="en-US" sz="1800" dirty="0"/>
          </a:p>
          <a:p>
            <a:pPr marL="0" indent="0">
              <a:spcAft>
                <a:spcPts val="400"/>
              </a:spcAft>
              <a:buNone/>
            </a:pPr>
            <a:r>
              <a:rPr lang="en-US" sz="1400" dirty="0">
                <a:solidFill>
                  <a:schemeClr val="bg2"/>
                </a:solidFill>
              </a:rPr>
              <a:t>Name, price and image; sold snacks are deactivated, not deleted</a:t>
            </a:r>
            <a:endParaRPr lang="en-US" sz="1800" dirty="0"/>
          </a:p>
        </p:txBody>
      </p:sp>
      <p:sp>
        <p:nvSpPr>
          <p:cNvPr id="13" name="Window admin_promo_codes"/>
          <p:cNvSpPr/>
          <p:nvPr/>
        </p:nvSpPr>
        <p:spPr>
          <a:xfrm>
            <a:off x="4338218" y="1758534"/>
            <a:ext cx="3515258" cy="2243652"/>
          </a:xfrm>
          <a:prstGeom prst="roundRect">
            <a:avLst>
              <a:gd name="adj" fmla="val 3260"/>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14" name="Shape 10"/>
          <p:cNvSpPr/>
          <p:nvPr/>
        </p:nvSpPr>
        <p:spPr>
          <a:xfrm>
            <a:off x="4466234" y="1845402"/>
            <a:ext cx="100584" cy="100584"/>
          </a:xfrm>
          <a:prstGeom prst="ellipse">
            <a:avLst/>
          </a:prstGeom>
          <a:solidFill>
            <a:srgbClr val="FF5F57"/>
          </a:solidFill>
          <a:ln w="12700">
            <a:solidFill>
              <a:srgbClr val="FF5F57"/>
            </a:solidFill>
            <a:prstDash val="solid"/>
          </a:ln>
        </p:spPr>
      </p:sp>
      <p:sp>
        <p:nvSpPr>
          <p:cNvPr id="15" name="Shape 11"/>
          <p:cNvSpPr/>
          <p:nvPr/>
        </p:nvSpPr>
        <p:spPr>
          <a:xfrm>
            <a:off x="4621682" y="1845402"/>
            <a:ext cx="100584" cy="100584"/>
          </a:xfrm>
          <a:prstGeom prst="ellipse">
            <a:avLst/>
          </a:prstGeom>
          <a:solidFill>
            <a:srgbClr val="FEBC2E"/>
          </a:solidFill>
          <a:ln w="12700">
            <a:solidFill>
              <a:srgbClr val="FEBC2E"/>
            </a:solidFill>
            <a:prstDash val="solid"/>
          </a:ln>
        </p:spPr>
      </p:sp>
      <p:sp>
        <p:nvSpPr>
          <p:cNvPr id="16" name="Shape 12"/>
          <p:cNvSpPr/>
          <p:nvPr/>
        </p:nvSpPr>
        <p:spPr>
          <a:xfrm>
            <a:off x="4777130" y="1845402"/>
            <a:ext cx="100584" cy="100584"/>
          </a:xfrm>
          <a:prstGeom prst="ellipse">
            <a:avLst/>
          </a:prstGeom>
          <a:solidFill>
            <a:srgbClr val="28C840"/>
          </a:solidFill>
          <a:ln w="12700">
            <a:solidFill>
              <a:srgbClr val="28C840"/>
            </a:solidFill>
            <a:prstDash val="solid"/>
          </a:ln>
        </p:spPr>
      </p:sp>
      <p:sp>
        <p:nvSpPr>
          <p:cNvPr id="17" name="Text 13"/>
          <p:cNvSpPr txBox="1"/>
          <p:nvPr/>
        </p:nvSpPr>
        <p:spPr>
          <a:xfrm>
            <a:off x="5024018" y="1776822"/>
            <a:ext cx="2692298" cy="237744"/>
          </a:xfrm>
          <a:prstGeom prst="rect">
            <a:avLst/>
          </a:prstGeom>
          <a:noFill/>
        </p:spPr>
        <p:txBody>
          <a:bodyPr wrap="square" lIns="0" tIns="0" rIns="0" bIns="0" rtlCol="0" anchor="ctr"/>
          <a:lstStyle/>
          <a:p>
            <a:pPr marL="0" indent="0">
              <a:buNone/>
            </a:pPr>
            <a:r>
              <a:rPr lang="en-US" sz="1000" dirty="0">
                <a:solidFill>
                  <a:schemeClr val="bg2"/>
                </a:solidFill>
              </a:rPr>
              <a:t>Admin/promo_codes.php</a:t>
            </a:r>
            <a:endParaRPr lang="en-US" sz="1000" dirty="0"/>
          </a:p>
        </p:txBody>
      </p:sp>
      <p:pic>
        <p:nvPicPr>
          <p:cNvPr id="18" name="Screenshot admin_promo_codes" descr="Screenshot: Admin/promo_codes.php"/>
          <p:cNvPicPr>
            <a:picLocks noChangeAspect="1"/>
          </p:cNvPicPr>
          <p:nvPr/>
        </p:nvPicPr>
        <p:blipFill>
          <a:blip r:embed="rId3"/>
          <a:stretch>
            <a:fillRect/>
          </a:stretch>
        </p:blipFill>
        <p:spPr>
          <a:xfrm>
            <a:off x="4402226" y="2032854"/>
            <a:ext cx="3387242" cy="1905324"/>
          </a:xfrm>
          <a:prstGeom prst="rect">
            <a:avLst/>
          </a:prstGeom>
        </p:spPr>
      </p:pic>
      <p:sp>
        <p:nvSpPr>
          <p:cNvPr id="19" name="Shape 14"/>
          <p:cNvSpPr/>
          <p:nvPr/>
        </p:nvSpPr>
        <p:spPr>
          <a:xfrm>
            <a:off x="4338218" y="4276506"/>
            <a:ext cx="3515258" cy="1600200"/>
          </a:xfrm>
          <a:prstGeom prst="roundRect">
            <a:avLst>
              <a:gd name="adj" fmla="val 5714"/>
            </a:avLst>
          </a:prstGeom>
          <a:solidFill>
            <a:schemeClr val="tx2"/>
          </a:solidFill>
          <a:ln w="9525">
            <a:solidFill>
              <a:srgbClr val="3A3B48"/>
            </a:solidFill>
            <a:prstDash val="solid"/>
          </a:ln>
        </p:spPr>
      </p:sp>
      <p:sp>
        <p:nvSpPr>
          <p:cNvPr id="20" name="Shape 15"/>
          <p:cNvSpPr/>
          <p:nvPr/>
        </p:nvSpPr>
        <p:spPr>
          <a:xfrm>
            <a:off x="4566818" y="4505106"/>
            <a:ext cx="457200" cy="457200"/>
          </a:xfrm>
          <a:prstGeom prst="ellipse">
            <a:avLst/>
          </a:prstGeom>
          <a:solidFill>
            <a:schemeClr val="accent1"/>
          </a:solidFill>
          <a:ln w="12700">
            <a:solidFill>
              <a:schemeClr val="accent1"/>
            </a:solidFill>
            <a:prstDash val="solid"/>
          </a:ln>
        </p:spPr>
      </p:sp>
      <p:pic>
        <p:nvPicPr>
          <p:cNvPr id="21" name="Image 3" descr="preencoded.png"/>
          <p:cNvPicPr>
            <a:picLocks noChangeAspect="1"/>
          </p:cNvPicPr>
          <p:nvPr/>
        </p:nvPicPr>
        <p:blipFill>
          <a:blip r:embed="rId4"/>
          <a:stretch>
            <a:fillRect/>
          </a:stretch>
        </p:blipFill>
        <p:spPr>
          <a:xfrm>
            <a:off x="4681118" y="4619406"/>
            <a:ext cx="228600" cy="228600"/>
          </a:xfrm>
          <a:prstGeom prst="rect">
            <a:avLst/>
          </a:prstGeom>
        </p:spPr>
      </p:pic>
      <p:sp>
        <p:nvSpPr>
          <p:cNvPr id="22" name="Text 16"/>
          <p:cNvSpPr txBox="1"/>
          <p:nvPr/>
        </p:nvSpPr>
        <p:spPr>
          <a:xfrm>
            <a:off x="5206898" y="4459386"/>
            <a:ext cx="2463698" cy="128016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Promo codes</a:t>
            </a:r>
            <a:endParaRPr lang="en-US" sz="1800" dirty="0"/>
          </a:p>
          <a:p>
            <a:pPr marL="0" indent="0">
              <a:spcAft>
                <a:spcPts val="400"/>
              </a:spcAft>
              <a:buNone/>
            </a:pPr>
            <a:r>
              <a:rPr lang="en-US" sz="1400" dirty="0">
                <a:solidFill>
                  <a:schemeClr val="bg2"/>
                </a:solidFill>
              </a:rPr>
              <a:t>Discount %, usage limit, expiry date, active switch</a:t>
            </a:r>
            <a:endParaRPr lang="en-US" sz="1800" dirty="0"/>
          </a:p>
        </p:txBody>
      </p:sp>
      <p:sp>
        <p:nvSpPr>
          <p:cNvPr id="23" name="Window admin_coming_soon"/>
          <p:cNvSpPr/>
          <p:nvPr/>
        </p:nvSpPr>
        <p:spPr>
          <a:xfrm>
            <a:off x="8127797" y="1758534"/>
            <a:ext cx="3515258" cy="2243652"/>
          </a:xfrm>
          <a:prstGeom prst="roundRect">
            <a:avLst>
              <a:gd name="adj" fmla="val 3260"/>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24" name="Shape 18"/>
          <p:cNvSpPr/>
          <p:nvPr/>
        </p:nvSpPr>
        <p:spPr>
          <a:xfrm>
            <a:off x="8255813" y="1845402"/>
            <a:ext cx="100584" cy="100584"/>
          </a:xfrm>
          <a:prstGeom prst="ellipse">
            <a:avLst/>
          </a:prstGeom>
          <a:solidFill>
            <a:srgbClr val="FF5F57"/>
          </a:solidFill>
          <a:ln w="12700">
            <a:solidFill>
              <a:srgbClr val="FF5F57"/>
            </a:solidFill>
            <a:prstDash val="solid"/>
          </a:ln>
        </p:spPr>
      </p:sp>
      <p:sp>
        <p:nvSpPr>
          <p:cNvPr id="25" name="Shape 19"/>
          <p:cNvSpPr/>
          <p:nvPr/>
        </p:nvSpPr>
        <p:spPr>
          <a:xfrm>
            <a:off x="8411261" y="1845402"/>
            <a:ext cx="100584" cy="100584"/>
          </a:xfrm>
          <a:prstGeom prst="ellipse">
            <a:avLst/>
          </a:prstGeom>
          <a:solidFill>
            <a:srgbClr val="FEBC2E"/>
          </a:solidFill>
          <a:ln w="12700">
            <a:solidFill>
              <a:srgbClr val="FEBC2E"/>
            </a:solidFill>
            <a:prstDash val="solid"/>
          </a:ln>
        </p:spPr>
      </p:sp>
      <p:sp>
        <p:nvSpPr>
          <p:cNvPr id="26" name="Shape 20"/>
          <p:cNvSpPr/>
          <p:nvPr/>
        </p:nvSpPr>
        <p:spPr>
          <a:xfrm>
            <a:off x="8566709" y="1845402"/>
            <a:ext cx="100584" cy="100584"/>
          </a:xfrm>
          <a:prstGeom prst="ellipse">
            <a:avLst/>
          </a:prstGeom>
          <a:solidFill>
            <a:srgbClr val="28C840"/>
          </a:solidFill>
          <a:ln w="12700">
            <a:solidFill>
              <a:srgbClr val="28C840"/>
            </a:solidFill>
            <a:prstDash val="solid"/>
          </a:ln>
        </p:spPr>
      </p:sp>
      <p:sp>
        <p:nvSpPr>
          <p:cNvPr id="27" name="Text 21"/>
          <p:cNvSpPr txBox="1"/>
          <p:nvPr/>
        </p:nvSpPr>
        <p:spPr>
          <a:xfrm>
            <a:off x="8813597" y="1776822"/>
            <a:ext cx="2692298" cy="237744"/>
          </a:xfrm>
          <a:prstGeom prst="rect">
            <a:avLst/>
          </a:prstGeom>
          <a:noFill/>
        </p:spPr>
        <p:txBody>
          <a:bodyPr wrap="square" lIns="0" tIns="0" rIns="0" bIns="0" rtlCol="0" anchor="ctr"/>
          <a:lstStyle/>
          <a:p>
            <a:pPr marL="0" indent="0">
              <a:buNone/>
            </a:pPr>
            <a:r>
              <a:rPr lang="en-US" sz="1000" dirty="0">
                <a:solidFill>
                  <a:schemeClr val="bg2"/>
                </a:solidFill>
              </a:rPr>
              <a:t>Admin/coming_soon.php</a:t>
            </a:r>
            <a:endParaRPr lang="en-US" sz="1000" dirty="0"/>
          </a:p>
        </p:txBody>
      </p:sp>
      <p:pic>
        <p:nvPicPr>
          <p:cNvPr id="28" name="Screenshot admin_coming_soon" descr="Screenshot: Admin/coming_soon.php"/>
          <p:cNvPicPr>
            <a:picLocks noChangeAspect="1"/>
          </p:cNvPicPr>
          <p:nvPr/>
        </p:nvPicPr>
        <p:blipFill>
          <a:blip r:embed="rId5"/>
          <a:stretch>
            <a:fillRect/>
          </a:stretch>
        </p:blipFill>
        <p:spPr>
          <a:xfrm>
            <a:off x="8191805" y="2032854"/>
            <a:ext cx="3387242" cy="1905324"/>
          </a:xfrm>
          <a:prstGeom prst="rect">
            <a:avLst/>
          </a:prstGeom>
        </p:spPr>
      </p:pic>
      <p:sp>
        <p:nvSpPr>
          <p:cNvPr id="29" name="Shape 22"/>
          <p:cNvSpPr/>
          <p:nvPr/>
        </p:nvSpPr>
        <p:spPr>
          <a:xfrm>
            <a:off x="8127797" y="4276506"/>
            <a:ext cx="3515258" cy="1600200"/>
          </a:xfrm>
          <a:prstGeom prst="roundRect">
            <a:avLst>
              <a:gd name="adj" fmla="val 5714"/>
            </a:avLst>
          </a:prstGeom>
          <a:solidFill>
            <a:schemeClr val="tx2"/>
          </a:solidFill>
          <a:ln w="9525">
            <a:solidFill>
              <a:srgbClr val="3A3B48"/>
            </a:solidFill>
            <a:prstDash val="solid"/>
          </a:ln>
        </p:spPr>
      </p:sp>
      <p:sp>
        <p:nvSpPr>
          <p:cNvPr id="30" name="Shape 23"/>
          <p:cNvSpPr/>
          <p:nvPr/>
        </p:nvSpPr>
        <p:spPr>
          <a:xfrm>
            <a:off x="8356397" y="4505106"/>
            <a:ext cx="457200" cy="457200"/>
          </a:xfrm>
          <a:prstGeom prst="ellipse">
            <a:avLst/>
          </a:prstGeom>
          <a:solidFill>
            <a:schemeClr val="accent1"/>
          </a:solidFill>
          <a:ln w="12700">
            <a:solidFill>
              <a:schemeClr val="accent1"/>
            </a:solidFill>
            <a:prstDash val="solid"/>
          </a:ln>
        </p:spPr>
      </p:sp>
      <p:pic>
        <p:nvPicPr>
          <p:cNvPr id="31" name="Image 5" descr="preencoded.png"/>
          <p:cNvPicPr>
            <a:picLocks noChangeAspect="1"/>
          </p:cNvPicPr>
          <p:nvPr/>
        </p:nvPicPr>
        <p:blipFill>
          <a:blip r:embed="rId6"/>
          <a:stretch>
            <a:fillRect/>
          </a:stretch>
        </p:blipFill>
        <p:spPr>
          <a:xfrm>
            <a:off x="8470697" y="4619406"/>
            <a:ext cx="228600" cy="228600"/>
          </a:xfrm>
          <a:prstGeom prst="rect">
            <a:avLst/>
          </a:prstGeom>
        </p:spPr>
      </p:pic>
      <p:sp>
        <p:nvSpPr>
          <p:cNvPr id="32" name="Text 24"/>
          <p:cNvSpPr txBox="1"/>
          <p:nvPr/>
        </p:nvSpPr>
        <p:spPr>
          <a:xfrm>
            <a:off x="8996477" y="4459386"/>
            <a:ext cx="2463698" cy="128016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Coming Soon</a:t>
            </a:r>
            <a:endParaRPr lang="en-US" sz="1800" dirty="0"/>
          </a:p>
          <a:p>
            <a:pPr marL="0" indent="0">
              <a:spcAft>
                <a:spcPts val="400"/>
              </a:spcAft>
              <a:buNone/>
            </a:pPr>
            <a:r>
              <a:rPr lang="en-US" sz="1400" dirty="0">
                <a:solidFill>
                  <a:schemeClr val="bg2"/>
                </a:solidFill>
              </a:rPr>
              <a:t>Upcoming movies with poster, trailer and release date</a:t>
            </a:r>
            <a:endParaRPr lang="en-US" sz="1800" dirty="0"/>
          </a:p>
        </p:txBody>
      </p:sp>
      <p:sp>
        <p:nvSpPr>
          <p:cNvPr id="33"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Users, review moderation and activity log</a:t>
            </a:r>
            <a:endParaRPr lang="en-US" sz="3200" dirty="0"/>
          </a:p>
        </p:txBody>
      </p:sp>
      <p:sp>
        <p:nvSpPr>
          <p:cNvPr id="3" name="Window admin_user"/>
          <p:cNvSpPr/>
          <p:nvPr/>
        </p:nvSpPr>
        <p:spPr>
          <a:xfrm>
            <a:off x="548640" y="1758534"/>
            <a:ext cx="3515258" cy="2243652"/>
          </a:xfrm>
          <a:prstGeom prst="roundRect">
            <a:avLst>
              <a:gd name="adj" fmla="val 3260"/>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4" name="Shape 2"/>
          <p:cNvSpPr/>
          <p:nvPr/>
        </p:nvSpPr>
        <p:spPr>
          <a:xfrm>
            <a:off x="676656" y="1845402"/>
            <a:ext cx="100584" cy="100584"/>
          </a:xfrm>
          <a:prstGeom prst="ellipse">
            <a:avLst/>
          </a:prstGeom>
          <a:solidFill>
            <a:srgbClr val="FF5F57"/>
          </a:solidFill>
          <a:ln w="12700">
            <a:solidFill>
              <a:srgbClr val="FF5F57"/>
            </a:solidFill>
            <a:prstDash val="solid"/>
          </a:ln>
        </p:spPr>
      </p:sp>
      <p:sp>
        <p:nvSpPr>
          <p:cNvPr id="5" name="Shape 3"/>
          <p:cNvSpPr/>
          <p:nvPr/>
        </p:nvSpPr>
        <p:spPr>
          <a:xfrm>
            <a:off x="832104" y="1845402"/>
            <a:ext cx="100584" cy="100584"/>
          </a:xfrm>
          <a:prstGeom prst="ellipse">
            <a:avLst/>
          </a:prstGeom>
          <a:solidFill>
            <a:srgbClr val="FEBC2E"/>
          </a:solidFill>
          <a:ln w="12700">
            <a:solidFill>
              <a:srgbClr val="FEBC2E"/>
            </a:solidFill>
            <a:prstDash val="solid"/>
          </a:ln>
        </p:spPr>
      </p:sp>
      <p:sp>
        <p:nvSpPr>
          <p:cNvPr id="6" name="Shape 4"/>
          <p:cNvSpPr/>
          <p:nvPr/>
        </p:nvSpPr>
        <p:spPr>
          <a:xfrm>
            <a:off x="987552" y="1845402"/>
            <a:ext cx="100584" cy="100584"/>
          </a:xfrm>
          <a:prstGeom prst="ellipse">
            <a:avLst/>
          </a:prstGeom>
          <a:solidFill>
            <a:srgbClr val="28C840"/>
          </a:solidFill>
          <a:ln w="12700">
            <a:solidFill>
              <a:srgbClr val="28C840"/>
            </a:solidFill>
            <a:prstDash val="solid"/>
          </a:ln>
        </p:spPr>
      </p:sp>
      <p:sp>
        <p:nvSpPr>
          <p:cNvPr id="7" name="Text 5"/>
          <p:cNvSpPr txBox="1"/>
          <p:nvPr/>
        </p:nvSpPr>
        <p:spPr>
          <a:xfrm>
            <a:off x="1234440" y="1776822"/>
            <a:ext cx="2692298" cy="237744"/>
          </a:xfrm>
          <a:prstGeom prst="rect">
            <a:avLst/>
          </a:prstGeom>
          <a:noFill/>
        </p:spPr>
        <p:txBody>
          <a:bodyPr wrap="square" lIns="0" tIns="0" rIns="0" bIns="0" rtlCol="0" anchor="ctr"/>
          <a:lstStyle/>
          <a:p>
            <a:pPr marL="0" indent="0">
              <a:buNone/>
            </a:pPr>
            <a:r>
              <a:rPr lang="en-US" sz="1000" dirty="0">
                <a:solidFill>
                  <a:schemeClr val="bg2"/>
                </a:solidFill>
              </a:rPr>
              <a:t>Admin/user.php</a:t>
            </a:r>
            <a:endParaRPr lang="en-US" sz="1000" dirty="0"/>
          </a:p>
        </p:txBody>
      </p:sp>
      <p:pic>
        <p:nvPicPr>
          <p:cNvPr id="8" name="Screenshot admin_user" descr="Screenshot: Admin/user.php"/>
          <p:cNvPicPr>
            <a:picLocks noChangeAspect="1"/>
          </p:cNvPicPr>
          <p:nvPr/>
        </p:nvPicPr>
        <p:blipFill>
          <a:blip r:embed="rId1"/>
          <a:stretch>
            <a:fillRect/>
          </a:stretch>
        </p:blipFill>
        <p:spPr>
          <a:xfrm>
            <a:off x="612648" y="2032854"/>
            <a:ext cx="3387242" cy="1905324"/>
          </a:xfrm>
          <a:prstGeom prst="rect">
            <a:avLst/>
          </a:prstGeom>
        </p:spPr>
      </p:pic>
      <p:sp>
        <p:nvSpPr>
          <p:cNvPr id="9" name="Shape 6"/>
          <p:cNvSpPr/>
          <p:nvPr/>
        </p:nvSpPr>
        <p:spPr>
          <a:xfrm>
            <a:off x="548640" y="4276506"/>
            <a:ext cx="3515258" cy="1600200"/>
          </a:xfrm>
          <a:prstGeom prst="roundRect">
            <a:avLst>
              <a:gd name="adj" fmla="val 5714"/>
            </a:avLst>
          </a:prstGeom>
          <a:solidFill>
            <a:schemeClr val="tx2"/>
          </a:solidFill>
          <a:ln w="9525">
            <a:solidFill>
              <a:srgbClr val="3A3B48"/>
            </a:solidFill>
            <a:prstDash val="solid"/>
          </a:ln>
        </p:spPr>
      </p:sp>
      <p:sp>
        <p:nvSpPr>
          <p:cNvPr id="10" name="Shape 7"/>
          <p:cNvSpPr/>
          <p:nvPr/>
        </p:nvSpPr>
        <p:spPr>
          <a:xfrm>
            <a:off x="777240" y="4505106"/>
            <a:ext cx="457200" cy="457200"/>
          </a:xfrm>
          <a:prstGeom prst="ellipse">
            <a:avLst/>
          </a:prstGeom>
          <a:solidFill>
            <a:schemeClr val="accent1"/>
          </a:solidFill>
          <a:ln w="12700">
            <a:solidFill>
              <a:schemeClr val="accent1"/>
            </a:solidFill>
            <a:prstDash val="solid"/>
          </a:ln>
        </p:spPr>
      </p:sp>
      <p:pic>
        <p:nvPicPr>
          <p:cNvPr id="11" name="Image 1" descr="preencoded.png"/>
          <p:cNvPicPr>
            <a:picLocks noChangeAspect="1"/>
          </p:cNvPicPr>
          <p:nvPr/>
        </p:nvPicPr>
        <p:blipFill>
          <a:blip r:embed="rId2"/>
          <a:stretch>
            <a:fillRect/>
          </a:stretch>
        </p:blipFill>
        <p:spPr>
          <a:xfrm>
            <a:off x="891540" y="4619406"/>
            <a:ext cx="228600" cy="228600"/>
          </a:xfrm>
          <a:prstGeom prst="rect">
            <a:avLst/>
          </a:prstGeom>
        </p:spPr>
      </p:pic>
      <p:sp>
        <p:nvSpPr>
          <p:cNvPr id="12" name="Text 8"/>
          <p:cNvSpPr txBox="1"/>
          <p:nvPr/>
        </p:nvSpPr>
        <p:spPr>
          <a:xfrm>
            <a:off x="1417320" y="4459386"/>
            <a:ext cx="2463698" cy="128016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Users</a:t>
            </a:r>
            <a:endParaRPr lang="en-US" sz="1800" dirty="0"/>
          </a:p>
          <a:p>
            <a:pPr marL="0" indent="0">
              <a:spcAft>
                <a:spcPts val="400"/>
              </a:spcAft>
              <a:buNone/>
            </a:pPr>
            <a:r>
              <a:rPr lang="en-US" sz="1400" dirty="0">
                <a:solidFill>
                  <a:schemeClr val="bg2"/>
                </a:solidFill>
              </a:rPr>
              <a:t>Points and bookings per user; Block signs the user out on the next page</a:t>
            </a:r>
            <a:endParaRPr lang="en-US" sz="1800" dirty="0"/>
          </a:p>
        </p:txBody>
      </p:sp>
      <p:sp>
        <p:nvSpPr>
          <p:cNvPr id="13" name="Window admin_reviews"/>
          <p:cNvSpPr/>
          <p:nvPr/>
        </p:nvSpPr>
        <p:spPr>
          <a:xfrm>
            <a:off x="4338218" y="1758534"/>
            <a:ext cx="3515258" cy="2243652"/>
          </a:xfrm>
          <a:prstGeom prst="roundRect">
            <a:avLst>
              <a:gd name="adj" fmla="val 3260"/>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14" name="Shape 10"/>
          <p:cNvSpPr/>
          <p:nvPr/>
        </p:nvSpPr>
        <p:spPr>
          <a:xfrm>
            <a:off x="4466234" y="1845402"/>
            <a:ext cx="100584" cy="100584"/>
          </a:xfrm>
          <a:prstGeom prst="ellipse">
            <a:avLst/>
          </a:prstGeom>
          <a:solidFill>
            <a:srgbClr val="FF5F57"/>
          </a:solidFill>
          <a:ln w="12700">
            <a:solidFill>
              <a:srgbClr val="FF5F57"/>
            </a:solidFill>
            <a:prstDash val="solid"/>
          </a:ln>
        </p:spPr>
      </p:sp>
      <p:sp>
        <p:nvSpPr>
          <p:cNvPr id="15" name="Shape 11"/>
          <p:cNvSpPr/>
          <p:nvPr/>
        </p:nvSpPr>
        <p:spPr>
          <a:xfrm>
            <a:off x="4621682" y="1845402"/>
            <a:ext cx="100584" cy="100584"/>
          </a:xfrm>
          <a:prstGeom prst="ellipse">
            <a:avLst/>
          </a:prstGeom>
          <a:solidFill>
            <a:srgbClr val="FEBC2E"/>
          </a:solidFill>
          <a:ln w="12700">
            <a:solidFill>
              <a:srgbClr val="FEBC2E"/>
            </a:solidFill>
            <a:prstDash val="solid"/>
          </a:ln>
        </p:spPr>
      </p:sp>
      <p:sp>
        <p:nvSpPr>
          <p:cNvPr id="16" name="Shape 12"/>
          <p:cNvSpPr/>
          <p:nvPr/>
        </p:nvSpPr>
        <p:spPr>
          <a:xfrm>
            <a:off x="4777130" y="1845402"/>
            <a:ext cx="100584" cy="100584"/>
          </a:xfrm>
          <a:prstGeom prst="ellipse">
            <a:avLst/>
          </a:prstGeom>
          <a:solidFill>
            <a:srgbClr val="28C840"/>
          </a:solidFill>
          <a:ln w="12700">
            <a:solidFill>
              <a:srgbClr val="28C840"/>
            </a:solidFill>
            <a:prstDash val="solid"/>
          </a:ln>
        </p:spPr>
      </p:sp>
      <p:sp>
        <p:nvSpPr>
          <p:cNvPr id="17" name="Text 13"/>
          <p:cNvSpPr txBox="1"/>
          <p:nvPr/>
        </p:nvSpPr>
        <p:spPr>
          <a:xfrm>
            <a:off x="5024018" y="1776822"/>
            <a:ext cx="2692298" cy="237744"/>
          </a:xfrm>
          <a:prstGeom prst="rect">
            <a:avLst/>
          </a:prstGeom>
          <a:noFill/>
        </p:spPr>
        <p:txBody>
          <a:bodyPr wrap="square" lIns="0" tIns="0" rIns="0" bIns="0" rtlCol="0" anchor="ctr"/>
          <a:lstStyle/>
          <a:p>
            <a:pPr marL="0" indent="0">
              <a:buNone/>
            </a:pPr>
            <a:r>
              <a:rPr lang="en-US" sz="1000" dirty="0">
                <a:solidFill>
                  <a:schemeClr val="bg2"/>
                </a:solidFill>
              </a:rPr>
              <a:t>Admin/reviews.php</a:t>
            </a:r>
            <a:endParaRPr lang="en-US" sz="1000" dirty="0"/>
          </a:p>
        </p:txBody>
      </p:sp>
      <p:pic>
        <p:nvPicPr>
          <p:cNvPr id="18" name="Screenshot admin_reviews" descr="Screenshot: Admin/reviews.php"/>
          <p:cNvPicPr>
            <a:picLocks noChangeAspect="1"/>
          </p:cNvPicPr>
          <p:nvPr/>
        </p:nvPicPr>
        <p:blipFill>
          <a:blip r:embed="rId3"/>
          <a:stretch>
            <a:fillRect/>
          </a:stretch>
        </p:blipFill>
        <p:spPr>
          <a:xfrm>
            <a:off x="4402226" y="2032854"/>
            <a:ext cx="3387242" cy="1905324"/>
          </a:xfrm>
          <a:prstGeom prst="rect">
            <a:avLst/>
          </a:prstGeom>
        </p:spPr>
      </p:pic>
      <p:sp>
        <p:nvSpPr>
          <p:cNvPr id="19" name="Shape 14"/>
          <p:cNvSpPr/>
          <p:nvPr/>
        </p:nvSpPr>
        <p:spPr>
          <a:xfrm>
            <a:off x="4338218" y="4276506"/>
            <a:ext cx="3515258" cy="1600200"/>
          </a:xfrm>
          <a:prstGeom prst="roundRect">
            <a:avLst>
              <a:gd name="adj" fmla="val 5714"/>
            </a:avLst>
          </a:prstGeom>
          <a:solidFill>
            <a:schemeClr val="tx2"/>
          </a:solidFill>
          <a:ln w="9525">
            <a:solidFill>
              <a:srgbClr val="3A3B48"/>
            </a:solidFill>
            <a:prstDash val="solid"/>
          </a:ln>
        </p:spPr>
      </p:sp>
      <p:sp>
        <p:nvSpPr>
          <p:cNvPr id="20" name="Shape 15"/>
          <p:cNvSpPr/>
          <p:nvPr/>
        </p:nvSpPr>
        <p:spPr>
          <a:xfrm>
            <a:off x="4566818" y="4505106"/>
            <a:ext cx="457200" cy="457200"/>
          </a:xfrm>
          <a:prstGeom prst="ellipse">
            <a:avLst/>
          </a:prstGeom>
          <a:solidFill>
            <a:schemeClr val="accent1"/>
          </a:solidFill>
          <a:ln w="12700">
            <a:solidFill>
              <a:schemeClr val="accent1"/>
            </a:solidFill>
            <a:prstDash val="solid"/>
          </a:ln>
        </p:spPr>
      </p:sp>
      <p:pic>
        <p:nvPicPr>
          <p:cNvPr id="21" name="Image 3" descr="preencoded.png"/>
          <p:cNvPicPr>
            <a:picLocks noChangeAspect="1"/>
          </p:cNvPicPr>
          <p:nvPr/>
        </p:nvPicPr>
        <p:blipFill>
          <a:blip r:embed="rId4"/>
          <a:stretch>
            <a:fillRect/>
          </a:stretch>
        </p:blipFill>
        <p:spPr>
          <a:xfrm>
            <a:off x="4681118" y="4619406"/>
            <a:ext cx="228600" cy="228600"/>
          </a:xfrm>
          <a:prstGeom prst="rect">
            <a:avLst/>
          </a:prstGeom>
        </p:spPr>
      </p:pic>
      <p:sp>
        <p:nvSpPr>
          <p:cNvPr id="22" name="Text 16"/>
          <p:cNvSpPr txBox="1"/>
          <p:nvPr/>
        </p:nvSpPr>
        <p:spPr>
          <a:xfrm>
            <a:off x="5206898" y="4459386"/>
            <a:ext cx="2463698" cy="128016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Reviews</a:t>
            </a:r>
            <a:endParaRPr lang="en-US" sz="1800" dirty="0"/>
          </a:p>
          <a:p>
            <a:pPr marL="0" indent="0">
              <a:spcAft>
                <a:spcPts val="400"/>
              </a:spcAft>
              <a:buNone/>
            </a:pPr>
            <a:r>
              <a:rPr lang="en-US" sz="1400" dirty="0">
                <a:solidFill>
                  <a:schemeClr val="bg2"/>
                </a:solidFill>
              </a:rPr>
              <a:t>Hide or show reviews; hidden reviews leave the average rating</a:t>
            </a:r>
            <a:endParaRPr lang="en-US" sz="1800" dirty="0"/>
          </a:p>
        </p:txBody>
      </p:sp>
      <p:sp>
        <p:nvSpPr>
          <p:cNvPr id="23" name="Window admin_activity_log"/>
          <p:cNvSpPr/>
          <p:nvPr/>
        </p:nvSpPr>
        <p:spPr>
          <a:xfrm>
            <a:off x="8127797" y="1758534"/>
            <a:ext cx="3515258" cy="2243652"/>
          </a:xfrm>
          <a:prstGeom prst="roundRect">
            <a:avLst>
              <a:gd name="adj" fmla="val 3260"/>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24" name="Shape 18"/>
          <p:cNvSpPr/>
          <p:nvPr/>
        </p:nvSpPr>
        <p:spPr>
          <a:xfrm>
            <a:off x="8255813" y="1845402"/>
            <a:ext cx="100584" cy="100584"/>
          </a:xfrm>
          <a:prstGeom prst="ellipse">
            <a:avLst/>
          </a:prstGeom>
          <a:solidFill>
            <a:srgbClr val="FF5F57"/>
          </a:solidFill>
          <a:ln w="12700">
            <a:solidFill>
              <a:srgbClr val="FF5F57"/>
            </a:solidFill>
            <a:prstDash val="solid"/>
          </a:ln>
        </p:spPr>
      </p:sp>
      <p:sp>
        <p:nvSpPr>
          <p:cNvPr id="25" name="Shape 19"/>
          <p:cNvSpPr/>
          <p:nvPr/>
        </p:nvSpPr>
        <p:spPr>
          <a:xfrm>
            <a:off x="8411261" y="1845402"/>
            <a:ext cx="100584" cy="100584"/>
          </a:xfrm>
          <a:prstGeom prst="ellipse">
            <a:avLst/>
          </a:prstGeom>
          <a:solidFill>
            <a:srgbClr val="FEBC2E"/>
          </a:solidFill>
          <a:ln w="12700">
            <a:solidFill>
              <a:srgbClr val="FEBC2E"/>
            </a:solidFill>
            <a:prstDash val="solid"/>
          </a:ln>
        </p:spPr>
      </p:sp>
      <p:sp>
        <p:nvSpPr>
          <p:cNvPr id="26" name="Shape 20"/>
          <p:cNvSpPr/>
          <p:nvPr/>
        </p:nvSpPr>
        <p:spPr>
          <a:xfrm>
            <a:off x="8566709" y="1845402"/>
            <a:ext cx="100584" cy="100584"/>
          </a:xfrm>
          <a:prstGeom prst="ellipse">
            <a:avLst/>
          </a:prstGeom>
          <a:solidFill>
            <a:srgbClr val="28C840"/>
          </a:solidFill>
          <a:ln w="12700">
            <a:solidFill>
              <a:srgbClr val="28C840"/>
            </a:solidFill>
            <a:prstDash val="solid"/>
          </a:ln>
        </p:spPr>
      </p:sp>
      <p:sp>
        <p:nvSpPr>
          <p:cNvPr id="27" name="Text 21"/>
          <p:cNvSpPr txBox="1"/>
          <p:nvPr/>
        </p:nvSpPr>
        <p:spPr>
          <a:xfrm>
            <a:off x="8813597" y="1776822"/>
            <a:ext cx="2692298" cy="237744"/>
          </a:xfrm>
          <a:prstGeom prst="rect">
            <a:avLst/>
          </a:prstGeom>
          <a:noFill/>
        </p:spPr>
        <p:txBody>
          <a:bodyPr wrap="square" lIns="0" tIns="0" rIns="0" bIns="0" rtlCol="0" anchor="ctr"/>
          <a:lstStyle/>
          <a:p>
            <a:pPr marL="0" indent="0">
              <a:buNone/>
            </a:pPr>
            <a:r>
              <a:rPr lang="en-US" sz="1000" dirty="0">
                <a:solidFill>
                  <a:schemeClr val="bg2"/>
                </a:solidFill>
              </a:rPr>
              <a:t>Admin/activity_log.php</a:t>
            </a:r>
            <a:endParaRPr lang="en-US" sz="1000" dirty="0"/>
          </a:p>
        </p:txBody>
      </p:sp>
      <p:pic>
        <p:nvPicPr>
          <p:cNvPr id="28" name="Screenshot admin_activity_log" descr="Screenshot: Admin/activity_log.php"/>
          <p:cNvPicPr>
            <a:picLocks noChangeAspect="1"/>
          </p:cNvPicPr>
          <p:nvPr/>
        </p:nvPicPr>
        <p:blipFill>
          <a:blip r:embed="rId5"/>
          <a:stretch>
            <a:fillRect/>
          </a:stretch>
        </p:blipFill>
        <p:spPr>
          <a:xfrm>
            <a:off x="8191805" y="2032854"/>
            <a:ext cx="3387242" cy="1905324"/>
          </a:xfrm>
          <a:prstGeom prst="rect">
            <a:avLst/>
          </a:prstGeom>
        </p:spPr>
      </p:pic>
      <p:sp>
        <p:nvSpPr>
          <p:cNvPr id="29" name="Shape 22"/>
          <p:cNvSpPr/>
          <p:nvPr/>
        </p:nvSpPr>
        <p:spPr>
          <a:xfrm>
            <a:off x="8127797" y="4276506"/>
            <a:ext cx="3515258" cy="1600200"/>
          </a:xfrm>
          <a:prstGeom prst="roundRect">
            <a:avLst>
              <a:gd name="adj" fmla="val 5714"/>
            </a:avLst>
          </a:prstGeom>
          <a:solidFill>
            <a:schemeClr val="tx2"/>
          </a:solidFill>
          <a:ln w="9525">
            <a:solidFill>
              <a:srgbClr val="3A3B48"/>
            </a:solidFill>
            <a:prstDash val="solid"/>
          </a:ln>
        </p:spPr>
      </p:sp>
      <p:sp>
        <p:nvSpPr>
          <p:cNvPr id="30" name="Shape 23"/>
          <p:cNvSpPr/>
          <p:nvPr/>
        </p:nvSpPr>
        <p:spPr>
          <a:xfrm>
            <a:off x="8356397" y="4505106"/>
            <a:ext cx="457200" cy="457200"/>
          </a:xfrm>
          <a:prstGeom prst="ellipse">
            <a:avLst/>
          </a:prstGeom>
          <a:solidFill>
            <a:schemeClr val="accent1"/>
          </a:solidFill>
          <a:ln w="12700">
            <a:solidFill>
              <a:schemeClr val="accent1"/>
            </a:solidFill>
            <a:prstDash val="solid"/>
          </a:ln>
        </p:spPr>
      </p:sp>
      <p:pic>
        <p:nvPicPr>
          <p:cNvPr id="31" name="Image 5" descr="preencoded.png"/>
          <p:cNvPicPr>
            <a:picLocks noChangeAspect="1"/>
          </p:cNvPicPr>
          <p:nvPr/>
        </p:nvPicPr>
        <p:blipFill>
          <a:blip r:embed="rId6"/>
          <a:stretch>
            <a:fillRect/>
          </a:stretch>
        </p:blipFill>
        <p:spPr>
          <a:xfrm>
            <a:off x="8470697" y="4619406"/>
            <a:ext cx="228600" cy="228600"/>
          </a:xfrm>
          <a:prstGeom prst="rect">
            <a:avLst/>
          </a:prstGeom>
        </p:spPr>
      </p:pic>
      <p:sp>
        <p:nvSpPr>
          <p:cNvPr id="32" name="Text 24"/>
          <p:cNvSpPr txBox="1"/>
          <p:nvPr/>
        </p:nvSpPr>
        <p:spPr>
          <a:xfrm>
            <a:off x="8996477" y="4459386"/>
            <a:ext cx="2463698" cy="1280160"/>
          </a:xfrm>
          <a:prstGeom prst="rect">
            <a:avLst/>
          </a:prstGeom>
          <a:noFill/>
        </p:spPr>
        <p:txBody>
          <a:bodyPr wrap="square" lIns="0" tIns="0" rIns="0" bIns="0" rtlCol="0" anchor="t"/>
          <a:lstStyle/>
          <a:p>
            <a:pPr marL="0" indent="0">
              <a:spcAft>
                <a:spcPts val="400"/>
              </a:spcAft>
              <a:buNone/>
            </a:pPr>
            <a:r>
              <a:rPr lang="en-US" sz="1800" b="1" dirty="0">
                <a:solidFill>
                  <a:schemeClr val="bg1"/>
                </a:solidFill>
              </a:rPr>
              <a:t>Activity log</a:t>
            </a:r>
            <a:endParaRPr lang="en-US" sz="1800" dirty="0"/>
          </a:p>
          <a:p>
            <a:pPr marL="0" indent="0">
              <a:spcAft>
                <a:spcPts val="400"/>
              </a:spcAft>
              <a:buNone/>
            </a:pPr>
            <a:r>
              <a:rPr lang="en-US" sz="1400" dirty="0">
                <a:solidFill>
                  <a:schemeClr val="bg2"/>
                </a:solidFill>
              </a:rPr>
              <a:t>Who did what and when, for every admin add, edit and delete</a:t>
            </a:r>
            <a:endParaRPr lang="en-US" sz="1800" dirty="0"/>
          </a:p>
        </p:txBody>
      </p:sp>
      <p:sp>
        <p:nvSpPr>
          <p:cNvPr id="33"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indow payment"/>
          <p:cNvSpPr/>
          <p:nvPr/>
        </p:nvSpPr>
        <p:spPr>
          <a:xfrm>
            <a:off x="6796735" y="1932813"/>
            <a:ext cx="4846320" cy="2992374"/>
          </a:xfrm>
          <a:prstGeom prst="roundRect">
            <a:avLst>
              <a:gd name="adj" fmla="val 2445"/>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3" name="Shape 1"/>
          <p:cNvSpPr/>
          <p:nvPr/>
        </p:nvSpPr>
        <p:spPr>
          <a:xfrm>
            <a:off x="6924751" y="2019681"/>
            <a:ext cx="100584" cy="100584"/>
          </a:xfrm>
          <a:prstGeom prst="ellipse">
            <a:avLst/>
          </a:prstGeom>
          <a:solidFill>
            <a:srgbClr val="FF5F57"/>
          </a:solidFill>
          <a:ln w="12700">
            <a:solidFill>
              <a:srgbClr val="FF5F57"/>
            </a:solidFill>
            <a:prstDash val="solid"/>
          </a:ln>
        </p:spPr>
      </p:sp>
      <p:sp>
        <p:nvSpPr>
          <p:cNvPr id="4" name="Shape 2"/>
          <p:cNvSpPr/>
          <p:nvPr/>
        </p:nvSpPr>
        <p:spPr>
          <a:xfrm>
            <a:off x="7080199" y="2019681"/>
            <a:ext cx="100584" cy="100584"/>
          </a:xfrm>
          <a:prstGeom prst="ellipse">
            <a:avLst/>
          </a:prstGeom>
          <a:solidFill>
            <a:srgbClr val="FEBC2E"/>
          </a:solidFill>
          <a:ln w="12700">
            <a:solidFill>
              <a:srgbClr val="FEBC2E"/>
            </a:solidFill>
            <a:prstDash val="solid"/>
          </a:ln>
        </p:spPr>
      </p:sp>
      <p:sp>
        <p:nvSpPr>
          <p:cNvPr id="5" name="Shape 3"/>
          <p:cNvSpPr/>
          <p:nvPr/>
        </p:nvSpPr>
        <p:spPr>
          <a:xfrm>
            <a:off x="7235647" y="2019681"/>
            <a:ext cx="100584" cy="100584"/>
          </a:xfrm>
          <a:prstGeom prst="ellipse">
            <a:avLst/>
          </a:prstGeom>
          <a:solidFill>
            <a:srgbClr val="28C840"/>
          </a:solidFill>
          <a:ln w="12700">
            <a:solidFill>
              <a:srgbClr val="28C840"/>
            </a:solidFill>
            <a:prstDash val="solid"/>
          </a:ln>
        </p:spPr>
      </p:sp>
      <p:pic>
        <p:nvPicPr>
          <p:cNvPr id="6" name="Screenshot payment" descr="Screenshot: payment"/>
          <p:cNvPicPr>
            <a:picLocks noChangeAspect="1"/>
          </p:cNvPicPr>
          <p:nvPr/>
        </p:nvPicPr>
        <p:blipFill>
          <a:blip r:embed="rId1"/>
          <a:stretch>
            <a:fillRect/>
          </a:stretch>
        </p:blipFill>
        <p:spPr>
          <a:xfrm>
            <a:off x="6860743" y="2207133"/>
            <a:ext cx="4718304" cy="2654046"/>
          </a:xfrm>
          <a:prstGeom prst="rect">
            <a:avLst/>
          </a:prstGeom>
        </p:spPr>
      </p:pic>
      <p:sp>
        <p:nvSpPr>
          <p:cNvPr id="7" name="Text 4"/>
          <p:cNvSpPr txBox="1"/>
          <p:nvPr/>
        </p:nvSpPr>
        <p:spPr>
          <a:xfrm>
            <a:off x="548640" y="1554480"/>
            <a:ext cx="2743200" cy="1097280"/>
          </a:xfrm>
          <a:prstGeom prst="rect">
            <a:avLst/>
          </a:prstGeom>
          <a:noFill/>
        </p:spPr>
        <p:txBody>
          <a:bodyPr wrap="square" lIns="0" tIns="0" rIns="0" bIns="0" rtlCol="0" anchor="ctr"/>
          <a:lstStyle/>
          <a:p>
            <a:pPr marL="0" indent="0">
              <a:buNone/>
            </a:pPr>
            <a:r>
              <a:rPr lang="en-US" sz="7200" b="1" dirty="0">
                <a:solidFill>
                  <a:schemeClr val="accent1"/>
                </a:solidFill>
                <a:latin typeface="Arial" panose="020B0604020202020204" pitchFamily="34" charset="0"/>
                <a:ea typeface="Arial" panose="020B0604020202020204" pitchFamily="34" charset="-122"/>
                <a:cs typeface="Arial" panose="020B0604020202020204" pitchFamily="34" charset="-120"/>
              </a:rPr>
              <a:t>03</a:t>
            </a:r>
            <a:endParaRPr lang="en-US" sz="7200" dirty="0"/>
          </a:p>
        </p:txBody>
      </p:sp>
      <p:sp>
        <p:nvSpPr>
          <p:cNvPr id="8" name="Text 0"/>
          <p:cNvSpPr/>
          <p:nvPr>
            <p:ph type="title" idx="100" hasCustomPrompt="1"/>
          </p:nvPr>
        </p:nvSpPr>
        <p:spPr>
          <a:xfrm>
            <a:off x="548640" y="2788920"/>
            <a:ext cx="5852160" cy="1097280"/>
          </a:xfrm>
          <a:prstGeom prst="rect">
            <a:avLst/>
          </a:prstGeom>
          <a:noFill/>
        </p:spPr>
        <p:txBody>
          <a:bodyPr wrap="square" lIns="0" tIns="0" rIns="0" bIns="0" rtlCol="0" anchor="t"/>
          <a:lstStyle/>
          <a:p>
            <a:pPr marL="0" indent="0" algn="l">
              <a:buNone/>
            </a:pPr>
            <a:r>
              <a:rPr lang="en-US" sz="4400" b="1" dirty="0">
                <a:solidFill>
                  <a:schemeClr val="bg1"/>
                </a:solidFill>
              </a:rPr>
              <a:t>Engineering</a:t>
            </a:r>
            <a:endParaRPr lang="en-US" sz="4400" dirty="0"/>
          </a:p>
        </p:txBody>
      </p:sp>
      <p:sp>
        <p:nvSpPr>
          <p:cNvPr id="9" name="Text 0"/>
          <p:cNvSpPr/>
          <p:nvPr>
            <p:ph type="body" idx="101" hasCustomPrompt="1"/>
          </p:nvPr>
        </p:nvSpPr>
        <p:spPr>
          <a:xfrm>
            <a:off x="548640" y="3931920"/>
            <a:ext cx="5669280" cy="1097280"/>
          </a:xfrm>
          <a:prstGeom prst="rect">
            <a:avLst/>
          </a:prstGeom>
          <a:noFill/>
        </p:spPr>
        <p:txBody>
          <a:bodyPr wrap="square" lIns="0" tIns="0" rIns="0" bIns="0" rtlCol="0" anchor="t"/>
          <a:lstStyle/>
          <a:p>
            <a:pPr marL="0" indent="0">
              <a:buNone/>
            </a:pPr>
            <a:r>
              <a:rPr lang="en-US" sz="1800" dirty="0">
                <a:solidFill>
                  <a:schemeClr val="bg2"/>
                </a:solidFill>
              </a:rPr>
              <a:t>Quality, security and how bookings stay correct</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No seat can ever be sold twice</a:t>
            </a:r>
            <a:endParaRPr lang="en-US" sz="3200" dirty="0"/>
          </a:p>
        </p:txBody>
      </p:sp>
      <p:sp>
        <p:nvSpPr>
          <p:cNvPr id="3" name="Shape 1"/>
          <p:cNvSpPr/>
          <p:nvPr/>
        </p:nvSpPr>
        <p:spPr>
          <a:xfrm>
            <a:off x="548640" y="1463040"/>
            <a:ext cx="6766560" cy="1371600"/>
          </a:xfrm>
          <a:prstGeom prst="roundRect">
            <a:avLst>
              <a:gd name="adj" fmla="val 6667"/>
            </a:avLst>
          </a:prstGeom>
          <a:solidFill>
            <a:schemeClr val="tx2"/>
          </a:solidFill>
          <a:ln w="9525">
            <a:solidFill>
              <a:srgbClr val="3A3B48"/>
            </a:solidFill>
            <a:prstDash val="solid"/>
          </a:ln>
        </p:spPr>
      </p:sp>
      <p:sp>
        <p:nvSpPr>
          <p:cNvPr id="4" name="Text 2"/>
          <p:cNvSpPr txBox="1"/>
          <p:nvPr/>
        </p:nvSpPr>
        <p:spPr>
          <a:xfrm>
            <a:off x="777240" y="1463040"/>
            <a:ext cx="548640" cy="1371600"/>
          </a:xfrm>
          <a:prstGeom prst="rect">
            <a:avLst/>
          </a:prstGeom>
          <a:noFill/>
        </p:spPr>
        <p:txBody>
          <a:bodyPr wrap="square" lIns="0" tIns="0" rIns="0" bIns="0" rtlCol="0" anchor="ctr"/>
          <a:lstStyle/>
          <a:p>
            <a:pPr marL="0" indent="0">
              <a:buNone/>
            </a:pPr>
            <a:r>
              <a:rPr lang="en-US" sz="4000" b="1" dirty="0">
                <a:solidFill>
                  <a:schemeClr val="accent1"/>
                </a:solidFill>
                <a:latin typeface="Arial" panose="020B0604020202020204" pitchFamily="34" charset="0"/>
                <a:ea typeface="Arial" panose="020B0604020202020204" pitchFamily="34" charset="-122"/>
                <a:cs typeface="Arial" panose="020B0604020202020204" pitchFamily="34" charset="-120"/>
              </a:rPr>
              <a:t>1</a:t>
            </a:r>
            <a:endParaRPr lang="en-US" sz="4000" dirty="0"/>
          </a:p>
        </p:txBody>
      </p:sp>
      <p:sp>
        <p:nvSpPr>
          <p:cNvPr id="5" name="Shape 3"/>
          <p:cNvSpPr/>
          <p:nvPr/>
        </p:nvSpPr>
        <p:spPr>
          <a:xfrm>
            <a:off x="1417320" y="1874520"/>
            <a:ext cx="548640" cy="548640"/>
          </a:xfrm>
          <a:prstGeom prst="ellipse">
            <a:avLst/>
          </a:prstGeom>
          <a:solidFill>
            <a:schemeClr val="accent1"/>
          </a:solidFill>
          <a:ln w="12700">
            <a:solidFill>
              <a:schemeClr val="accent1"/>
            </a:solidFill>
            <a:prstDash val="solid"/>
          </a:ln>
        </p:spPr>
      </p:sp>
      <p:pic>
        <p:nvPicPr>
          <p:cNvPr id="6" name="Image 0" descr="preencoded.png"/>
          <p:cNvPicPr>
            <a:picLocks noChangeAspect="1"/>
          </p:cNvPicPr>
          <p:nvPr/>
        </p:nvPicPr>
        <p:blipFill>
          <a:blip r:embed="rId1"/>
          <a:stretch>
            <a:fillRect/>
          </a:stretch>
        </p:blipFill>
        <p:spPr>
          <a:xfrm>
            <a:off x="1554480" y="2011680"/>
            <a:ext cx="274320" cy="274320"/>
          </a:xfrm>
          <a:prstGeom prst="rect">
            <a:avLst/>
          </a:prstGeom>
        </p:spPr>
      </p:pic>
      <p:sp>
        <p:nvSpPr>
          <p:cNvPr id="7" name="Text 4"/>
          <p:cNvSpPr txBox="1"/>
          <p:nvPr/>
        </p:nvSpPr>
        <p:spPr>
          <a:xfrm>
            <a:off x="2194560" y="1554480"/>
            <a:ext cx="4937760" cy="1188720"/>
          </a:xfrm>
          <a:prstGeom prst="rect">
            <a:avLst/>
          </a:prstGeom>
          <a:noFill/>
        </p:spPr>
        <p:txBody>
          <a:bodyPr wrap="square" lIns="0" tIns="0" rIns="0" bIns="0" rtlCol="0" anchor="ctr"/>
          <a:lstStyle/>
          <a:p>
            <a:pPr marL="0" indent="0">
              <a:buNone/>
            </a:pPr>
            <a:r>
              <a:rPr lang="en-US" sz="1800" b="1" dirty="0">
                <a:solidFill>
                  <a:schemeClr val="bg1"/>
                </a:solidFill>
              </a:rPr>
              <a:t>Seat holds</a:t>
            </a:r>
            <a:endParaRPr lang="en-US" sz="1800" dirty="0"/>
          </a:p>
          <a:p>
            <a:pPr marL="0" indent="0">
              <a:buNone/>
            </a:pPr>
            <a:r>
              <a:rPr lang="en-US" sz="1400" dirty="0">
                <a:solidFill>
                  <a:schemeClr val="bg2"/>
                </a:solidFill>
              </a:rPr>
              <a:t>Continue writes the seats to seat_holds. A UNIQUE (show_id, seat_label) key makes the database refuse a second hold on the same seat.</a:t>
            </a:r>
            <a:endParaRPr lang="en-US" sz="1800" dirty="0"/>
          </a:p>
        </p:txBody>
      </p:sp>
      <p:sp>
        <p:nvSpPr>
          <p:cNvPr id="8" name="Shape 5"/>
          <p:cNvSpPr/>
          <p:nvPr/>
        </p:nvSpPr>
        <p:spPr>
          <a:xfrm>
            <a:off x="548640" y="3035808"/>
            <a:ext cx="6766560" cy="1371600"/>
          </a:xfrm>
          <a:prstGeom prst="roundRect">
            <a:avLst>
              <a:gd name="adj" fmla="val 6667"/>
            </a:avLst>
          </a:prstGeom>
          <a:solidFill>
            <a:schemeClr val="tx2"/>
          </a:solidFill>
          <a:ln w="9525">
            <a:solidFill>
              <a:srgbClr val="3A3B48"/>
            </a:solidFill>
            <a:prstDash val="solid"/>
          </a:ln>
        </p:spPr>
      </p:sp>
      <p:sp>
        <p:nvSpPr>
          <p:cNvPr id="9" name="Text 6"/>
          <p:cNvSpPr txBox="1"/>
          <p:nvPr/>
        </p:nvSpPr>
        <p:spPr>
          <a:xfrm>
            <a:off x="777240" y="3035808"/>
            <a:ext cx="548640" cy="1371600"/>
          </a:xfrm>
          <a:prstGeom prst="rect">
            <a:avLst/>
          </a:prstGeom>
          <a:noFill/>
        </p:spPr>
        <p:txBody>
          <a:bodyPr wrap="square" lIns="0" tIns="0" rIns="0" bIns="0" rtlCol="0" anchor="ctr"/>
          <a:lstStyle/>
          <a:p>
            <a:pPr marL="0" indent="0">
              <a:buNone/>
            </a:pPr>
            <a:r>
              <a:rPr lang="en-US" sz="4000" b="1" dirty="0">
                <a:solidFill>
                  <a:schemeClr val="accent1"/>
                </a:solidFill>
                <a:latin typeface="Arial" panose="020B0604020202020204" pitchFamily="34" charset="0"/>
                <a:ea typeface="Arial" panose="020B0604020202020204" pitchFamily="34" charset="-122"/>
                <a:cs typeface="Arial" panose="020B0604020202020204" pitchFamily="34" charset="-120"/>
              </a:rPr>
              <a:t>2</a:t>
            </a:r>
            <a:endParaRPr lang="en-US" sz="4000" dirty="0"/>
          </a:p>
        </p:txBody>
      </p:sp>
      <p:sp>
        <p:nvSpPr>
          <p:cNvPr id="10" name="Shape 7"/>
          <p:cNvSpPr/>
          <p:nvPr/>
        </p:nvSpPr>
        <p:spPr>
          <a:xfrm>
            <a:off x="1417320" y="3447288"/>
            <a:ext cx="548640" cy="548640"/>
          </a:xfrm>
          <a:prstGeom prst="ellipse">
            <a:avLst/>
          </a:prstGeom>
          <a:solidFill>
            <a:schemeClr val="accent1"/>
          </a:solidFill>
          <a:ln w="12700">
            <a:solidFill>
              <a:schemeClr val="accent1"/>
            </a:solidFill>
            <a:prstDash val="solid"/>
          </a:ln>
        </p:spPr>
      </p:sp>
      <p:pic>
        <p:nvPicPr>
          <p:cNvPr id="11" name="Image 1" descr="preencoded.png"/>
          <p:cNvPicPr>
            <a:picLocks noChangeAspect="1"/>
          </p:cNvPicPr>
          <p:nvPr/>
        </p:nvPicPr>
        <p:blipFill>
          <a:blip r:embed="rId2"/>
          <a:stretch>
            <a:fillRect/>
          </a:stretch>
        </p:blipFill>
        <p:spPr>
          <a:xfrm>
            <a:off x="1554480" y="3584448"/>
            <a:ext cx="274320" cy="274320"/>
          </a:xfrm>
          <a:prstGeom prst="rect">
            <a:avLst/>
          </a:prstGeom>
        </p:spPr>
      </p:pic>
      <p:sp>
        <p:nvSpPr>
          <p:cNvPr id="12" name="Text 8"/>
          <p:cNvSpPr txBox="1"/>
          <p:nvPr/>
        </p:nvSpPr>
        <p:spPr>
          <a:xfrm>
            <a:off x="2194560" y="3127248"/>
            <a:ext cx="4937760" cy="1188720"/>
          </a:xfrm>
          <a:prstGeom prst="rect">
            <a:avLst/>
          </a:prstGeom>
          <a:noFill/>
        </p:spPr>
        <p:txBody>
          <a:bodyPr wrap="square" lIns="0" tIns="0" rIns="0" bIns="0" rtlCol="0" anchor="ctr"/>
          <a:lstStyle/>
          <a:p>
            <a:pPr marL="0" indent="0">
              <a:buNone/>
            </a:pPr>
            <a:r>
              <a:rPr lang="en-US" sz="1800" b="1" dirty="0">
                <a:solidFill>
                  <a:schemeClr val="bg1"/>
                </a:solidFill>
              </a:rPr>
              <a:t>5-minute expiry</a:t>
            </a:r>
            <a:endParaRPr lang="en-US" sz="1800" dirty="0"/>
          </a:p>
          <a:p>
            <a:pPr marL="0" indent="0">
              <a:buNone/>
            </a:pPr>
            <a:r>
              <a:rPr lang="en-US" sz="1400" dirty="0">
                <a:solidFill>
                  <a:schemeClr val="bg2"/>
                </a:solidFill>
              </a:rPr>
              <a:t>Holds expire after 5 minutes, so abandoned checkouts never block seats; the seat map refreshes and shows them as On hold.</a:t>
            </a:r>
            <a:endParaRPr lang="en-US" sz="1800" dirty="0"/>
          </a:p>
        </p:txBody>
      </p:sp>
      <p:sp>
        <p:nvSpPr>
          <p:cNvPr id="13" name="Shape 9"/>
          <p:cNvSpPr/>
          <p:nvPr/>
        </p:nvSpPr>
        <p:spPr>
          <a:xfrm>
            <a:off x="548640" y="4608576"/>
            <a:ext cx="6766560" cy="1371600"/>
          </a:xfrm>
          <a:prstGeom prst="roundRect">
            <a:avLst>
              <a:gd name="adj" fmla="val 6667"/>
            </a:avLst>
          </a:prstGeom>
          <a:solidFill>
            <a:schemeClr val="tx2"/>
          </a:solidFill>
          <a:ln w="9525">
            <a:solidFill>
              <a:srgbClr val="3A3B48"/>
            </a:solidFill>
            <a:prstDash val="solid"/>
          </a:ln>
        </p:spPr>
      </p:sp>
      <p:sp>
        <p:nvSpPr>
          <p:cNvPr id="14" name="Text 10"/>
          <p:cNvSpPr txBox="1"/>
          <p:nvPr/>
        </p:nvSpPr>
        <p:spPr>
          <a:xfrm>
            <a:off x="777240" y="4608576"/>
            <a:ext cx="548640" cy="1371600"/>
          </a:xfrm>
          <a:prstGeom prst="rect">
            <a:avLst/>
          </a:prstGeom>
          <a:noFill/>
        </p:spPr>
        <p:txBody>
          <a:bodyPr wrap="square" lIns="0" tIns="0" rIns="0" bIns="0" rtlCol="0" anchor="ctr"/>
          <a:lstStyle/>
          <a:p>
            <a:pPr marL="0" indent="0">
              <a:buNone/>
            </a:pPr>
            <a:r>
              <a:rPr lang="en-US" sz="4000" b="1" dirty="0">
                <a:solidFill>
                  <a:schemeClr val="accent1"/>
                </a:solidFill>
                <a:latin typeface="Arial" panose="020B0604020202020204" pitchFamily="34" charset="0"/>
                <a:ea typeface="Arial" panose="020B0604020202020204" pitchFamily="34" charset="-122"/>
                <a:cs typeface="Arial" panose="020B0604020202020204" pitchFamily="34" charset="-120"/>
              </a:rPr>
              <a:t>3</a:t>
            </a:r>
            <a:endParaRPr lang="en-US" sz="4000" dirty="0"/>
          </a:p>
        </p:txBody>
      </p:sp>
      <p:sp>
        <p:nvSpPr>
          <p:cNvPr id="15" name="Shape 11"/>
          <p:cNvSpPr/>
          <p:nvPr/>
        </p:nvSpPr>
        <p:spPr>
          <a:xfrm>
            <a:off x="1417320" y="5020056"/>
            <a:ext cx="548640" cy="548640"/>
          </a:xfrm>
          <a:prstGeom prst="ellipse">
            <a:avLst/>
          </a:prstGeom>
          <a:solidFill>
            <a:schemeClr val="accent1"/>
          </a:solidFill>
          <a:ln w="12700">
            <a:solidFill>
              <a:schemeClr val="accent1"/>
            </a:solidFill>
            <a:prstDash val="solid"/>
          </a:ln>
        </p:spPr>
      </p:sp>
      <p:pic>
        <p:nvPicPr>
          <p:cNvPr id="16" name="Image 2" descr="preencoded.png"/>
          <p:cNvPicPr>
            <a:picLocks noChangeAspect="1"/>
          </p:cNvPicPr>
          <p:nvPr/>
        </p:nvPicPr>
        <p:blipFill>
          <a:blip r:embed="rId3"/>
          <a:stretch>
            <a:fillRect/>
          </a:stretch>
        </p:blipFill>
        <p:spPr>
          <a:xfrm>
            <a:off x="1554480" y="5157216"/>
            <a:ext cx="274320" cy="274320"/>
          </a:xfrm>
          <a:prstGeom prst="rect">
            <a:avLst/>
          </a:prstGeom>
        </p:spPr>
      </p:pic>
      <p:sp>
        <p:nvSpPr>
          <p:cNvPr id="17" name="Text 12"/>
          <p:cNvSpPr txBox="1"/>
          <p:nvPr/>
        </p:nvSpPr>
        <p:spPr>
          <a:xfrm>
            <a:off x="2194560" y="4700016"/>
            <a:ext cx="4937760" cy="1188720"/>
          </a:xfrm>
          <a:prstGeom prst="rect">
            <a:avLst/>
          </a:prstGeom>
          <a:noFill/>
        </p:spPr>
        <p:txBody>
          <a:bodyPr wrap="square" lIns="0" tIns="0" rIns="0" bIns="0" rtlCol="0" anchor="ctr"/>
          <a:lstStyle/>
          <a:p>
            <a:pPr marL="0" indent="0">
              <a:buNone/>
            </a:pPr>
            <a:r>
              <a:rPr lang="en-US" sz="1800" b="1" dirty="0">
                <a:solidFill>
                  <a:schemeClr val="bg1"/>
                </a:solidFill>
              </a:rPr>
              <a:t>Transaction on payment</a:t>
            </a:r>
            <a:endParaRPr lang="en-US" sz="1800" dirty="0"/>
          </a:p>
          <a:p>
            <a:pPr marL="0" indent="0">
              <a:buNone/>
            </a:pPr>
            <a:r>
              <a:rPr lang="en-US" sz="1400" dirty="0">
                <a:solidFill>
                  <a:schemeClr val="bg2"/>
                </a:solidFill>
              </a:rPr>
              <a:t>finalize_booking() moves seats to booking_seats (also UNIQUE) inside BEGIN … COMMIT. Any failure rolls the whole booking back.</a:t>
            </a:r>
            <a:endParaRPr lang="en-US" sz="1800" dirty="0"/>
          </a:p>
        </p:txBody>
      </p:sp>
      <p:sp>
        <p:nvSpPr>
          <p:cNvPr id="18" name="Shape 13"/>
          <p:cNvSpPr/>
          <p:nvPr/>
        </p:nvSpPr>
        <p:spPr>
          <a:xfrm>
            <a:off x="7680960" y="1463040"/>
            <a:ext cx="3962095" cy="4517136"/>
          </a:xfrm>
          <a:prstGeom prst="roundRect">
            <a:avLst>
              <a:gd name="adj" fmla="val 2308"/>
            </a:avLst>
          </a:prstGeom>
          <a:solidFill>
            <a:schemeClr val="tx2"/>
          </a:solidFill>
          <a:ln w="9525">
            <a:solidFill>
              <a:srgbClr val="3A3B48"/>
            </a:solidFill>
            <a:prstDash val="solid"/>
          </a:ln>
        </p:spPr>
      </p:sp>
      <p:sp>
        <p:nvSpPr>
          <p:cNvPr id="19" name="Text 14"/>
          <p:cNvSpPr txBox="1"/>
          <p:nvPr/>
        </p:nvSpPr>
        <p:spPr>
          <a:xfrm>
            <a:off x="7955280" y="1645920"/>
            <a:ext cx="3413455" cy="457200"/>
          </a:xfrm>
          <a:prstGeom prst="rect">
            <a:avLst/>
          </a:prstGeom>
          <a:noFill/>
        </p:spPr>
        <p:txBody>
          <a:bodyPr wrap="square" lIns="0" tIns="0" rIns="0" bIns="0" rtlCol="0" anchor="ctr"/>
          <a:lstStyle/>
          <a:p>
            <a:pPr marL="0" indent="0">
              <a:buNone/>
            </a:pPr>
            <a:r>
              <a:rPr lang="en-US" sz="1800" b="1" dirty="0">
                <a:solidFill>
                  <a:schemeClr val="bg1"/>
                </a:solidFill>
              </a:rPr>
              <a:t>Tested with two users</a:t>
            </a:r>
            <a:endParaRPr lang="en-US" sz="1800" dirty="0"/>
          </a:p>
        </p:txBody>
      </p:sp>
      <p:sp>
        <p:nvSpPr>
          <p:cNvPr id="20" name="Text 15"/>
          <p:cNvSpPr txBox="1"/>
          <p:nvPr/>
        </p:nvSpPr>
        <p:spPr>
          <a:xfrm>
            <a:off x="7955280" y="2240280"/>
            <a:ext cx="3413455" cy="3566160"/>
          </a:xfrm>
          <a:prstGeom prst="rect">
            <a:avLst/>
          </a:prstGeom>
          <a:noFill/>
        </p:spPr>
        <p:txBody>
          <a:bodyPr wrap="square" lIns="0" tIns="0" rIns="0" bIns="0" rtlCol="0" anchor="t"/>
          <a:lstStyle/>
          <a:p>
            <a:pPr marL="342900" indent="-342900">
              <a:spcAft>
                <a:spcPts val="1000"/>
              </a:spcAft>
              <a:buSzPct val="100000"/>
              <a:buFont typeface="+mj-lt"/>
              <a:buAutoNum type="arabicPeriod"/>
            </a:pPr>
            <a:r>
              <a:rPr lang="en-US" sz="1600" dirty="0">
                <a:solidFill>
                  <a:schemeClr val="bg1"/>
                </a:solidFill>
              </a:rPr>
              <a:t>User 1 selects C9 and presses Continue</a:t>
            </a:r>
            <a:endParaRPr lang="en-US" sz="1600" dirty="0"/>
          </a:p>
          <a:p>
            <a:pPr marL="342900" indent="-342900">
              <a:spcAft>
                <a:spcPts val="1000"/>
              </a:spcAft>
              <a:buSzPct val="100000"/>
              <a:buFont typeface="+mj-lt"/>
              <a:buAutoNum type="arabicPeriod"/>
            </a:pPr>
            <a:r>
              <a:rPr lang="en-US" sz="1600" dirty="0">
                <a:solidFill>
                  <a:schemeClr val="bg1"/>
                </a:solidFill>
              </a:rPr>
              <a:t>User 2 opens the same show: C9 shows On hold</a:t>
            </a:r>
            <a:endParaRPr lang="en-US" sz="1600" dirty="0"/>
          </a:p>
          <a:p>
            <a:pPr marL="342900" indent="-342900">
              <a:spcAft>
                <a:spcPts val="1000"/>
              </a:spcAft>
              <a:buSzPct val="100000"/>
              <a:buFont typeface="+mj-lt"/>
              <a:buAutoNum type="arabicPeriod"/>
            </a:pPr>
            <a:r>
              <a:rPr lang="en-US" sz="1600" dirty="0">
                <a:solidFill>
                  <a:schemeClr val="bg1"/>
                </a:solidFill>
              </a:rPr>
              <a:t>If both press Continue together, the second one gets "Sorry, C9 was just taken"</a:t>
            </a:r>
            <a:endParaRPr lang="en-US" sz="1600" dirty="0"/>
          </a:p>
          <a:p>
            <a:pPr marL="342900" indent="-342900">
              <a:spcAft>
                <a:spcPts val="1000"/>
              </a:spcAft>
              <a:buSzPct val="100000"/>
              <a:buFont typeface="+mj-lt"/>
              <a:buAutoNum type="arabicPeriod"/>
            </a:pPr>
            <a:r>
              <a:rPr lang="en-US" sz="1600" dirty="0">
                <a:solidFill>
                  <a:schemeClr val="bg1"/>
                </a:solidFill>
              </a:rPr>
              <a:t>Result: one booking, one seat, no double sale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Security built into every page</a:t>
            </a:r>
            <a:endParaRPr lang="en-US" sz="3200" dirty="0"/>
          </a:p>
        </p:txBody>
      </p:sp>
      <p:sp>
        <p:nvSpPr>
          <p:cNvPr id="3" name="Shape 1"/>
          <p:cNvSpPr/>
          <p:nvPr/>
        </p:nvSpPr>
        <p:spPr>
          <a:xfrm>
            <a:off x="548640" y="1463040"/>
            <a:ext cx="3454298" cy="2148840"/>
          </a:xfrm>
          <a:prstGeom prst="roundRect">
            <a:avLst>
              <a:gd name="adj" fmla="val 4255"/>
            </a:avLst>
          </a:prstGeom>
          <a:solidFill>
            <a:schemeClr val="tx2"/>
          </a:solidFill>
          <a:ln w="9525">
            <a:solidFill>
              <a:srgbClr val="3A3B48"/>
            </a:solidFill>
            <a:prstDash val="solid"/>
          </a:ln>
        </p:spPr>
      </p:sp>
      <p:sp>
        <p:nvSpPr>
          <p:cNvPr id="4" name="Shape 2"/>
          <p:cNvSpPr/>
          <p:nvPr/>
        </p:nvSpPr>
        <p:spPr>
          <a:xfrm>
            <a:off x="822960" y="1737360"/>
            <a:ext cx="548640" cy="548640"/>
          </a:xfrm>
          <a:prstGeom prst="ellipse">
            <a:avLst/>
          </a:prstGeom>
          <a:solidFill>
            <a:schemeClr val="accent1"/>
          </a:solidFill>
          <a:ln w="12700">
            <a:solidFill>
              <a:schemeClr val="accent1"/>
            </a:solidFill>
            <a:prstDash val="solid"/>
          </a:ln>
        </p:spPr>
      </p:sp>
      <p:pic>
        <p:nvPicPr>
          <p:cNvPr id="5" name="Image 0" descr="preencoded.png"/>
          <p:cNvPicPr>
            <a:picLocks noChangeAspect="1"/>
          </p:cNvPicPr>
          <p:nvPr/>
        </p:nvPicPr>
        <p:blipFill>
          <a:blip r:embed="rId1"/>
          <a:stretch>
            <a:fillRect/>
          </a:stretch>
        </p:blipFill>
        <p:spPr>
          <a:xfrm>
            <a:off x="960120" y="1874520"/>
            <a:ext cx="274320" cy="274320"/>
          </a:xfrm>
          <a:prstGeom prst="rect">
            <a:avLst/>
          </a:prstGeom>
        </p:spPr>
      </p:pic>
      <p:sp>
        <p:nvSpPr>
          <p:cNvPr id="6" name="Text 3"/>
          <p:cNvSpPr txBox="1"/>
          <p:nvPr/>
        </p:nvSpPr>
        <p:spPr>
          <a:xfrm>
            <a:off x="1554480" y="1737360"/>
            <a:ext cx="2265578" cy="548640"/>
          </a:xfrm>
          <a:prstGeom prst="rect">
            <a:avLst/>
          </a:prstGeom>
          <a:noFill/>
        </p:spPr>
        <p:txBody>
          <a:bodyPr wrap="square" lIns="0" tIns="0" rIns="0" bIns="0" rtlCol="0" anchor="ctr"/>
          <a:lstStyle/>
          <a:p>
            <a:pPr marL="0" indent="0">
              <a:buNone/>
            </a:pPr>
            <a:r>
              <a:rPr lang="en-US" sz="1800" b="1" dirty="0">
                <a:solidFill>
                  <a:schemeClr val="bg1"/>
                </a:solidFill>
              </a:rPr>
              <a:t>SQL injection</a:t>
            </a:r>
            <a:endParaRPr lang="en-US" sz="1800" dirty="0"/>
          </a:p>
        </p:txBody>
      </p:sp>
      <p:sp>
        <p:nvSpPr>
          <p:cNvPr id="7" name="Text 4"/>
          <p:cNvSpPr txBox="1"/>
          <p:nvPr/>
        </p:nvSpPr>
        <p:spPr>
          <a:xfrm>
            <a:off x="822960" y="2468880"/>
            <a:ext cx="2905658" cy="1005840"/>
          </a:xfrm>
          <a:prstGeom prst="rect">
            <a:avLst/>
          </a:prstGeom>
          <a:noFill/>
        </p:spPr>
        <p:txBody>
          <a:bodyPr wrap="square" lIns="0" tIns="0" rIns="0" bIns="0" rtlCol="0" anchor="t"/>
          <a:lstStyle/>
          <a:p>
            <a:pPr marL="0" indent="0">
              <a:buNone/>
            </a:pPr>
            <a:r>
              <a:rPr lang="en-US" sz="1500" dirty="0">
                <a:solidFill>
                  <a:schemeClr val="bg2"/>
                </a:solidFill>
              </a:rPr>
              <a:t>db_query() uses prepared statements: input is always data, never SQL</a:t>
            </a:r>
            <a:endParaRPr lang="en-US" sz="1500" dirty="0"/>
          </a:p>
        </p:txBody>
      </p:sp>
      <p:sp>
        <p:nvSpPr>
          <p:cNvPr id="8" name="Shape 5"/>
          <p:cNvSpPr/>
          <p:nvPr/>
        </p:nvSpPr>
        <p:spPr>
          <a:xfrm>
            <a:off x="4368698" y="1463040"/>
            <a:ext cx="3454298" cy="2148840"/>
          </a:xfrm>
          <a:prstGeom prst="roundRect">
            <a:avLst>
              <a:gd name="adj" fmla="val 4255"/>
            </a:avLst>
          </a:prstGeom>
          <a:solidFill>
            <a:schemeClr val="tx2"/>
          </a:solidFill>
          <a:ln w="9525">
            <a:solidFill>
              <a:srgbClr val="3A3B48"/>
            </a:solidFill>
            <a:prstDash val="solid"/>
          </a:ln>
        </p:spPr>
      </p:sp>
      <p:sp>
        <p:nvSpPr>
          <p:cNvPr id="9" name="Shape 6"/>
          <p:cNvSpPr/>
          <p:nvPr/>
        </p:nvSpPr>
        <p:spPr>
          <a:xfrm>
            <a:off x="4643018" y="1737360"/>
            <a:ext cx="548640" cy="548640"/>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2"/>
          <a:stretch>
            <a:fillRect/>
          </a:stretch>
        </p:blipFill>
        <p:spPr>
          <a:xfrm>
            <a:off x="4780178" y="1874520"/>
            <a:ext cx="274320" cy="274320"/>
          </a:xfrm>
          <a:prstGeom prst="rect">
            <a:avLst/>
          </a:prstGeom>
        </p:spPr>
      </p:pic>
      <p:sp>
        <p:nvSpPr>
          <p:cNvPr id="11" name="Text 7"/>
          <p:cNvSpPr txBox="1"/>
          <p:nvPr/>
        </p:nvSpPr>
        <p:spPr>
          <a:xfrm>
            <a:off x="5374538" y="1737360"/>
            <a:ext cx="2265578" cy="548640"/>
          </a:xfrm>
          <a:prstGeom prst="rect">
            <a:avLst/>
          </a:prstGeom>
          <a:noFill/>
        </p:spPr>
        <p:txBody>
          <a:bodyPr wrap="square" lIns="0" tIns="0" rIns="0" bIns="0" rtlCol="0" anchor="ctr"/>
          <a:lstStyle/>
          <a:p>
            <a:pPr marL="0" indent="0">
              <a:buNone/>
            </a:pPr>
            <a:r>
              <a:rPr lang="en-US" sz="1800" b="1" dirty="0">
                <a:solidFill>
                  <a:schemeClr val="bg1"/>
                </a:solidFill>
              </a:rPr>
              <a:t>Cross-site scripting</a:t>
            </a:r>
            <a:endParaRPr lang="en-US" sz="1800" dirty="0"/>
          </a:p>
        </p:txBody>
      </p:sp>
      <p:sp>
        <p:nvSpPr>
          <p:cNvPr id="12" name="Text 8"/>
          <p:cNvSpPr txBox="1"/>
          <p:nvPr/>
        </p:nvSpPr>
        <p:spPr>
          <a:xfrm>
            <a:off x="4643018" y="2468880"/>
            <a:ext cx="2905658" cy="1005840"/>
          </a:xfrm>
          <a:prstGeom prst="rect">
            <a:avLst/>
          </a:prstGeom>
          <a:noFill/>
        </p:spPr>
        <p:txBody>
          <a:bodyPr wrap="square" lIns="0" tIns="0" rIns="0" bIns="0" rtlCol="0" anchor="t"/>
          <a:lstStyle/>
          <a:p>
            <a:pPr marL="0" indent="0">
              <a:buNone/>
            </a:pPr>
            <a:r>
              <a:rPr lang="en-US" sz="1500" dirty="0">
                <a:solidFill>
                  <a:schemeClr val="bg2"/>
                </a:solidFill>
              </a:rPr>
              <a:t>Every printed value goes through e() = htmlspecialchars</a:t>
            </a:r>
            <a:endParaRPr lang="en-US" sz="1500" dirty="0"/>
          </a:p>
        </p:txBody>
      </p:sp>
      <p:sp>
        <p:nvSpPr>
          <p:cNvPr id="13" name="Shape 9"/>
          <p:cNvSpPr/>
          <p:nvPr/>
        </p:nvSpPr>
        <p:spPr>
          <a:xfrm>
            <a:off x="8188757" y="1463040"/>
            <a:ext cx="3454298" cy="2148840"/>
          </a:xfrm>
          <a:prstGeom prst="roundRect">
            <a:avLst>
              <a:gd name="adj" fmla="val 4255"/>
            </a:avLst>
          </a:prstGeom>
          <a:solidFill>
            <a:schemeClr val="tx2"/>
          </a:solidFill>
          <a:ln w="9525">
            <a:solidFill>
              <a:srgbClr val="3A3B48"/>
            </a:solidFill>
            <a:prstDash val="solid"/>
          </a:ln>
        </p:spPr>
      </p:sp>
      <p:sp>
        <p:nvSpPr>
          <p:cNvPr id="14" name="Shape 10"/>
          <p:cNvSpPr/>
          <p:nvPr/>
        </p:nvSpPr>
        <p:spPr>
          <a:xfrm>
            <a:off x="8463077" y="1737360"/>
            <a:ext cx="548640" cy="548640"/>
          </a:xfrm>
          <a:prstGeom prst="ellipse">
            <a:avLst/>
          </a:prstGeom>
          <a:solidFill>
            <a:schemeClr val="accent1"/>
          </a:solidFill>
          <a:ln w="12700">
            <a:solidFill>
              <a:schemeClr val="accent1"/>
            </a:solidFill>
            <a:prstDash val="solid"/>
          </a:ln>
        </p:spPr>
      </p:sp>
      <p:pic>
        <p:nvPicPr>
          <p:cNvPr id="15" name="Image 2" descr="preencoded.png"/>
          <p:cNvPicPr>
            <a:picLocks noChangeAspect="1"/>
          </p:cNvPicPr>
          <p:nvPr/>
        </p:nvPicPr>
        <p:blipFill>
          <a:blip r:embed="rId3"/>
          <a:stretch>
            <a:fillRect/>
          </a:stretch>
        </p:blipFill>
        <p:spPr>
          <a:xfrm>
            <a:off x="8600237" y="1874520"/>
            <a:ext cx="274320" cy="274320"/>
          </a:xfrm>
          <a:prstGeom prst="rect">
            <a:avLst/>
          </a:prstGeom>
        </p:spPr>
      </p:pic>
      <p:sp>
        <p:nvSpPr>
          <p:cNvPr id="16" name="Text 11"/>
          <p:cNvSpPr txBox="1"/>
          <p:nvPr/>
        </p:nvSpPr>
        <p:spPr>
          <a:xfrm>
            <a:off x="9194597" y="1737360"/>
            <a:ext cx="2265578" cy="548640"/>
          </a:xfrm>
          <a:prstGeom prst="rect">
            <a:avLst/>
          </a:prstGeom>
          <a:noFill/>
        </p:spPr>
        <p:txBody>
          <a:bodyPr wrap="square" lIns="0" tIns="0" rIns="0" bIns="0" rtlCol="0" anchor="ctr"/>
          <a:lstStyle/>
          <a:p>
            <a:pPr marL="0" indent="0">
              <a:buNone/>
            </a:pPr>
            <a:r>
              <a:rPr lang="en-US" sz="1800" b="1" dirty="0">
                <a:solidFill>
                  <a:schemeClr val="bg1"/>
                </a:solidFill>
              </a:rPr>
              <a:t>CSRF tokens</a:t>
            </a:r>
            <a:endParaRPr lang="en-US" sz="1800" dirty="0"/>
          </a:p>
        </p:txBody>
      </p:sp>
      <p:sp>
        <p:nvSpPr>
          <p:cNvPr id="17" name="Text 12"/>
          <p:cNvSpPr txBox="1"/>
          <p:nvPr/>
        </p:nvSpPr>
        <p:spPr>
          <a:xfrm>
            <a:off x="8463077" y="2468880"/>
            <a:ext cx="2905658" cy="1005840"/>
          </a:xfrm>
          <a:prstGeom prst="rect">
            <a:avLst/>
          </a:prstGeom>
          <a:noFill/>
        </p:spPr>
        <p:txBody>
          <a:bodyPr wrap="square" lIns="0" tIns="0" rIns="0" bIns="0" rtlCol="0" anchor="t"/>
          <a:lstStyle/>
          <a:p>
            <a:pPr marL="0" indent="0">
              <a:buNone/>
            </a:pPr>
            <a:r>
              <a:rPr lang="en-US" sz="1500" dirty="0">
                <a:solidFill>
                  <a:schemeClr val="bg2"/>
                </a:solidFill>
              </a:rPr>
              <a:t>Random token per session on every form and admin delete link, checked with hash_equals</a:t>
            </a:r>
            <a:endParaRPr lang="en-US" sz="1500" dirty="0"/>
          </a:p>
        </p:txBody>
      </p:sp>
      <p:sp>
        <p:nvSpPr>
          <p:cNvPr id="18" name="Shape 13"/>
          <p:cNvSpPr/>
          <p:nvPr/>
        </p:nvSpPr>
        <p:spPr>
          <a:xfrm>
            <a:off x="548640" y="3931920"/>
            <a:ext cx="3454298" cy="2148840"/>
          </a:xfrm>
          <a:prstGeom prst="roundRect">
            <a:avLst>
              <a:gd name="adj" fmla="val 4255"/>
            </a:avLst>
          </a:prstGeom>
          <a:solidFill>
            <a:schemeClr val="tx2"/>
          </a:solidFill>
          <a:ln w="9525">
            <a:solidFill>
              <a:srgbClr val="3A3B48"/>
            </a:solidFill>
            <a:prstDash val="solid"/>
          </a:ln>
        </p:spPr>
      </p:sp>
      <p:sp>
        <p:nvSpPr>
          <p:cNvPr id="19" name="Shape 14"/>
          <p:cNvSpPr/>
          <p:nvPr/>
        </p:nvSpPr>
        <p:spPr>
          <a:xfrm>
            <a:off x="822960" y="4206240"/>
            <a:ext cx="548640" cy="548640"/>
          </a:xfrm>
          <a:prstGeom prst="ellipse">
            <a:avLst/>
          </a:prstGeom>
          <a:solidFill>
            <a:schemeClr val="accent1"/>
          </a:solidFill>
          <a:ln w="12700">
            <a:solidFill>
              <a:schemeClr val="accent1"/>
            </a:solidFill>
            <a:prstDash val="solid"/>
          </a:ln>
        </p:spPr>
      </p:sp>
      <p:pic>
        <p:nvPicPr>
          <p:cNvPr id="20" name="Image 3" descr="preencoded.png"/>
          <p:cNvPicPr>
            <a:picLocks noChangeAspect="1"/>
          </p:cNvPicPr>
          <p:nvPr/>
        </p:nvPicPr>
        <p:blipFill>
          <a:blip r:embed="rId4"/>
          <a:stretch>
            <a:fillRect/>
          </a:stretch>
        </p:blipFill>
        <p:spPr>
          <a:xfrm>
            <a:off x="960120" y="4343400"/>
            <a:ext cx="274320" cy="274320"/>
          </a:xfrm>
          <a:prstGeom prst="rect">
            <a:avLst/>
          </a:prstGeom>
        </p:spPr>
      </p:pic>
      <p:sp>
        <p:nvSpPr>
          <p:cNvPr id="21" name="Text 15"/>
          <p:cNvSpPr txBox="1"/>
          <p:nvPr/>
        </p:nvSpPr>
        <p:spPr>
          <a:xfrm>
            <a:off x="1554480" y="4206240"/>
            <a:ext cx="2265578" cy="548640"/>
          </a:xfrm>
          <a:prstGeom prst="rect">
            <a:avLst/>
          </a:prstGeom>
          <a:noFill/>
        </p:spPr>
        <p:txBody>
          <a:bodyPr wrap="square" lIns="0" tIns="0" rIns="0" bIns="0" rtlCol="0" anchor="ctr"/>
          <a:lstStyle/>
          <a:p>
            <a:pPr marL="0" indent="0">
              <a:buNone/>
            </a:pPr>
            <a:r>
              <a:rPr lang="en-US" sz="1800" b="1" dirty="0">
                <a:solidFill>
                  <a:schemeClr val="bg1"/>
                </a:solidFill>
              </a:rPr>
              <a:t>Access control</a:t>
            </a:r>
            <a:endParaRPr lang="en-US" sz="1800" dirty="0"/>
          </a:p>
        </p:txBody>
      </p:sp>
      <p:sp>
        <p:nvSpPr>
          <p:cNvPr id="22" name="Text 16"/>
          <p:cNvSpPr txBox="1"/>
          <p:nvPr/>
        </p:nvSpPr>
        <p:spPr>
          <a:xfrm>
            <a:off x="822960" y="4937760"/>
            <a:ext cx="2905658" cy="1005840"/>
          </a:xfrm>
          <a:prstGeom prst="rect">
            <a:avLst/>
          </a:prstGeom>
          <a:noFill/>
        </p:spPr>
        <p:txBody>
          <a:bodyPr wrap="square" lIns="0" tIns="0" rIns="0" bIns="0" rtlCol="0" anchor="t"/>
          <a:lstStyle/>
          <a:p>
            <a:pPr marL="0" indent="0">
              <a:buNone/>
            </a:pPr>
            <a:r>
              <a:rPr lang="en-US" sz="1500" dirty="0">
                <a:solidFill>
                  <a:schemeClr val="bg2"/>
                </a:solidFill>
              </a:rPr>
              <a:t>auth.php guards all admin pages; blocked customers are signed out</a:t>
            </a:r>
            <a:endParaRPr lang="en-US" sz="1500" dirty="0"/>
          </a:p>
        </p:txBody>
      </p:sp>
      <p:sp>
        <p:nvSpPr>
          <p:cNvPr id="23" name="Shape 17"/>
          <p:cNvSpPr/>
          <p:nvPr/>
        </p:nvSpPr>
        <p:spPr>
          <a:xfrm>
            <a:off x="4368698" y="3931920"/>
            <a:ext cx="3454298" cy="2148840"/>
          </a:xfrm>
          <a:prstGeom prst="roundRect">
            <a:avLst>
              <a:gd name="adj" fmla="val 4255"/>
            </a:avLst>
          </a:prstGeom>
          <a:solidFill>
            <a:schemeClr val="tx2"/>
          </a:solidFill>
          <a:ln w="9525">
            <a:solidFill>
              <a:srgbClr val="3A3B48"/>
            </a:solidFill>
            <a:prstDash val="solid"/>
          </a:ln>
        </p:spPr>
      </p:sp>
      <p:sp>
        <p:nvSpPr>
          <p:cNvPr id="24" name="Shape 18"/>
          <p:cNvSpPr/>
          <p:nvPr/>
        </p:nvSpPr>
        <p:spPr>
          <a:xfrm>
            <a:off x="4643018" y="4206240"/>
            <a:ext cx="548640" cy="548640"/>
          </a:xfrm>
          <a:prstGeom prst="ellipse">
            <a:avLst/>
          </a:prstGeom>
          <a:solidFill>
            <a:schemeClr val="accent1"/>
          </a:solidFill>
          <a:ln w="12700">
            <a:solidFill>
              <a:schemeClr val="accent1"/>
            </a:solidFill>
            <a:prstDash val="solid"/>
          </a:ln>
        </p:spPr>
      </p:sp>
      <p:pic>
        <p:nvPicPr>
          <p:cNvPr id="25" name="Image 4" descr="preencoded.png"/>
          <p:cNvPicPr>
            <a:picLocks noChangeAspect="1"/>
          </p:cNvPicPr>
          <p:nvPr/>
        </p:nvPicPr>
        <p:blipFill>
          <a:blip r:embed="rId5"/>
          <a:stretch>
            <a:fillRect/>
          </a:stretch>
        </p:blipFill>
        <p:spPr>
          <a:xfrm>
            <a:off x="4780178" y="4343400"/>
            <a:ext cx="274320" cy="274320"/>
          </a:xfrm>
          <a:prstGeom prst="rect">
            <a:avLst/>
          </a:prstGeom>
        </p:spPr>
      </p:pic>
      <p:sp>
        <p:nvSpPr>
          <p:cNvPr id="26" name="Text 19"/>
          <p:cNvSpPr txBox="1"/>
          <p:nvPr/>
        </p:nvSpPr>
        <p:spPr>
          <a:xfrm>
            <a:off x="5374538" y="4206240"/>
            <a:ext cx="2265578" cy="548640"/>
          </a:xfrm>
          <a:prstGeom prst="rect">
            <a:avLst/>
          </a:prstGeom>
          <a:noFill/>
        </p:spPr>
        <p:txBody>
          <a:bodyPr wrap="square" lIns="0" tIns="0" rIns="0" bIns="0" rtlCol="0" anchor="ctr"/>
          <a:lstStyle/>
          <a:p>
            <a:pPr marL="0" indent="0">
              <a:buNone/>
            </a:pPr>
            <a:r>
              <a:rPr lang="en-US" sz="1800" b="1" dirty="0">
                <a:solidFill>
                  <a:schemeClr val="bg1"/>
                </a:solidFill>
              </a:rPr>
              <a:t>Safe uploads</a:t>
            </a:r>
            <a:endParaRPr lang="en-US" sz="1800" dirty="0"/>
          </a:p>
        </p:txBody>
      </p:sp>
      <p:sp>
        <p:nvSpPr>
          <p:cNvPr id="27" name="Text 20"/>
          <p:cNvSpPr txBox="1"/>
          <p:nvPr/>
        </p:nvSpPr>
        <p:spPr>
          <a:xfrm>
            <a:off x="4643018" y="4937760"/>
            <a:ext cx="2905658" cy="1005840"/>
          </a:xfrm>
          <a:prstGeom prst="rect">
            <a:avLst/>
          </a:prstGeom>
          <a:noFill/>
        </p:spPr>
        <p:txBody>
          <a:bodyPr wrap="square" lIns="0" tIns="0" rIns="0" bIns="0" rtlCol="0" anchor="t"/>
          <a:lstStyle/>
          <a:p>
            <a:pPr marL="0" indent="0">
              <a:buNone/>
            </a:pPr>
            <a:r>
              <a:rPr lang="en-US" sz="1500" dirty="0">
                <a:solidFill>
                  <a:schemeClr val="bg2"/>
                </a:solidFill>
              </a:rPr>
              <a:t>JPG / PNG / WEBP only, real-image check, 2 MB max, random file names</a:t>
            </a:r>
            <a:endParaRPr lang="en-US" sz="1500" dirty="0"/>
          </a:p>
        </p:txBody>
      </p:sp>
      <p:sp>
        <p:nvSpPr>
          <p:cNvPr id="28" name="Shape 21"/>
          <p:cNvSpPr/>
          <p:nvPr/>
        </p:nvSpPr>
        <p:spPr>
          <a:xfrm>
            <a:off x="8188757" y="3931920"/>
            <a:ext cx="3454298" cy="2148840"/>
          </a:xfrm>
          <a:prstGeom prst="roundRect">
            <a:avLst>
              <a:gd name="adj" fmla="val 4255"/>
            </a:avLst>
          </a:prstGeom>
          <a:solidFill>
            <a:schemeClr val="tx2"/>
          </a:solidFill>
          <a:ln w="9525">
            <a:solidFill>
              <a:srgbClr val="3A3B48"/>
            </a:solidFill>
            <a:prstDash val="solid"/>
          </a:ln>
        </p:spPr>
      </p:sp>
      <p:sp>
        <p:nvSpPr>
          <p:cNvPr id="29" name="Shape 22"/>
          <p:cNvSpPr/>
          <p:nvPr/>
        </p:nvSpPr>
        <p:spPr>
          <a:xfrm>
            <a:off x="8463077" y="4206240"/>
            <a:ext cx="548640" cy="548640"/>
          </a:xfrm>
          <a:prstGeom prst="ellipse">
            <a:avLst/>
          </a:prstGeom>
          <a:solidFill>
            <a:schemeClr val="accent1"/>
          </a:solidFill>
          <a:ln w="12700">
            <a:solidFill>
              <a:schemeClr val="accent1"/>
            </a:solidFill>
            <a:prstDash val="solid"/>
          </a:ln>
        </p:spPr>
      </p:sp>
      <p:pic>
        <p:nvPicPr>
          <p:cNvPr id="30" name="Image 5" descr="preencoded.png"/>
          <p:cNvPicPr>
            <a:picLocks noChangeAspect="1"/>
          </p:cNvPicPr>
          <p:nvPr/>
        </p:nvPicPr>
        <p:blipFill>
          <a:blip r:embed="rId6"/>
          <a:stretch>
            <a:fillRect/>
          </a:stretch>
        </p:blipFill>
        <p:spPr>
          <a:xfrm>
            <a:off x="8600237" y="4343400"/>
            <a:ext cx="274320" cy="274320"/>
          </a:xfrm>
          <a:prstGeom prst="rect">
            <a:avLst/>
          </a:prstGeom>
        </p:spPr>
      </p:pic>
      <p:sp>
        <p:nvSpPr>
          <p:cNvPr id="31" name="Text 23"/>
          <p:cNvSpPr txBox="1"/>
          <p:nvPr/>
        </p:nvSpPr>
        <p:spPr>
          <a:xfrm>
            <a:off x="9194597" y="4206240"/>
            <a:ext cx="2265578" cy="548640"/>
          </a:xfrm>
          <a:prstGeom prst="rect">
            <a:avLst/>
          </a:prstGeom>
          <a:noFill/>
        </p:spPr>
        <p:txBody>
          <a:bodyPr wrap="square" lIns="0" tIns="0" rIns="0" bIns="0" rtlCol="0" anchor="ctr"/>
          <a:lstStyle/>
          <a:p>
            <a:pPr marL="0" indent="0">
              <a:buNone/>
            </a:pPr>
            <a:r>
              <a:rPr lang="en-US" sz="1800" b="1" dirty="0">
                <a:solidFill>
                  <a:schemeClr val="bg1"/>
                </a:solidFill>
              </a:rPr>
              <a:t>Minimal card data</a:t>
            </a:r>
            <a:endParaRPr lang="en-US" sz="1800" dirty="0"/>
          </a:p>
        </p:txBody>
      </p:sp>
      <p:sp>
        <p:nvSpPr>
          <p:cNvPr id="32" name="Text 24"/>
          <p:cNvSpPr txBox="1"/>
          <p:nvPr/>
        </p:nvSpPr>
        <p:spPr>
          <a:xfrm>
            <a:off x="8463077" y="4937760"/>
            <a:ext cx="2905658" cy="1005840"/>
          </a:xfrm>
          <a:prstGeom prst="rect">
            <a:avLst/>
          </a:prstGeom>
          <a:noFill/>
        </p:spPr>
        <p:txBody>
          <a:bodyPr wrap="square" lIns="0" tIns="0" rIns="0" bIns="0" rtlCol="0" anchor="t"/>
          <a:lstStyle/>
          <a:p>
            <a:pPr marL="0" indent="0">
              <a:buNone/>
            </a:pPr>
            <a:r>
              <a:rPr lang="en-US" sz="1500" dirty="0">
                <a:solidFill>
                  <a:schemeClr val="bg2"/>
                </a:solidFill>
              </a:rPr>
              <a:t>Only the last 4 digits are kept; the QR holds no personal data</a:t>
            </a:r>
            <a:endParaRPr lang="en-US" sz="1500" dirty="0"/>
          </a:p>
        </p:txBody>
      </p:sp>
      <p:sp>
        <p:nvSpPr>
          <p:cNvPr id="33"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Business rules in numbers</a:t>
            </a:r>
            <a:endParaRPr lang="en-US" sz="3200" dirty="0"/>
          </a:p>
        </p:txBody>
      </p:sp>
      <p:sp>
        <p:nvSpPr>
          <p:cNvPr id="3" name="Shape 1"/>
          <p:cNvSpPr/>
          <p:nvPr/>
        </p:nvSpPr>
        <p:spPr>
          <a:xfrm>
            <a:off x="548640" y="1463040"/>
            <a:ext cx="2533574" cy="2194560"/>
          </a:xfrm>
          <a:prstGeom prst="roundRect">
            <a:avLst>
              <a:gd name="adj" fmla="val 4167"/>
            </a:avLst>
          </a:prstGeom>
          <a:solidFill>
            <a:schemeClr val="tx2"/>
          </a:solidFill>
          <a:ln w="9525">
            <a:solidFill>
              <a:srgbClr val="3A3B48"/>
            </a:solidFill>
            <a:prstDash val="solid"/>
          </a:ln>
        </p:spPr>
      </p:sp>
      <p:sp>
        <p:nvSpPr>
          <p:cNvPr id="4" name="Text 2"/>
          <p:cNvSpPr txBox="1"/>
          <p:nvPr/>
        </p:nvSpPr>
        <p:spPr>
          <a:xfrm>
            <a:off x="731520" y="1600200"/>
            <a:ext cx="2167814" cy="1005840"/>
          </a:xfrm>
          <a:prstGeom prst="rect">
            <a:avLst/>
          </a:prstGeom>
          <a:noFill/>
        </p:spPr>
        <p:txBody>
          <a:bodyPr wrap="square" lIns="0" tIns="0" rIns="0" bIns="0" rtlCol="0" anchor="ctr"/>
          <a:lstStyle/>
          <a:p>
            <a:pPr marL="0" indent="0" algn="ctr">
              <a:buNone/>
            </a:pPr>
            <a:r>
              <a:rPr lang="en-US" sz="5400" b="1" dirty="0">
                <a:solidFill>
                  <a:schemeClr val="accent1"/>
                </a:solidFill>
                <a:latin typeface="Arial" panose="020B0604020202020204" pitchFamily="34" charset="0"/>
                <a:ea typeface="Arial" panose="020B0604020202020204" pitchFamily="34" charset="-122"/>
                <a:cs typeface="Arial" panose="020B0604020202020204" pitchFamily="34" charset="-120"/>
              </a:rPr>
              <a:t>100%</a:t>
            </a:r>
            <a:endParaRPr lang="en-US" sz="5400" dirty="0"/>
          </a:p>
        </p:txBody>
      </p:sp>
      <p:sp>
        <p:nvSpPr>
          <p:cNvPr id="5" name="Text 3"/>
          <p:cNvSpPr txBox="1"/>
          <p:nvPr/>
        </p:nvSpPr>
        <p:spPr>
          <a:xfrm>
            <a:off x="777240" y="2651760"/>
            <a:ext cx="2076374" cy="868680"/>
          </a:xfrm>
          <a:prstGeom prst="rect">
            <a:avLst/>
          </a:prstGeom>
          <a:noFill/>
        </p:spPr>
        <p:txBody>
          <a:bodyPr wrap="square" lIns="0" tIns="0" rIns="0" bIns="0" rtlCol="0" anchor="t"/>
          <a:lstStyle/>
          <a:p>
            <a:pPr marL="0" indent="0" algn="ctr">
              <a:buNone/>
            </a:pPr>
            <a:r>
              <a:rPr lang="en-US" sz="1500" dirty="0">
                <a:solidFill>
                  <a:schemeClr val="bg1"/>
                </a:solidFill>
              </a:rPr>
              <a:t>refund when cancelled 24 hours or more before the show</a:t>
            </a:r>
            <a:endParaRPr lang="en-US" sz="1500" dirty="0"/>
          </a:p>
        </p:txBody>
      </p:sp>
      <p:sp>
        <p:nvSpPr>
          <p:cNvPr id="6" name="Shape 4"/>
          <p:cNvSpPr/>
          <p:nvPr/>
        </p:nvSpPr>
        <p:spPr>
          <a:xfrm>
            <a:off x="3402254" y="1463040"/>
            <a:ext cx="2533574" cy="2194560"/>
          </a:xfrm>
          <a:prstGeom prst="roundRect">
            <a:avLst>
              <a:gd name="adj" fmla="val 4167"/>
            </a:avLst>
          </a:prstGeom>
          <a:solidFill>
            <a:schemeClr val="tx2"/>
          </a:solidFill>
          <a:ln w="9525">
            <a:solidFill>
              <a:srgbClr val="3A3B48"/>
            </a:solidFill>
            <a:prstDash val="solid"/>
          </a:ln>
        </p:spPr>
      </p:sp>
      <p:sp>
        <p:nvSpPr>
          <p:cNvPr id="7" name="Text 5"/>
          <p:cNvSpPr txBox="1"/>
          <p:nvPr/>
        </p:nvSpPr>
        <p:spPr>
          <a:xfrm>
            <a:off x="3585134" y="1600200"/>
            <a:ext cx="2167814" cy="1005840"/>
          </a:xfrm>
          <a:prstGeom prst="rect">
            <a:avLst/>
          </a:prstGeom>
          <a:noFill/>
        </p:spPr>
        <p:txBody>
          <a:bodyPr wrap="square" lIns="0" tIns="0" rIns="0" bIns="0" rtlCol="0" anchor="ctr"/>
          <a:lstStyle/>
          <a:p>
            <a:pPr marL="0" indent="0" algn="ctr">
              <a:buNone/>
            </a:pPr>
            <a:r>
              <a:rPr lang="en-US" sz="5400" b="1" dirty="0">
                <a:solidFill>
                  <a:schemeClr val="accent1"/>
                </a:solidFill>
                <a:latin typeface="Arial" panose="020B0604020202020204" pitchFamily="34" charset="0"/>
                <a:ea typeface="Arial" panose="020B0604020202020204" pitchFamily="34" charset="-122"/>
                <a:cs typeface="Arial" panose="020B0604020202020204" pitchFamily="34" charset="-120"/>
              </a:rPr>
              <a:t>50%</a:t>
            </a:r>
            <a:endParaRPr lang="en-US" sz="5400" dirty="0"/>
          </a:p>
        </p:txBody>
      </p:sp>
      <p:sp>
        <p:nvSpPr>
          <p:cNvPr id="8" name="Text 6"/>
          <p:cNvSpPr txBox="1"/>
          <p:nvPr/>
        </p:nvSpPr>
        <p:spPr>
          <a:xfrm>
            <a:off x="3630854" y="2651760"/>
            <a:ext cx="2076374" cy="868680"/>
          </a:xfrm>
          <a:prstGeom prst="rect">
            <a:avLst/>
          </a:prstGeom>
          <a:noFill/>
        </p:spPr>
        <p:txBody>
          <a:bodyPr wrap="square" lIns="0" tIns="0" rIns="0" bIns="0" rtlCol="0" anchor="t"/>
          <a:lstStyle/>
          <a:p>
            <a:pPr marL="0" indent="0" algn="ctr">
              <a:buNone/>
            </a:pPr>
            <a:r>
              <a:rPr lang="en-US" sz="1500" dirty="0">
                <a:solidFill>
                  <a:schemeClr val="bg1"/>
                </a:solidFill>
              </a:rPr>
              <a:t>refund when cancelled less than 24 hours before</a:t>
            </a:r>
            <a:endParaRPr lang="en-US" sz="1500" dirty="0"/>
          </a:p>
        </p:txBody>
      </p:sp>
      <p:sp>
        <p:nvSpPr>
          <p:cNvPr id="9" name="Shape 7"/>
          <p:cNvSpPr/>
          <p:nvPr/>
        </p:nvSpPr>
        <p:spPr>
          <a:xfrm>
            <a:off x="6255868" y="1463040"/>
            <a:ext cx="2533574" cy="2194560"/>
          </a:xfrm>
          <a:prstGeom prst="roundRect">
            <a:avLst>
              <a:gd name="adj" fmla="val 4167"/>
            </a:avLst>
          </a:prstGeom>
          <a:solidFill>
            <a:schemeClr val="tx2"/>
          </a:solidFill>
          <a:ln w="9525">
            <a:solidFill>
              <a:srgbClr val="3A3B48"/>
            </a:solidFill>
            <a:prstDash val="solid"/>
          </a:ln>
        </p:spPr>
      </p:sp>
      <p:sp>
        <p:nvSpPr>
          <p:cNvPr id="10" name="Text 8"/>
          <p:cNvSpPr txBox="1"/>
          <p:nvPr/>
        </p:nvSpPr>
        <p:spPr>
          <a:xfrm>
            <a:off x="6438748" y="1600200"/>
            <a:ext cx="2167814" cy="1005840"/>
          </a:xfrm>
          <a:prstGeom prst="rect">
            <a:avLst/>
          </a:prstGeom>
          <a:noFill/>
        </p:spPr>
        <p:txBody>
          <a:bodyPr wrap="square" lIns="0" tIns="0" rIns="0" bIns="0" rtlCol="0" anchor="ctr"/>
          <a:lstStyle/>
          <a:p>
            <a:pPr marL="0" indent="0" algn="ctr">
              <a:buNone/>
            </a:pPr>
            <a:r>
              <a:rPr lang="en-US" sz="5400" b="1" dirty="0">
                <a:solidFill>
                  <a:schemeClr val="accent1"/>
                </a:solidFill>
                <a:latin typeface="Arial" panose="020B0604020202020204" pitchFamily="34" charset="0"/>
                <a:ea typeface="Arial" panose="020B0604020202020204" pitchFamily="34" charset="-122"/>
                <a:cs typeface="Arial" panose="020B0604020202020204" pitchFamily="34" charset="-120"/>
              </a:rPr>
              <a:t>1 pt</a:t>
            </a:r>
            <a:endParaRPr lang="en-US" sz="5400" dirty="0"/>
          </a:p>
        </p:txBody>
      </p:sp>
      <p:sp>
        <p:nvSpPr>
          <p:cNvPr id="11" name="Text 9"/>
          <p:cNvSpPr txBox="1"/>
          <p:nvPr/>
        </p:nvSpPr>
        <p:spPr>
          <a:xfrm>
            <a:off x="6484468" y="2651760"/>
            <a:ext cx="2076374" cy="868680"/>
          </a:xfrm>
          <a:prstGeom prst="rect">
            <a:avLst/>
          </a:prstGeom>
          <a:noFill/>
        </p:spPr>
        <p:txBody>
          <a:bodyPr wrap="square" lIns="0" tIns="0" rIns="0" bIns="0" rtlCol="0" anchor="t"/>
          <a:lstStyle/>
          <a:p>
            <a:pPr marL="0" indent="0" algn="ctr">
              <a:buNone/>
            </a:pPr>
            <a:r>
              <a:rPr lang="en-US" sz="1500" dirty="0">
                <a:solidFill>
                  <a:schemeClr val="bg1"/>
                </a:solidFill>
              </a:rPr>
              <a:t>loyalty point for every PKR 100 spent</a:t>
            </a:r>
            <a:endParaRPr lang="en-US" sz="1500" dirty="0"/>
          </a:p>
        </p:txBody>
      </p:sp>
      <p:sp>
        <p:nvSpPr>
          <p:cNvPr id="12" name="Shape 10"/>
          <p:cNvSpPr/>
          <p:nvPr/>
        </p:nvSpPr>
        <p:spPr>
          <a:xfrm>
            <a:off x="9109481" y="1463040"/>
            <a:ext cx="2533574" cy="2194560"/>
          </a:xfrm>
          <a:prstGeom prst="roundRect">
            <a:avLst>
              <a:gd name="adj" fmla="val 4167"/>
            </a:avLst>
          </a:prstGeom>
          <a:solidFill>
            <a:schemeClr val="tx2"/>
          </a:solidFill>
          <a:ln w="9525">
            <a:solidFill>
              <a:srgbClr val="3A3B48"/>
            </a:solidFill>
            <a:prstDash val="solid"/>
          </a:ln>
        </p:spPr>
      </p:sp>
      <p:sp>
        <p:nvSpPr>
          <p:cNvPr id="13" name="Text 11"/>
          <p:cNvSpPr txBox="1"/>
          <p:nvPr/>
        </p:nvSpPr>
        <p:spPr>
          <a:xfrm>
            <a:off x="9292361" y="1600200"/>
            <a:ext cx="2167814" cy="1005840"/>
          </a:xfrm>
          <a:prstGeom prst="rect">
            <a:avLst/>
          </a:prstGeom>
          <a:noFill/>
        </p:spPr>
        <p:txBody>
          <a:bodyPr wrap="square" lIns="0" tIns="0" rIns="0" bIns="0" rtlCol="0" anchor="ctr"/>
          <a:lstStyle/>
          <a:p>
            <a:pPr marL="0" indent="0" algn="ctr">
              <a:buNone/>
            </a:pPr>
            <a:r>
              <a:rPr lang="en-US" sz="5400" b="1" dirty="0">
                <a:solidFill>
                  <a:schemeClr val="accent1"/>
                </a:solidFill>
                <a:latin typeface="Arial" panose="020B0604020202020204" pitchFamily="34" charset="0"/>
                <a:ea typeface="Arial" panose="020B0604020202020204" pitchFamily="34" charset="-122"/>
                <a:cs typeface="Arial" panose="020B0604020202020204" pitchFamily="34" charset="-120"/>
              </a:rPr>
              <a:t>10</a:t>
            </a:r>
            <a:endParaRPr lang="en-US" sz="5400" dirty="0"/>
          </a:p>
        </p:txBody>
      </p:sp>
      <p:sp>
        <p:nvSpPr>
          <p:cNvPr id="14" name="Text 12"/>
          <p:cNvSpPr txBox="1"/>
          <p:nvPr/>
        </p:nvSpPr>
        <p:spPr>
          <a:xfrm>
            <a:off x="9338081" y="2651760"/>
            <a:ext cx="2076374" cy="868680"/>
          </a:xfrm>
          <a:prstGeom prst="rect">
            <a:avLst/>
          </a:prstGeom>
          <a:noFill/>
        </p:spPr>
        <p:txBody>
          <a:bodyPr wrap="square" lIns="0" tIns="0" rIns="0" bIns="0" rtlCol="0" anchor="t"/>
          <a:lstStyle/>
          <a:p>
            <a:pPr marL="0" indent="0" algn="ctr">
              <a:buNone/>
            </a:pPr>
            <a:r>
              <a:rPr lang="en-US" sz="1500" dirty="0">
                <a:solidFill>
                  <a:schemeClr val="bg1"/>
                </a:solidFill>
              </a:rPr>
              <a:t>seats maximum per booking</a:t>
            </a:r>
            <a:endParaRPr lang="en-US" sz="1500" dirty="0"/>
          </a:p>
        </p:txBody>
      </p:sp>
      <p:sp>
        <p:nvSpPr>
          <p:cNvPr id="15" name="Shape 13"/>
          <p:cNvSpPr/>
          <p:nvPr/>
        </p:nvSpPr>
        <p:spPr>
          <a:xfrm>
            <a:off x="548640" y="3977640"/>
            <a:ext cx="11094415" cy="2148840"/>
          </a:xfrm>
          <a:prstGeom prst="roundRect">
            <a:avLst>
              <a:gd name="adj" fmla="val 4255"/>
            </a:avLst>
          </a:prstGeom>
          <a:solidFill>
            <a:schemeClr val="tx2"/>
          </a:solidFill>
          <a:ln w="9525">
            <a:solidFill>
              <a:srgbClr val="3A3B48"/>
            </a:solidFill>
            <a:prstDash val="solid"/>
          </a:ln>
        </p:spPr>
      </p:sp>
      <p:sp>
        <p:nvSpPr>
          <p:cNvPr id="16" name="Text 14"/>
          <p:cNvSpPr txBox="1"/>
          <p:nvPr/>
        </p:nvSpPr>
        <p:spPr>
          <a:xfrm>
            <a:off x="868680" y="4114800"/>
            <a:ext cx="5486400" cy="457200"/>
          </a:xfrm>
          <a:prstGeom prst="rect">
            <a:avLst/>
          </a:prstGeom>
          <a:noFill/>
        </p:spPr>
        <p:txBody>
          <a:bodyPr wrap="square" lIns="0" tIns="0" rIns="0" bIns="0" rtlCol="0" anchor="ctr"/>
          <a:lstStyle/>
          <a:p>
            <a:pPr marL="0" indent="0">
              <a:buNone/>
            </a:pPr>
            <a:r>
              <a:rPr lang="en-US" sz="1800" b="1" dirty="0">
                <a:solidFill>
                  <a:schemeClr val="bg1"/>
                </a:solidFill>
              </a:rPr>
              <a:t>How a total is calculated</a:t>
            </a:r>
            <a:endParaRPr lang="en-US" sz="1800" dirty="0"/>
          </a:p>
        </p:txBody>
      </p:sp>
      <p:sp>
        <p:nvSpPr>
          <p:cNvPr id="17" name="Text 15"/>
          <p:cNvSpPr txBox="1"/>
          <p:nvPr/>
        </p:nvSpPr>
        <p:spPr>
          <a:xfrm>
            <a:off x="868680" y="4617720"/>
            <a:ext cx="10454335" cy="1371600"/>
          </a:xfrm>
          <a:prstGeom prst="rect">
            <a:avLst/>
          </a:prstGeom>
          <a:noFill/>
        </p:spPr>
        <p:txBody>
          <a:bodyPr wrap="square" lIns="0" tIns="0" rIns="0" bIns="0" rtlCol="0" anchor="t"/>
          <a:lstStyle/>
          <a:p>
            <a:pPr marL="0" indent="0">
              <a:spcAft>
                <a:spcPts val="1000"/>
              </a:spcAft>
              <a:buNone/>
            </a:pPr>
            <a:r>
              <a:rPr lang="en-US" sz="1800" dirty="0">
                <a:solidFill>
                  <a:schemeClr val="accent3"/>
                </a:solidFill>
                <a:latin typeface="Courier New" panose="02070309020205020404" pitchFamily="34" charset="0"/>
                <a:ea typeface="Courier New" panose="02070309020205020404" pitchFamily="34" charset="-122"/>
                <a:cs typeface="Courier New" panose="02070309020205020404" pitchFamily="34" charset="-120"/>
              </a:rPr>
              <a:t>Total  =  seat prices  +  snacks  −  floor((seats + snacks) × promo % / 100)</a:t>
            </a:r>
            <a:endParaRPr lang="en-US" sz="1800" dirty="0"/>
          </a:p>
          <a:p>
            <a:pPr marL="0" indent="0">
              <a:spcAft>
                <a:spcPts val="1000"/>
              </a:spcAft>
              <a:buNone/>
            </a:pPr>
            <a:r>
              <a:rPr lang="en-US" sz="1500" dirty="0">
                <a:solidFill>
                  <a:schemeClr val="bg2"/>
                </a:solidFill>
              </a:rPr>
              <a:t>Example from the demo: 4 seats PKR 10,000 + 2 soft drinks PKR 500 − EID20 (20%) PKR 2,100 = PKR 8,400, earning 84 loyalty points.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Testing: end-to-end scenarios</a:t>
            </a:r>
            <a:endParaRPr lang="en-US" sz="3200" dirty="0"/>
          </a:p>
        </p:txBody>
      </p:sp>
      <p:graphicFrame>
        <p:nvGraphicFramePr>
          <p:cNvPr id="36" name="Table 0"/>
          <p:cNvGraphicFramePr>
            <a:graphicFrameLocks noGrp="1"/>
          </p:cNvGraphicFramePr>
          <p:nvPr/>
        </p:nvGraphicFramePr>
        <p:xfrm>
          <a:off x="548640" y="1417320"/>
          <a:ext cx="7589520" cy="4425696"/>
        </p:xfrm>
        <a:graphic>
          <a:graphicData uri="http://schemas.openxmlformats.org/drawingml/2006/table">
            <a:tbl>
              <a:tblPr/>
              <a:tblGrid>
                <a:gridCol w="6035040"/>
                <a:gridCol w="1554480"/>
              </a:tblGrid>
              <a:tr h="402336">
                <a:tc>
                  <a:txBody>
                    <a:bodyPr/>
                    <a:lstStyle/>
                    <a:p>
                      <a:pPr marL="0" indent="0">
                        <a:buNone/>
                      </a:pPr>
                      <a:r>
                        <a:rPr lang="en-US" sz="1400" b="1" dirty="0">
                          <a:solidFill>
                            <a:schemeClr val="bg1"/>
                          </a:solidFill>
                        </a:rPr>
                        <a:t>Scenario</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chemeClr val="accent1"/>
                    </a:solidFill>
                  </a:tcPr>
                </a:tc>
                <a:tc>
                  <a:txBody>
                    <a:bodyPr/>
                    <a:lstStyle/>
                    <a:p>
                      <a:pPr marL="0" indent="0" algn="ctr">
                        <a:buNone/>
                      </a:pPr>
                      <a:r>
                        <a:rPr lang="en-US" sz="1400" b="1" dirty="0">
                          <a:solidFill>
                            <a:schemeClr val="bg1"/>
                          </a:solidFill>
                        </a:rPr>
                        <a:t>Result</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chemeClr val="accent1"/>
                    </a:solidFill>
                  </a:tcPr>
                </a:tc>
              </a:tr>
              <a:tr h="402336">
                <a:tc>
                  <a:txBody>
                    <a:bodyPr/>
                    <a:lstStyle/>
                    <a:p>
                      <a:pPr marL="0" indent="0">
                        <a:buNone/>
                      </a:pPr>
                      <a:r>
                        <a:rPr lang="en-US" sz="1400" dirty="0">
                          <a:solidFill>
                            <a:schemeClr val="bg1"/>
                          </a:solidFill>
                        </a:rPr>
                        <a:t>Browse, live search, genre / language / cinema filters</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23242E"/>
                    </a:solidFill>
                  </a:tcPr>
                </a:tc>
                <a:tc>
                  <a:txBody>
                    <a:bodyPr/>
                    <a:lstStyle/>
                    <a:p>
                      <a:pPr marL="0" indent="0" algn="ctr">
                        <a:buNone/>
                      </a:pPr>
                      <a:r>
                        <a:rPr lang="en-US" sz="1400" b="1" dirty="0">
                          <a:solidFill>
                            <a:schemeClr val="accent5"/>
                          </a:solidFill>
                        </a:rPr>
                        <a:t>✓ Pass</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23242E"/>
                    </a:solidFill>
                  </a:tcPr>
                </a:tc>
              </a:tr>
              <a:tr h="402336">
                <a:tc>
                  <a:txBody>
                    <a:bodyPr/>
                    <a:lstStyle/>
                    <a:p>
                      <a:pPr marL="0" indent="0">
                        <a:buNone/>
                      </a:pPr>
                      <a:r>
                        <a:rPr lang="en-US" sz="1400" dirty="0">
                          <a:solidFill>
                            <a:schemeClr val="bg1"/>
                          </a:solidFill>
                        </a:rPr>
                        <a:t>Seat map, 10-seat limit, 5-minute holds</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14151B"/>
                    </a:solidFill>
                  </a:tcPr>
                </a:tc>
                <a:tc>
                  <a:txBody>
                    <a:bodyPr/>
                    <a:lstStyle/>
                    <a:p>
                      <a:pPr marL="0" indent="0" algn="ctr">
                        <a:buNone/>
                      </a:pPr>
                      <a:r>
                        <a:rPr lang="en-US" sz="1400" b="1" dirty="0">
                          <a:solidFill>
                            <a:schemeClr val="accent5"/>
                          </a:solidFill>
                        </a:rPr>
                        <a:t>✓ Pass</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14151B"/>
                    </a:solidFill>
                  </a:tcPr>
                </a:tc>
              </a:tr>
              <a:tr h="402336">
                <a:tc>
                  <a:txBody>
                    <a:bodyPr/>
                    <a:lstStyle/>
                    <a:p>
                      <a:pPr marL="0" indent="0">
                        <a:buNone/>
                      </a:pPr>
                      <a:r>
                        <a:rPr lang="en-US" sz="1400" dirty="0">
                          <a:solidFill>
                            <a:schemeClr val="bg1"/>
                          </a:solidFill>
                        </a:rPr>
                        <a:t>Two users racing for the same seat</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23242E"/>
                    </a:solidFill>
                  </a:tcPr>
                </a:tc>
                <a:tc>
                  <a:txBody>
                    <a:bodyPr/>
                    <a:lstStyle/>
                    <a:p>
                      <a:pPr marL="0" indent="0" algn="ctr">
                        <a:buNone/>
                      </a:pPr>
                      <a:r>
                        <a:rPr lang="en-US" sz="1400" b="1" dirty="0">
                          <a:solidFill>
                            <a:schemeClr val="accent5"/>
                          </a:solidFill>
                        </a:rPr>
                        <a:t>✓ Pass</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23242E"/>
                    </a:solidFill>
                  </a:tcPr>
                </a:tc>
              </a:tr>
              <a:tr h="402336">
                <a:tc>
                  <a:txBody>
                    <a:bodyPr/>
                    <a:lstStyle/>
                    <a:p>
                      <a:pPr marL="0" indent="0">
                        <a:buNone/>
                      </a:pPr>
                      <a:r>
                        <a:rPr lang="en-US" sz="1400" dirty="0">
                          <a:solidFill>
                            <a:schemeClr val="bg1"/>
                          </a:solidFill>
                        </a:rPr>
                        <a:t>Checkout with snacks and promo EID20, invalid code rejected</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14151B"/>
                    </a:solidFill>
                  </a:tcPr>
                </a:tc>
                <a:tc>
                  <a:txBody>
                    <a:bodyPr/>
                    <a:lstStyle/>
                    <a:p>
                      <a:pPr marL="0" indent="0" algn="ctr">
                        <a:buNone/>
                      </a:pPr>
                      <a:r>
                        <a:rPr lang="en-US" sz="1400" b="1" dirty="0">
                          <a:solidFill>
                            <a:schemeClr val="accent5"/>
                          </a:solidFill>
                        </a:rPr>
                        <a:t>✓ Pass</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14151B"/>
                    </a:solidFill>
                  </a:tcPr>
                </a:tc>
              </a:tr>
              <a:tr h="402336">
                <a:tc>
                  <a:txBody>
                    <a:bodyPr/>
                    <a:lstStyle/>
                    <a:p>
                      <a:pPr marL="0" indent="0">
                        <a:buNone/>
                      </a:pPr>
                      <a:r>
                        <a:rPr lang="en-US" sz="1400" dirty="0">
                          <a:solidFill>
                            <a:schemeClr val="bg1"/>
                          </a:solidFill>
                        </a:rPr>
                        <a:t>Card and JazzCash payment with OTP, wrong OTP rejected</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23242E"/>
                    </a:solidFill>
                  </a:tcPr>
                </a:tc>
                <a:tc>
                  <a:txBody>
                    <a:bodyPr/>
                    <a:lstStyle/>
                    <a:p>
                      <a:pPr marL="0" indent="0" algn="ctr">
                        <a:buNone/>
                      </a:pPr>
                      <a:r>
                        <a:rPr lang="en-US" sz="1400" b="1" dirty="0">
                          <a:solidFill>
                            <a:schemeClr val="accent5"/>
                          </a:solidFill>
                        </a:rPr>
                        <a:t>✓ Pass</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23242E"/>
                    </a:solidFill>
                  </a:tcPr>
                </a:tc>
              </a:tr>
              <a:tr h="402336">
                <a:tc>
                  <a:txBody>
                    <a:bodyPr/>
                    <a:lstStyle/>
                    <a:p>
                      <a:pPr marL="0" indent="0">
                        <a:buNone/>
                      </a:pPr>
                      <a:r>
                        <a:rPr lang="en-US" sz="1400" dirty="0">
                          <a:solidFill>
                            <a:schemeClr val="bg1"/>
                          </a:solidFill>
                        </a:rPr>
                        <a:t>E-ticket and QR; other users get "Ticket not found"</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14151B"/>
                    </a:solidFill>
                  </a:tcPr>
                </a:tc>
                <a:tc>
                  <a:txBody>
                    <a:bodyPr/>
                    <a:lstStyle/>
                    <a:p>
                      <a:pPr marL="0" indent="0" algn="ctr">
                        <a:buNone/>
                      </a:pPr>
                      <a:r>
                        <a:rPr lang="en-US" sz="1400" b="1" dirty="0">
                          <a:solidFill>
                            <a:schemeClr val="accent5"/>
                          </a:solidFill>
                        </a:rPr>
                        <a:t>✓ Pass</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14151B"/>
                    </a:solidFill>
                  </a:tcPr>
                </a:tc>
              </a:tr>
              <a:tr h="402336">
                <a:tc>
                  <a:txBody>
                    <a:bodyPr/>
                    <a:lstStyle/>
                    <a:p>
                      <a:pPr marL="0" indent="0">
                        <a:buNone/>
                      </a:pPr>
                      <a:r>
                        <a:rPr lang="en-US" sz="1400" dirty="0">
                          <a:solidFill>
                            <a:schemeClr val="bg1"/>
                          </a:solidFill>
                        </a:rPr>
                        <a:t>Cancel at 100% and 50%; refund approve and reject</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23242E"/>
                    </a:solidFill>
                  </a:tcPr>
                </a:tc>
                <a:tc>
                  <a:txBody>
                    <a:bodyPr/>
                    <a:lstStyle/>
                    <a:p>
                      <a:pPr marL="0" indent="0" algn="ctr">
                        <a:buNone/>
                      </a:pPr>
                      <a:r>
                        <a:rPr lang="en-US" sz="1400" b="1" dirty="0">
                          <a:solidFill>
                            <a:schemeClr val="accent5"/>
                          </a:solidFill>
                        </a:rPr>
                        <a:t>✓ Pass</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23242E"/>
                    </a:solidFill>
                  </a:tcPr>
                </a:tc>
              </a:tr>
              <a:tr h="402336">
                <a:tc>
                  <a:txBody>
                    <a:bodyPr/>
                    <a:lstStyle/>
                    <a:p>
                      <a:pPr marL="0" indent="0">
                        <a:buNone/>
                      </a:pPr>
                      <a:r>
                        <a:rPr lang="en-US" sz="1400" dirty="0">
                          <a:solidFill>
                            <a:schemeClr val="bg1"/>
                          </a:solidFill>
                        </a:rPr>
                        <a:t>Scanner: VALID, ALREADY USED, CANCELLED, NOT FOUND</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14151B"/>
                    </a:solidFill>
                  </a:tcPr>
                </a:tc>
                <a:tc>
                  <a:txBody>
                    <a:bodyPr/>
                    <a:lstStyle/>
                    <a:p>
                      <a:pPr marL="0" indent="0" algn="ctr">
                        <a:buNone/>
                      </a:pPr>
                      <a:r>
                        <a:rPr lang="en-US" sz="1400" b="1" dirty="0">
                          <a:solidFill>
                            <a:schemeClr val="accent5"/>
                          </a:solidFill>
                        </a:rPr>
                        <a:t>✓ Pass</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14151B"/>
                    </a:solidFill>
                  </a:tcPr>
                </a:tc>
              </a:tr>
              <a:tr h="402336">
                <a:tc>
                  <a:txBody>
                    <a:bodyPr/>
                    <a:lstStyle/>
                    <a:p>
                      <a:pPr marL="0" indent="0">
                        <a:buNone/>
                      </a:pPr>
                      <a:r>
                        <a:rPr lang="en-US" sz="1400" dirty="0">
                          <a:solidFill>
                            <a:schemeClr val="bg1"/>
                          </a:solidFill>
                        </a:rPr>
                        <a:t>Dashboard, reports and CSV export</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23242E"/>
                    </a:solidFill>
                  </a:tcPr>
                </a:tc>
                <a:tc>
                  <a:txBody>
                    <a:bodyPr/>
                    <a:lstStyle/>
                    <a:p>
                      <a:pPr marL="0" indent="0" algn="ctr">
                        <a:buNone/>
                      </a:pPr>
                      <a:r>
                        <a:rPr lang="en-US" sz="1400" b="1" dirty="0">
                          <a:solidFill>
                            <a:schemeClr val="accent5"/>
                          </a:solidFill>
                        </a:rPr>
                        <a:t>✓ Pass</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23242E"/>
                    </a:solidFill>
                  </a:tcPr>
                </a:tc>
              </a:tr>
              <a:tr h="402336">
                <a:tc>
                  <a:txBody>
                    <a:bodyPr/>
                    <a:lstStyle/>
                    <a:p>
                      <a:pPr marL="0" indent="0">
                        <a:buNone/>
                      </a:pPr>
                      <a:r>
                        <a:rPr lang="en-US" sz="1400" dirty="0">
                          <a:solidFill>
                            <a:schemeClr val="bg1"/>
                          </a:solidFill>
                        </a:rPr>
                        <a:t>XSS in reviews and contact form, admin pages without login</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14151B"/>
                    </a:solidFill>
                  </a:tcPr>
                </a:tc>
                <a:tc>
                  <a:txBody>
                    <a:bodyPr/>
                    <a:lstStyle/>
                    <a:p>
                      <a:pPr marL="0" indent="0" algn="ctr">
                        <a:buNone/>
                      </a:pPr>
                      <a:r>
                        <a:rPr lang="en-US" sz="1400" b="1" dirty="0">
                          <a:solidFill>
                            <a:schemeClr val="accent5"/>
                          </a:solidFill>
                        </a:rPr>
                        <a:t>✓ Blocked</a:t>
                      </a:r>
                      <a:endParaRPr lang="en-US" sz="1400" dirty="0"/>
                    </a:p>
                  </a:txBody>
                  <a:tcPr marL="109728" marR="109728" marT="36576" marB="36576" anchor="ctr">
                    <a:lnL w="6350" cap="flat" cmpd="sng" algn="ctr">
                      <a:solidFill>
                        <a:srgbClr val="3A3B48"/>
                      </a:solidFill>
                      <a:prstDash val="solid"/>
                      <a:round/>
                      <a:headEnd type="none" w="med" len="med"/>
                      <a:tailEnd type="none" w="med" len="med"/>
                    </a:lnL>
                    <a:lnR w="6350" cap="flat" cmpd="sng" algn="ctr">
                      <a:solidFill>
                        <a:srgbClr val="3A3B48"/>
                      </a:solidFill>
                      <a:prstDash val="solid"/>
                      <a:round/>
                      <a:headEnd type="none" w="med" len="med"/>
                      <a:tailEnd type="none" w="med" len="med"/>
                    </a:lnR>
                    <a:lnT w="6350" cap="flat" cmpd="sng" algn="ctr">
                      <a:solidFill>
                        <a:srgbClr val="3A3B48"/>
                      </a:solidFill>
                      <a:prstDash val="solid"/>
                      <a:round/>
                      <a:headEnd type="none" w="med" len="med"/>
                      <a:tailEnd type="none" w="med" len="med"/>
                    </a:lnT>
                    <a:lnB w="6350" cap="flat" cmpd="sng" algn="ctr">
                      <a:solidFill>
                        <a:srgbClr val="3A3B48"/>
                      </a:solidFill>
                      <a:prstDash val="solid"/>
                      <a:round/>
                      <a:headEnd type="none" w="med" len="med"/>
                      <a:tailEnd type="none" w="med" len="med"/>
                    </a:lnB>
                    <a:solidFill>
                      <a:srgbClr val="14151B"/>
                    </a:solidFill>
                  </a:tcPr>
                </a:tc>
              </a:tr>
            </a:tbl>
          </a:graphicData>
        </a:graphic>
      </p:graphicFrame>
      <p:sp>
        <p:nvSpPr>
          <p:cNvPr id="4" name="Shape 1"/>
          <p:cNvSpPr/>
          <p:nvPr/>
        </p:nvSpPr>
        <p:spPr>
          <a:xfrm>
            <a:off x="8503920" y="1417320"/>
            <a:ext cx="3139135" cy="4425696"/>
          </a:xfrm>
          <a:prstGeom prst="roundRect">
            <a:avLst>
              <a:gd name="adj" fmla="val 2913"/>
            </a:avLst>
          </a:prstGeom>
          <a:solidFill>
            <a:schemeClr val="tx2"/>
          </a:solidFill>
          <a:ln w="9525">
            <a:solidFill>
              <a:srgbClr val="3A3B48"/>
            </a:solidFill>
            <a:prstDash val="solid"/>
          </a:ln>
        </p:spPr>
      </p:sp>
      <p:sp>
        <p:nvSpPr>
          <p:cNvPr id="5" name="Shape 2"/>
          <p:cNvSpPr/>
          <p:nvPr/>
        </p:nvSpPr>
        <p:spPr>
          <a:xfrm>
            <a:off x="8778240" y="1645920"/>
            <a:ext cx="548640" cy="548640"/>
          </a:xfrm>
          <a:prstGeom prst="ellipse">
            <a:avLst/>
          </a:prstGeom>
          <a:solidFill>
            <a:schemeClr val="accent1"/>
          </a:solidFill>
          <a:ln w="12700">
            <a:solidFill>
              <a:schemeClr val="accent1"/>
            </a:solidFill>
            <a:prstDash val="solid"/>
          </a:ln>
        </p:spPr>
      </p:sp>
      <p:pic>
        <p:nvPicPr>
          <p:cNvPr id="6" name="Image 0" descr="preencoded.png"/>
          <p:cNvPicPr>
            <a:picLocks noChangeAspect="1"/>
          </p:cNvPicPr>
          <p:nvPr/>
        </p:nvPicPr>
        <p:blipFill>
          <a:blip r:embed="rId1"/>
          <a:stretch>
            <a:fillRect/>
          </a:stretch>
        </p:blipFill>
        <p:spPr>
          <a:xfrm>
            <a:off x="8915400" y="1783080"/>
            <a:ext cx="274320" cy="274320"/>
          </a:xfrm>
          <a:prstGeom prst="rect">
            <a:avLst/>
          </a:prstGeom>
        </p:spPr>
      </p:pic>
      <p:sp>
        <p:nvSpPr>
          <p:cNvPr id="7" name="Text 3"/>
          <p:cNvSpPr txBox="1"/>
          <p:nvPr/>
        </p:nvSpPr>
        <p:spPr>
          <a:xfrm>
            <a:off x="9509760" y="1645920"/>
            <a:ext cx="1950415" cy="548640"/>
          </a:xfrm>
          <a:prstGeom prst="rect">
            <a:avLst/>
          </a:prstGeom>
          <a:noFill/>
        </p:spPr>
        <p:txBody>
          <a:bodyPr wrap="square" lIns="0" tIns="0" rIns="0" bIns="0" rtlCol="0" anchor="ctr"/>
          <a:lstStyle/>
          <a:p>
            <a:pPr marL="0" indent="0">
              <a:buNone/>
            </a:pPr>
            <a:r>
              <a:rPr lang="en-US" sz="1800" b="1" dirty="0">
                <a:solidFill>
                  <a:schemeClr val="bg1"/>
                </a:solidFill>
              </a:rPr>
              <a:t>How we tested</a:t>
            </a:r>
            <a:endParaRPr lang="en-US" sz="1800" dirty="0"/>
          </a:p>
        </p:txBody>
      </p:sp>
      <p:sp>
        <p:nvSpPr>
          <p:cNvPr id="8" name="Text 4"/>
          <p:cNvSpPr txBox="1"/>
          <p:nvPr/>
        </p:nvSpPr>
        <p:spPr>
          <a:xfrm>
            <a:off x="8778240" y="2377440"/>
            <a:ext cx="2590495" cy="3291840"/>
          </a:xfrm>
          <a:prstGeom prst="rect">
            <a:avLst/>
          </a:prstGeom>
          <a:noFill/>
        </p:spPr>
        <p:txBody>
          <a:bodyPr wrap="square" lIns="0" tIns="0" rIns="0" bIns="0" rtlCol="0" anchor="t"/>
          <a:lstStyle/>
          <a:p>
            <a:pPr marL="342900" indent="-342900">
              <a:spcAft>
                <a:spcPts val="800"/>
              </a:spcAft>
              <a:buSzPct val="100000"/>
              <a:buChar char="•"/>
            </a:pPr>
            <a:r>
              <a:rPr lang="en-US" sz="1500" dirty="0">
                <a:solidFill>
                  <a:schemeClr val="bg1"/>
                </a:solidFill>
              </a:rPr>
              <a:t>Scripted end-to-end runs of every feature on XAMPP (PHP 8.2) and Docker (PHP 7.4)</a:t>
            </a:r>
            <a:endParaRPr lang="en-US" sz="1500" dirty="0"/>
          </a:p>
          <a:p>
            <a:pPr marL="342900" indent="-342900">
              <a:spcAft>
                <a:spcPts val="800"/>
              </a:spcAft>
              <a:buSzPct val="100000"/>
              <a:buChar char="•"/>
            </a:pPr>
            <a:r>
              <a:rPr lang="en-US" sz="1500" dirty="0">
                <a:solidFill>
                  <a:schemeClr val="bg1"/>
                </a:solidFill>
              </a:rPr>
              <a:t>Each developer tested the other's features</a:t>
            </a:r>
            <a:endParaRPr lang="en-US" sz="1500" dirty="0"/>
          </a:p>
          <a:p>
            <a:pPr marL="342900" indent="-342900">
              <a:spcAft>
                <a:spcPts val="800"/>
              </a:spcAft>
              <a:buSzPct val="100000"/>
              <a:buChar char="•"/>
            </a:pPr>
            <a:r>
              <a:rPr lang="en-US" sz="1500" dirty="0">
                <a:solidFill>
                  <a:schemeClr val="bg1"/>
                </a:solidFill>
              </a:rPr>
              <a:t>Demo data seeder for realistic dashboards, refunds and reports</a:t>
            </a:r>
            <a:endParaRPr lang="en-US" sz="1500" dirty="0"/>
          </a:p>
          <a:p>
            <a:pPr marL="342900" indent="-342900">
              <a:spcAft>
                <a:spcPts val="800"/>
              </a:spcAft>
              <a:buSzPct val="100000"/>
              <a:buChar char="•"/>
            </a:pPr>
            <a:r>
              <a:rPr lang="en-US" sz="1500" dirty="0">
                <a:solidFill>
                  <a:schemeClr val="bg1"/>
                </a:solidFill>
              </a:rPr>
              <a:t>Bugs found were logged and fixed through TEAM_NOTES.md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indow ticket"/>
          <p:cNvSpPr/>
          <p:nvPr/>
        </p:nvSpPr>
        <p:spPr>
          <a:xfrm>
            <a:off x="6796735" y="1932813"/>
            <a:ext cx="4846320" cy="2992374"/>
          </a:xfrm>
          <a:prstGeom prst="roundRect">
            <a:avLst>
              <a:gd name="adj" fmla="val 2445"/>
            </a:avLst>
          </a:prstGeom>
          <a:solidFill>
            <a:schemeClr val="tx2"/>
          </a:solidFill>
          <a:ln w="9525">
            <a:solidFill>
              <a:srgbClr val="3A3B48"/>
            </a:solidFill>
            <a:prstDash val="solid"/>
          </a:ln>
          <a:effectLst>
            <a:outerShdw blurRad="152400" dist="50800" dir="5400000" algn="bl" rotWithShape="0">
              <a:srgbClr val="000000">
                <a:alpha val="45000"/>
              </a:srgbClr>
            </a:outerShdw>
          </a:effectLst>
        </p:spPr>
      </p:sp>
      <p:sp>
        <p:nvSpPr>
          <p:cNvPr id="3" name="Shape 1"/>
          <p:cNvSpPr/>
          <p:nvPr/>
        </p:nvSpPr>
        <p:spPr>
          <a:xfrm>
            <a:off x="6924751" y="2019681"/>
            <a:ext cx="100584" cy="100584"/>
          </a:xfrm>
          <a:prstGeom prst="ellipse">
            <a:avLst/>
          </a:prstGeom>
          <a:solidFill>
            <a:srgbClr val="FF5F57"/>
          </a:solidFill>
          <a:ln w="12700">
            <a:solidFill>
              <a:srgbClr val="FF5F57"/>
            </a:solidFill>
            <a:prstDash val="solid"/>
          </a:ln>
        </p:spPr>
      </p:sp>
      <p:sp>
        <p:nvSpPr>
          <p:cNvPr id="4" name="Shape 2"/>
          <p:cNvSpPr/>
          <p:nvPr/>
        </p:nvSpPr>
        <p:spPr>
          <a:xfrm>
            <a:off x="7080199" y="2019681"/>
            <a:ext cx="100584" cy="100584"/>
          </a:xfrm>
          <a:prstGeom prst="ellipse">
            <a:avLst/>
          </a:prstGeom>
          <a:solidFill>
            <a:srgbClr val="FEBC2E"/>
          </a:solidFill>
          <a:ln w="12700">
            <a:solidFill>
              <a:srgbClr val="FEBC2E"/>
            </a:solidFill>
            <a:prstDash val="solid"/>
          </a:ln>
        </p:spPr>
      </p:sp>
      <p:sp>
        <p:nvSpPr>
          <p:cNvPr id="5" name="Shape 3"/>
          <p:cNvSpPr/>
          <p:nvPr/>
        </p:nvSpPr>
        <p:spPr>
          <a:xfrm>
            <a:off x="7235647" y="2019681"/>
            <a:ext cx="100584" cy="100584"/>
          </a:xfrm>
          <a:prstGeom prst="ellipse">
            <a:avLst/>
          </a:prstGeom>
          <a:solidFill>
            <a:srgbClr val="28C840"/>
          </a:solidFill>
          <a:ln w="12700">
            <a:solidFill>
              <a:srgbClr val="28C840"/>
            </a:solidFill>
            <a:prstDash val="solid"/>
          </a:ln>
        </p:spPr>
      </p:sp>
      <p:pic>
        <p:nvPicPr>
          <p:cNvPr id="6" name="Screenshot ticket" descr="Screenshot: ticket"/>
          <p:cNvPicPr>
            <a:picLocks noChangeAspect="1"/>
          </p:cNvPicPr>
          <p:nvPr/>
        </p:nvPicPr>
        <p:blipFill>
          <a:blip r:embed="rId1"/>
          <a:stretch>
            <a:fillRect/>
          </a:stretch>
        </p:blipFill>
        <p:spPr>
          <a:xfrm>
            <a:off x="6860743" y="2207133"/>
            <a:ext cx="4718304" cy="2654046"/>
          </a:xfrm>
          <a:prstGeom prst="rect">
            <a:avLst/>
          </a:prstGeom>
        </p:spPr>
      </p:pic>
      <p:sp>
        <p:nvSpPr>
          <p:cNvPr id="7" name="Text 4"/>
          <p:cNvSpPr txBox="1"/>
          <p:nvPr/>
        </p:nvSpPr>
        <p:spPr>
          <a:xfrm>
            <a:off x="548640" y="1554480"/>
            <a:ext cx="2743200" cy="1097280"/>
          </a:xfrm>
          <a:prstGeom prst="rect">
            <a:avLst/>
          </a:prstGeom>
          <a:noFill/>
        </p:spPr>
        <p:txBody>
          <a:bodyPr wrap="square" lIns="0" tIns="0" rIns="0" bIns="0" rtlCol="0" anchor="ctr"/>
          <a:lstStyle/>
          <a:p>
            <a:pPr marL="0" indent="0">
              <a:buNone/>
            </a:pPr>
            <a:r>
              <a:rPr lang="en-US" sz="7200" b="1" dirty="0">
                <a:solidFill>
                  <a:schemeClr val="accent1"/>
                </a:solidFill>
                <a:latin typeface="Arial" panose="020B0604020202020204" pitchFamily="34" charset="0"/>
                <a:ea typeface="Arial" panose="020B0604020202020204" pitchFamily="34" charset="-122"/>
                <a:cs typeface="Arial" panose="020B0604020202020204" pitchFamily="34" charset="-120"/>
              </a:rPr>
              <a:t>04</a:t>
            </a:r>
            <a:endParaRPr lang="en-US" sz="7200" dirty="0"/>
          </a:p>
        </p:txBody>
      </p:sp>
      <p:sp>
        <p:nvSpPr>
          <p:cNvPr id="8" name="Text 0"/>
          <p:cNvSpPr/>
          <p:nvPr>
            <p:ph type="title" idx="100" hasCustomPrompt="1"/>
          </p:nvPr>
        </p:nvSpPr>
        <p:spPr>
          <a:xfrm>
            <a:off x="548640" y="2788920"/>
            <a:ext cx="5852160" cy="1097280"/>
          </a:xfrm>
          <a:prstGeom prst="rect">
            <a:avLst/>
          </a:prstGeom>
          <a:noFill/>
        </p:spPr>
        <p:txBody>
          <a:bodyPr wrap="square" lIns="0" tIns="0" rIns="0" bIns="0" rtlCol="0" anchor="t"/>
          <a:lstStyle/>
          <a:p>
            <a:pPr marL="0" indent="0" algn="l">
              <a:buNone/>
            </a:pPr>
            <a:r>
              <a:rPr lang="en-US" sz="4400" b="1" dirty="0">
                <a:solidFill>
                  <a:schemeClr val="bg1"/>
                </a:solidFill>
              </a:rPr>
              <a:t>Conclusion</a:t>
            </a:r>
            <a:endParaRPr lang="en-US" sz="4400" dirty="0"/>
          </a:p>
        </p:txBody>
      </p:sp>
      <p:sp>
        <p:nvSpPr>
          <p:cNvPr id="9" name="Text 0"/>
          <p:cNvSpPr/>
          <p:nvPr>
            <p:ph type="body" idx="101" hasCustomPrompt="1"/>
          </p:nvPr>
        </p:nvSpPr>
        <p:spPr>
          <a:xfrm>
            <a:off x="548640" y="3931920"/>
            <a:ext cx="5669280" cy="1097280"/>
          </a:xfrm>
          <a:prstGeom prst="rect">
            <a:avLst/>
          </a:prstGeom>
          <a:noFill/>
        </p:spPr>
        <p:txBody>
          <a:bodyPr wrap="square" lIns="0" tIns="0" rIns="0" bIns="0" rtlCol="0" anchor="t"/>
          <a:lstStyle/>
          <a:p>
            <a:pPr marL="0" indent="0">
              <a:buNone/>
            </a:pPr>
            <a:r>
              <a:rPr lang="en-US" sz="1800" dirty="0">
                <a:solidFill>
                  <a:schemeClr val="bg2"/>
                </a:solidFill>
              </a:rPr>
              <a:t>Team, limitations, future work and questions</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4415" cy="731520"/>
          </a:xfrm>
          <a:prstGeom prst="rect">
            <a:avLst/>
          </a:prstGeom>
          <a:noFill/>
        </p:spPr>
        <p:txBody>
          <a:bodyPr wrap="square" lIns="0" tIns="0" rIns="0" bIns="0" rtlCol="0" anchor="ctr"/>
          <a:lstStyle/>
          <a:p>
            <a:pPr marL="0" indent="0" algn="l">
              <a:buNone/>
            </a:pPr>
            <a:r>
              <a:rPr lang="en-US" sz="3200" b="1" dirty="0">
                <a:solidFill>
                  <a:schemeClr val="bg1"/>
                </a:solidFill>
              </a:rPr>
              <a:t>Team and contributions</a:t>
            </a:r>
            <a:endParaRPr lang="en-US" sz="3200" dirty="0"/>
          </a:p>
        </p:txBody>
      </p:sp>
      <p:sp>
        <p:nvSpPr>
          <p:cNvPr id="3" name="Shape 1"/>
          <p:cNvSpPr/>
          <p:nvPr/>
        </p:nvSpPr>
        <p:spPr>
          <a:xfrm>
            <a:off x="548640" y="1417320"/>
            <a:ext cx="5364328" cy="4206240"/>
          </a:xfrm>
          <a:prstGeom prst="roundRect">
            <a:avLst>
              <a:gd name="adj" fmla="val 2174"/>
            </a:avLst>
          </a:prstGeom>
          <a:solidFill>
            <a:schemeClr val="tx2"/>
          </a:solidFill>
          <a:ln w="9525">
            <a:solidFill>
              <a:srgbClr val="3A3B48"/>
            </a:solidFill>
            <a:prstDash val="solid"/>
          </a:ln>
        </p:spPr>
      </p:sp>
      <p:sp>
        <p:nvSpPr>
          <p:cNvPr id="4" name="Shape 2"/>
          <p:cNvSpPr/>
          <p:nvPr/>
        </p:nvSpPr>
        <p:spPr>
          <a:xfrm>
            <a:off x="868680" y="1645920"/>
            <a:ext cx="868680" cy="868680"/>
          </a:xfrm>
          <a:prstGeom prst="ellipse">
            <a:avLst/>
          </a:prstGeom>
          <a:solidFill>
            <a:schemeClr val="accent1"/>
          </a:solidFill>
          <a:ln w="12700">
            <a:solidFill>
              <a:srgbClr val="FF4F9A"/>
            </a:solidFill>
            <a:prstDash val="solid"/>
          </a:ln>
        </p:spPr>
      </p:sp>
      <p:sp>
        <p:nvSpPr>
          <p:cNvPr id="5" name="Text 3"/>
          <p:cNvSpPr txBox="1"/>
          <p:nvPr/>
        </p:nvSpPr>
        <p:spPr>
          <a:xfrm>
            <a:off x="868680" y="1645920"/>
            <a:ext cx="868680" cy="868680"/>
          </a:xfrm>
          <a:prstGeom prst="rect">
            <a:avLst/>
          </a:prstGeom>
          <a:noFill/>
        </p:spPr>
        <p:txBody>
          <a:bodyPr wrap="square" lIns="0" tIns="0" rIns="0" bIns="0" rtlCol="0" anchor="ctr"/>
          <a:lstStyle/>
          <a:p>
            <a:pPr marL="0" indent="0" algn="ctr">
              <a:buNone/>
            </a:pPr>
            <a:r>
              <a:rPr lang="en-US" sz="2400" b="1" dirty="0">
                <a:solidFill>
                  <a:schemeClr val="bg1"/>
                </a:solidFill>
              </a:rPr>
              <a:t>AR</a:t>
            </a:r>
            <a:endParaRPr lang="en-US" sz="2400" dirty="0"/>
          </a:p>
        </p:txBody>
      </p:sp>
      <p:sp>
        <p:nvSpPr>
          <p:cNvPr id="6" name="Text 4"/>
          <p:cNvSpPr txBox="1"/>
          <p:nvPr/>
        </p:nvSpPr>
        <p:spPr>
          <a:xfrm>
            <a:off x="1920240" y="1645920"/>
            <a:ext cx="3718408" cy="868680"/>
          </a:xfrm>
          <a:prstGeom prst="rect">
            <a:avLst/>
          </a:prstGeom>
          <a:noFill/>
        </p:spPr>
        <p:txBody>
          <a:bodyPr wrap="square" lIns="0" tIns="0" rIns="0" bIns="0" rtlCol="0" anchor="ctr"/>
          <a:lstStyle/>
          <a:p>
            <a:pPr marL="0" indent="0">
              <a:buNone/>
            </a:pPr>
            <a:r>
              <a:rPr lang="en-US" sz="2200" b="1" dirty="0">
                <a:solidFill>
                  <a:schemeClr val="bg1"/>
                </a:solidFill>
              </a:rPr>
              <a:t>Abdul Rafay</a:t>
            </a:r>
            <a:endParaRPr lang="en-US" sz="2200" dirty="0"/>
          </a:p>
          <a:p>
            <a:pPr marL="0" indent="0">
              <a:buNone/>
            </a:pPr>
            <a:r>
              <a:rPr lang="en-US" sz="1500" dirty="0">
                <a:solidFill>
                  <a:schemeClr val="bg2"/>
                </a:solidFill>
              </a:rPr>
              <a:t>Core booking engine and operations</a:t>
            </a:r>
            <a:endParaRPr lang="en-US" sz="2200" dirty="0"/>
          </a:p>
        </p:txBody>
      </p:sp>
      <p:sp>
        <p:nvSpPr>
          <p:cNvPr id="7" name="Text 5"/>
          <p:cNvSpPr txBox="1"/>
          <p:nvPr/>
        </p:nvSpPr>
        <p:spPr>
          <a:xfrm>
            <a:off x="868680" y="2743200"/>
            <a:ext cx="4724248" cy="2743200"/>
          </a:xfrm>
          <a:prstGeom prst="rect">
            <a:avLst/>
          </a:prstGeom>
          <a:noFill/>
        </p:spPr>
        <p:txBody>
          <a:bodyPr wrap="square" lIns="0" tIns="0" rIns="0" bIns="0" rtlCol="0" anchor="t"/>
          <a:lstStyle/>
          <a:p>
            <a:pPr marL="342900" indent="-342900">
              <a:spcAft>
                <a:spcPts val="800"/>
              </a:spcAft>
              <a:buSzPct val="100000"/>
              <a:buChar char="•"/>
            </a:pPr>
            <a:r>
              <a:rPr lang="en-US" sz="1600" dirty="0">
                <a:solidFill>
                  <a:schemeClr val="bg1"/>
                </a:solidFill>
              </a:rPr>
              <a:t>Database design and migrations</a:t>
            </a:r>
            <a:endParaRPr lang="en-US" sz="1600" dirty="0"/>
          </a:p>
          <a:p>
            <a:pPr marL="342900" indent="-342900">
              <a:spcAft>
                <a:spcPts val="800"/>
              </a:spcAft>
              <a:buSzPct val="100000"/>
              <a:buChar char="•"/>
            </a:pPr>
            <a:r>
              <a:rPr lang="en-US" sz="1600" dirty="0">
                <a:solidFill>
                  <a:schemeClr val="bg1"/>
                </a:solidFill>
              </a:rPr>
              <a:t>Shows, seat map and seat holds</a:t>
            </a:r>
            <a:endParaRPr lang="en-US" sz="1600" dirty="0"/>
          </a:p>
          <a:p>
            <a:pPr marL="342900" indent="-342900">
              <a:spcAft>
                <a:spcPts val="800"/>
              </a:spcAft>
              <a:buSzPct val="100000"/>
              <a:buChar char="•"/>
            </a:pPr>
            <a:r>
              <a:rPr lang="en-US" sz="1600" dirty="0">
                <a:solidFill>
                  <a:schemeClr val="bg1"/>
                </a:solidFill>
              </a:rPr>
              <a:t>Checkout, payment, e-tickets and QR scanner</a:t>
            </a:r>
            <a:endParaRPr lang="en-US" sz="1600" dirty="0"/>
          </a:p>
          <a:p>
            <a:pPr marL="342900" indent="-342900">
              <a:spcAft>
                <a:spcPts val="800"/>
              </a:spcAft>
              <a:buSzPct val="100000"/>
              <a:buChar char="•"/>
            </a:pPr>
            <a:r>
              <a:rPr lang="en-US" sz="1600" dirty="0">
                <a:solidFill>
                  <a:schemeClr val="bg1"/>
                </a:solidFill>
              </a:rPr>
              <a:t>Cancellations and refunds</a:t>
            </a:r>
            <a:endParaRPr lang="en-US" sz="1600" dirty="0"/>
          </a:p>
          <a:p>
            <a:pPr marL="342900" indent="-342900">
              <a:spcAft>
                <a:spcPts val="800"/>
              </a:spcAft>
              <a:buSzPct val="100000"/>
              <a:buChar char="•"/>
            </a:pPr>
            <a:r>
              <a:rPr lang="en-US" sz="1600" dirty="0">
                <a:solidFill>
                  <a:schemeClr val="bg1"/>
                </a:solidFill>
              </a:rPr>
              <a:t>Dashboard, reports, live search, TMDB catalog</a:t>
            </a:r>
            <a:endParaRPr lang="en-US" sz="1600" dirty="0"/>
          </a:p>
        </p:txBody>
      </p:sp>
      <p:sp>
        <p:nvSpPr>
          <p:cNvPr id="8" name="Shape 6"/>
          <p:cNvSpPr/>
          <p:nvPr/>
        </p:nvSpPr>
        <p:spPr>
          <a:xfrm>
            <a:off x="6278728" y="1417320"/>
            <a:ext cx="5364328" cy="4206240"/>
          </a:xfrm>
          <a:prstGeom prst="roundRect">
            <a:avLst>
              <a:gd name="adj" fmla="val 2174"/>
            </a:avLst>
          </a:prstGeom>
          <a:solidFill>
            <a:schemeClr val="tx2"/>
          </a:solidFill>
          <a:ln w="9525">
            <a:solidFill>
              <a:srgbClr val="3A3B48"/>
            </a:solidFill>
            <a:prstDash val="solid"/>
          </a:ln>
        </p:spPr>
      </p:sp>
      <p:sp>
        <p:nvSpPr>
          <p:cNvPr id="9" name="Shape 7"/>
          <p:cNvSpPr/>
          <p:nvPr/>
        </p:nvSpPr>
        <p:spPr>
          <a:xfrm>
            <a:off x="6598768" y="1645920"/>
            <a:ext cx="868680" cy="868680"/>
          </a:xfrm>
          <a:prstGeom prst="ellipse">
            <a:avLst/>
          </a:prstGeom>
          <a:solidFill>
            <a:schemeClr val="accent2"/>
          </a:solidFill>
          <a:ln w="12700">
            <a:solidFill>
              <a:srgbClr val="8B5CF6"/>
            </a:solidFill>
            <a:prstDash val="solid"/>
          </a:ln>
        </p:spPr>
      </p:sp>
      <p:sp>
        <p:nvSpPr>
          <p:cNvPr id="10" name="Text 8"/>
          <p:cNvSpPr txBox="1"/>
          <p:nvPr/>
        </p:nvSpPr>
        <p:spPr>
          <a:xfrm>
            <a:off x="6598768" y="1645920"/>
            <a:ext cx="868680" cy="868680"/>
          </a:xfrm>
          <a:prstGeom prst="rect">
            <a:avLst/>
          </a:prstGeom>
          <a:noFill/>
        </p:spPr>
        <p:txBody>
          <a:bodyPr wrap="square" lIns="0" tIns="0" rIns="0" bIns="0" rtlCol="0" anchor="ctr"/>
          <a:lstStyle/>
          <a:p>
            <a:pPr marL="0" indent="0" algn="ctr">
              <a:buNone/>
            </a:pPr>
            <a:r>
              <a:rPr lang="en-US" sz="2400" b="1" dirty="0">
                <a:solidFill>
                  <a:schemeClr val="bg1"/>
                </a:solidFill>
              </a:rPr>
              <a:t>U</a:t>
            </a:r>
            <a:endParaRPr lang="en-US" sz="2400" dirty="0"/>
          </a:p>
        </p:txBody>
      </p:sp>
      <p:sp>
        <p:nvSpPr>
          <p:cNvPr id="11" name="Text 9"/>
          <p:cNvSpPr txBox="1"/>
          <p:nvPr/>
        </p:nvSpPr>
        <p:spPr>
          <a:xfrm>
            <a:off x="7650328" y="1645920"/>
            <a:ext cx="3718408" cy="868680"/>
          </a:xfrm>
          <a:prstGeom prst="rect">
            <a:avLst/>
          </a:prstGeom>
          <a:noFill/>
        </p:spPr>
        <p:txBody>
          <a:bodyPr wrap="square" lIns="0" tIns="0" rIns="0" bIns="0" rtlCol="0" anchor="ctr"/>
          <a:lstStyle/>
          <a:p>
            <a:pPr marL="0" indent="0">
              <a:buNone/>
            </a:pPr>
            <a:r>
              <a:rPr lang="en-US" sz="2200" b="1" dirty="0">
                <a:solidFill>
                  <a:schemeClr val="bg1"/>
                </a:solidFill>
              </a:rPr>
              <a:t>Umair</a:t>
            </a:r>
            <a:endParaRPr lang="en-US" sz="2200" dirty="0"/>
          </a:p>
          <a:p>
            <a:pPr marL="0" indent="0">
              <a:buNone/>
            </a:pPr>
            <a:r>
              <a:rPr lang="en-US" sz="1500" dirty="0">
                <a:solidFill>
                  <a:schemeClr val="bg2"/>
                </a:solidFill>
              </a:rPr>
              <a:t>Admin management and customer account</a:t>
            </a:r>
            <a:endParaRPr lang="en-US" sz="2200" dirty="0"/>
          </a:p>
        </p:txBody>
      </p:sp>
      <p:sp>
        <p:nvSpPr>
          <p:cNvPr id="12" name="Text 10"/>
          <p:cNvSpPr txBox="1"/>
          <p:nvPr/>
        </p:nvSpPr>
        <p:spPr>
          <a:xfrm>
            <a:off x="6598768" y="2743200"/>
            <a:ext cx="4724248" cy="2743200"/>
          </a:xfrm>
          <a:prstGeom prst="rect">
            <a:avLst/>
          </a:prstGeom>
          <a:noFill/>
        </p:spPr>
        <p:txBody>
          <a:bodyPr wrap="square" lIns="0" tIns="0" rIns="0" bIns="0" rtlCol="0" anchor="t"/>
          <a:lstStyle/>
          <a:p>
            <a:pPr marL="342900" indent="-342900">
              <a:spcAft>
                <a:spcPts val="800"/>
              </a:spcAft>
              <a:buSzPct val="100000"/>
              <a:buChar char="•"/>
            </a:pPr>
            <a:r>
              <a:rPr lang="en-US" sz="1600" dirty="0">
                <a:solidFill>
                  <a:schemeClr val="bg1"/>
                </a:solidFill>
              </a:rPr>
              <a:t>Admin pages: movies, prices, snacks, promo codes</a:t>
            </a:r>
            <a:endParaRPr lang="en-US" sz="1600" dirty="0"/>
          </a:p>
          <a:p>
            <a:pPr marL="342900" indent="-342900">
              <a:spcAft>
                <a:spcPts val="800"/>
              </a:spcAft>
              <a:buSzPct val="100000"/>
              <a:buChar char="•"/>
            </a:pPr>
            <a:r>
              <a:rPr lang="en-US" sz="1600" dirty="0">
                <a:solidFill>
                  <a:schemeClr val="bg1"/>
                </a:solidFill>
              </a:rPr>
              <a:t>Coming soon, users, reviews, messages, activity log</a:t>
            </a:r>
            <a:endParaRPr lang="en-US" sz="1600" dirty="0"/>
          </a:p>
          <a:p>
            <a:pPr marL="342900" indent="-342900">
              <a:spcAft>
                <a:spcPts val="800"/>
              </a:spcAft>
              <a:buSzPct val="100000"/>
              <a:buChar char="•"/>
            </a:pPr>
            <a:r>
              <a:rPr lang="en-US" sz="1600" dirty="0">
                <a:solidFill>
                  <a:schemeClr val="bg1"/>
                </a:solidFill>
              </a:rPr>
              <a:t>Sign up, profile, favorites, reviews and ratings</a:t>
            </a:r>
            <a:endParaRPr lang="en-US" sz="1600" dirty="0"/>
          </a:p>
          <a:p>
            <a:pPr marL="342900" indent="-342900">
              <a:spcAft>
                <a:spcPts val="800"/>
              </a:spcAft>
              <a:buSzPct val="100000"/>
              <a:buChar char="•"/>
            </a:pPr>
            <a:r>
              <a:rPr lang="en-US" sz="1600" dirty="0">
                <a:solidFill>
                  <a:schemeClr val="bg1"/>
                </a:solidFill>
              </a:rPr>
              <a:t>Contact form, navbar, footer, about, FAQ, pricing</a:t>
            </a:r>
            <a:endParaRPr lang="en-US" sz="1600" dirty="0"/>
          </a:p>
          <a:p>
            <a:pPr marL="342900" indent="-342900">
              <a:spcAft>
                <a:spcPts val="800"/>
              </a:spcAft>
              <a:buSzPct val="100000"/>
              <a:buChar char="•"/>
            </a:pPr>
            <a:r>
              <a:rPr lang="en-US" sz="1600" dirty="0">
                <a:solidFill>
                  <a:schemeClr val="bg1"/>
                </a:solidFill>
              </a:rPr>
              <a:t>Secure image uploads and admin auth guards</a:t>
            </a:r>
            <a:endParaRPr lang="en-US" sz="1600" dirty="0"/>
          </a:p>
        </p:txBody>
      </p:sp>
      <p:sp>
        <p:nvSpPr>
          <p:cNvPr id="13" name="Text 11"/>
          <p:cNvSpPr txBox="1"/>
          <p:nvPr/>
        </p:nvSpPr>
        <p:spPr>
          <a:xfrm>
            <a:off x="548640" y="5760720"/>
            <a:ext cx="11094415" cy="457200"/>
          </a:xfrm>
          <a:prstGeom prst="rect">
            <a:avLst/>
          </a:prstGeom>
          <a:noFill/>
        </p:spPr>
        <p:txBody>
          <a:bodyPr wrap="square" lIns="0" tIns="0" rIns="0" bIns="0" rtlCol="0" anchor="ctr"/>
          <a:lstStyle/>
          <a:p>
            <a:pPr marL="0" indent="0">
              <a:buNone/>
            </a:pPr>
            <a:r>
              <a:rPr lang="en-US" sz="1400" i="1" dirty="0">
                <a:solidFill>
                  <a:schemeClr val="bg2"/>
                </a:solidFill>
              </a:rPr>
              <a:t>Worked on one GitHub repository with clear file ownership (TEAM_NOTES.md), numbered SQL migrations and a shared schema contract.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bg2"/>
                </a:solidFill>
              </a:defRPr>
            </a:lvl1pPr>
          </a:lstStyle>
          <a:p>
            <a:pPr algn="r"/>
            <a:fld id="{F7021451-1387-4CA6-816F-3879F97B5CBC}" type="slidenum">
              <a:rPr lang="en-US" b="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Seat map"/>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chemeClr val="tx1">
              <a:alpha val="88000"/>
            </a:schemeClr>
          </a:solidFill>
          <a:ln w="12700">
            <a:solidFill>
              <a:srgbClr val="14151B"/>
            </a:solidFill>
            <a:prstDash val="solid"/>
          </a:ln>
        </p:spPr>
      </p:sp>
      <p:sp>
        <p:nvSpPr>
          <p:cNvPr id="4" name="Text 0"/>
          <p:cNvSpPr/>
          <p:nvPr>
            <p:ph type="title" idx="100" hasCustomPrompt="1"/>
          </p:nvPr>
        </p:nvSpPr>
        <p:spPr>
          <a:xfrm>
            <a:off x="548640" y="2148840"/>
            <a:ext cx="6949440" cy="1737360"/>
          </a:xfrm>
          <a:prstGeom prst="rect">
            <a:avLst/>
          </a:prstGeom>
          <a:noFill/>
        </p:spPr>
        <p:txBody>
          <a:bodyPr wrap="square" lIns="0" tIns="0" rIns="0" bIns="0" rtlCol="0" anchor="b"/>
          <a:lstStyle/>
          <a:p>
            <a:pPr marL="0" indent="0" algn="l">
              <a:buNone/>
            </a:pPr>
            <a:r>
              <a:rPr lang="en-US" sz="4800" b="1" dirty="0">
                <a:solidFill>
                  <a:schemeClr val="bg1"/>
                </a:solidFill>
              </a:rPr>
              <a:t>Thank you</a:t>
            </a:r>
            <a:endParaRPr lang="en-US" sz="4800" dirty="0"/>
          </a:p>
        </p:txBody>
      </p:sp>
      <p:sp>
        <p:nvSpPr>
          <p:cNvPr id="5" name="Text 0"/>
          <p:cNvSpPr/>
          <p:nvPr>
            <p:ph type="body" idx="101" hasCustomPrompt="1"/>
          </p:nvPr>
        </p:nvSpPr>
        <p:spPr>
          <a:xfrm>
            <a:off x="548640" y="4023360"/>
            <a:ext cx="6583680" cy="914400"/>
          </a:xfrm>
          <a:prstGeom prst="rect">
            <a:avLst/>
          </a:prstGeom>
          <a:noFill/>
        </p:spPr>
        <p:txBody>
          <a:bodyPr wrap="square" lIns="0" tIns="0" rIns="0" bIns="0" rtlCol="0" anchor="t"/>
          <a:lstStyle/>
          <a:p>
            <a:pPr marL="0" indent="0">
              <a:buNone/>
            </a:pPr>
            <a:r>
              <a:rPr lang="en-US" sz="2000" dirty="0">
                <a:solidFill>
                  <a:schemeClr val="bg2"/>
                </a:solidFill>
              </a:rPr>
              <a:t>CineMax Karachi delivers the full cinema journey online: safe seat booking, payments, QR e-tickets and a complete admin panel. Questions?</a:t>
            </a:r>
            <a:endParaRPr lang="en-US" sz="2000" dirty="0"/>
          </a:p>
        </p:txBody>
      </p:sp>
      <p:sp>
        <p:nvSpPr>
          <p:cNvPr id="7" name="Text 4"/>
          <p:cNvSpPr txBox="1"/>
          <p:nvPr/>
        </p:nvSpPr>
        <p:spPr>
          <a:xfrm>
            <a:off x="8412480" y="2331720"/>
            <a:ext cx="2956255" cy="457200"/>
          </a:xfrm>
          <a:prstGeom prst="rect">
            <a:avLst/>
          </a:prstGeom>
          <a:noFill/>
        </p:spPr>
        <p:txBody>
          <a:bodyPr wrap="square" lIns="0" tIns="0" rIns="0" bIns="0" rtlCol="0" anchor="ctr"/>
          <a:lstStyle/>
          <a:p>
            <a:pPr marL="0" indent="0">
              <a:buNone/>
            </a:pPr>
            <a:r>
              <a:rPr lang="en-US" sz="1800" b="1" dirty="0">
                <a:solidFill>
                  <a:schemeClr val="accent1"/>
                </a:solidFill>
              </a:rPr>
              <a:t>Try it yourself</a:t>
            </a:r>
            <a:endParaRPr lang="en-US" sz="1800" dirty="0"/>
          </a:p>
        </p:txBody>
      </p:sp>
      <p:sp>
        <p:nvSpPr>
          <p:cNvPr id="8" name="Text 5"/>
          <p:cNvSpPr txBox="1"/>
          <p:nvPr/>
        </p:nvSpPr>
        <p:spPr>
          <a:xfrm>
            <a:off x="8412480" y="2834640"/>
            <a:ext cx="2956255" cy="2331720"/>
          </a:xfrm>
          <a:prstGeom prst="rect">
            <a:avLst/>
          </a:prstGeom>
          <a:noFill/>
        </p:spPr>
        <p:txBody>
          <a:bodyPr wrap="square" lIns="0" tIns="0" rIns="0" bIns="0" rtlCol="0" anchor="t"/>
          <a:lstStyle/>
          <a:p>
            <a:pPr marL="0" indent="0">
              <a:spcAft>
                <a:spcPts val="300"/>
              </a:spcAft>
              <a:buNone/>
            </a:pPr>
            <a:r>
              <a:rPr lang="en-US" sz="1500" b="1" dirty="0">
                <a:solidFill>
                  <a:schemeClr val="bg1"/>
                </a:solidFill>
              </a:rPr>
              <a:t>Customer</a:t>
            </a:r>
            <a:endParaRPr lang="en-US" sz="1500" dirty="0"/>
          </a:p>
          <a:p>
            <a:pPr marL="0" indent="0">
              <a:spcAft>
                <a:spcPts val="300"/>
              </a:spcAft>
              <a:buNone/>
            </a:pPr>
            <a:r>
              <a:rPr lang="en-US" sz="1500" dirty="0">
                <a:solidFill>
                  <a:schemeClr val="bg2"/>
                </a:solidFill>
              </a:rPr>
              <a:t>Demo@outlook.com / 123</a:t>
            </a:r>
            <a:endParaRPr lang="en-US" sz="1500" dirty="0"/>
          </a:p>
          <a:p>
            <a:pPr marL="0" indent="0">
              <a:spcAft>
                <a:spcPts val="300"/>
              </a:spcAft>
              <a:buNone/>
            </a:pPr>
            <a:r>
              <a:rPr lang="en-US" sz="1500" b="1" dirty="0">
                <a:solidFill>
                  <a:schemeClr val="bg1"/>
                </a:solidFill>
              </a:rPr>
              <a:t>Admin  (/Admin)</a:t>
            </a:r>
            <a:endParaRPr lang="en-US" sz="1500" dirty="0"/>
          </a:p>
          <a:p>
            <a:pPr marL="0" indent="0">
              <a:spcAft>
                <a:spcPts val="300"/>
              </a:spcAft>
              <a:buNone/>
            </a:pPr>
            <a:r>
              <a:rPr lang="en-US" sz="1500" dirty="0">
                <a:solidFill>
                  <a:schemeClr val="bg2"/>
                </a:solidFill>
              </a:rPr>
              <a:t>admin@gmail.com / 12345</a:t>
            </a:r>
            <a:endParaRPr lang="en-US" sz="1500" dirty="0"/>
          </a:p>
          <a:p>
            <a:pPr marL="0" indent="0">
              <a:spcAft>
                <a:spcPts val="300"/>
              </a:spcAft>
              <a:buNone/>
            </a:pPr>
            <a:r>
              <a:rPr lang="en-US" sz="1500" b="1" dirty="0">
                <a:solidFill>
                  <a:schemeClr val="bg1"/>
                </a:solidFill>
              </a:rPr>
              <a:t>Test card</a:t>
            </a:r>
            <a:endParaRPr lang="en-US" sz="1500" dirty="0"/>
          </a:p>
          <a:p>
            <a:pPr marL="0" indent="0">
              <a:spcAft>
                <a:spcPts val="300"/>
              </a:spcAft>
              <a:buNone/>
            </a:pPr>
            <a:r>
              <a:rPr lang="en-US" sz="1500" dirty="0">
                <a:solidFill>
                  <a:schemeClr val="bg2"/>
                </a:solidFill>
              </a:rPr>
              <a:t>4242 4242 4242 4242, 12/28, 123</a:t>
            </a:r>
            <a:endParaRPr lang="en-US" sz="1500" dirty="0"/>
          </a:p>
        </p:txBody>
      </p:sp>
    </p:spTree>
  </p:cSld>
  <p:clrMapOvr>
    <a:masterClrMapping/>
  </p:clrMapOvr>
</p:sld>
</file>

<file path=ppt/theme/theme1.xml><?xml version="1.0" encoding="utf-8"?>
<a:theme xmlns:a="http://schemas.openxmlformats.org/drawingml/2006/main" name="CineMax Karachi">
  <a:themeElements>
    <a:clrScheme name="CineMax Karachi">
      <a:dk1>
        <a:srgbClr val="14151B"/>
      </a:dk1>
      <a:lt1>
        <a:srgbClr val="FFFFFF"/>
      </a:lt1>
      <a:dk2>
        <a:srgbClr val="23242E"/>
      </a:dk2>
      <a:lt2>
        <a:srgbClr val="A9ABB8"/>
      </a:lt2>
      <a:accent1>
        <a:srgbClr val="FF4F9A"/>
      </a:accent1>
      <a:accent2>
        <a:srgbClr val="8B5CF6"/>
      </a:accent2>
      <a:accent3>
        <a:srgbClr val="F5B83D"/>
      </a:accent3>
      <a:accent4>
        <a:srgbClr val="3B82F6"/>
      </a:accent4>
      <a:accent5>
        <a:srgbClr val="22C55E"/>
      </a:accent5>
      <a:accent6>
        <a:srgbClr val="F97316"/>
      </a:accent6>
      <a:hlink>
        <a:srgbClr val="FF4F9A"/>
      </a:hlink>
      <a:folHlink>
        <a:srgbClr val="C084FC"/>
      </a:folHlink>
    </a:clrScheme>
    <a:fontScheme name="CineMax Karach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ineMax Karachi">
  <a:themeElements>
    <a:clrScheme name="CineMax Karachi">
      <a:dk1>
        <a:srgbClr val="14151B"/>
      </a:dk1>
      <a:lt1>
        <a:srgbClr val="FFFFFF"/>
      </a:lt1>
      <a:dk2>
        <a:srgbClr val="23242E"/>
      </a:dk2>
      <a:lt2>
        <a:srgbClr val="A9ABB8"/>
      </a:lt2>
      <a:accent1>
        <a:srgbClr val="FF4F9A"/>
      </a:accent1>
      <a:accent2>
        <a:srgbClr val="8B5CF6"/>
      </a:accent2>
      <a:accent3>
        <a:srgbClr val="F5B83D"/>
      </a:accent3>
      <a:accent4>
        <a:srgbClr val="3B82F6"/>
      </a:accent4>
      <a:accent5>
        <a:srgbClr val="22C55E"/>
      </a:accent5>
      <a:accent6>
        <a:srgbClr val="F97316"/>
      </a:accent6>
      <a:hlink>
        <a:srgbClr val="FF4F9A"/>
      </a:hlink>
      <a:folHlink>
        <a:srgbClr val="C084FC"/>
      </a:folHlink>
    </a:clrScheme>
    <a:fontScheme name="CineMax Karach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12850</Words>
  <Application>WPS Presentation</Application>
  <PresentationFormat>On-screen Show (16:9)</PresentationFormat>
  <Paragraphs>791</Paragraphs>
  <Slides>38</Slides>
  <Notes>39</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38</vt:i4>
      </vt:variant>
    </vt:vector>
  </HeadingPairs>
  <TitlesOfParts>
    <vt:vector size="51" baseType="lpstr">
      <vt:lpstr>Arial</vt:lpstr>
      <vt:lpstr>SimSun</vt:lpstr>
      <vt:lpstr>Wingdings</vt:lpstr>
      <vt:lpstr>Arial</vt:lpstr>
      <vt:lpstr>Arial</vt:lpstr>
      <vt:lpstr>Courier New</vt:lpstr>
      <vt:lpstr>Courier New</vt:lpstr>
      <vt:lpstr>Courier New</vt:lpstr>
      <vt:lpstr>Calibri</vt:lpstr>
      <vt:lpstr>Microsoft YaHei</vt:lpstr>
      <vt:lpstr>Arial Unicode MS</vt:lpstr>
      <vt:lpstr>Arial</vt:lpstr>
      <vt:lpstr>CineMax Karachi</vt:lpstr>
      <vt:lpstr>CineMax Karachi</vt:lpstr>
      <vt:lpstr>Agenda</vt:lpstr>
      <vt:lpstr>The problem with buying cinema tickets today</vt:lpstr>
      <vt:lpstr>The solution: one database, two applications</vt:lpstr>
      <vt:lpstr>Technology stack</vt:lpstr>
      <vt:lpstr>System architecture</vt:lpstr>
      <vt:lpstr>Database design: 21 tables in 4 groups</vt:lpstr>
      <vt:lpstr>Customer website</vt:lpstr>
      <vt:lpstr>The booking journey in six steps</vt:lpstr>
      <vt:lpstr>Home page and Now Showing</vt:lpstr>
      <vt:lpstr>Live search and smart filters</vt:lpstr>
      <vt:lpstr>Movie details, ratings and reviews</vt:lpstr>
      <vt:lpstr>Choosing a show</vt:lpstr>
      <vt:lpstr>Interactive seat map</vt:lpstr>
      <vt:lpstr>Checkout: snacks and promo codes</vt:lpstr>
      <vt:lpstr>Payment: card and mobile wallets</vt:lpstr>
      <vt:lpstr>E-ticket with QR code</vt:lpstr>
      <vt:lpstr>My Bookings and cancellations</vt:lpstr>
      <vt:lpstr>Profile, favorites and Coming Soon</vt:lpstr>
      <vt:lpstr>Admin panel</vt:lpstr>
      <vt:lpstr>Secure admin login</vt:lpstr>
      <vt:lpstr>Dashboard: the cinema at a glance</vt:lpstr>
      <vt:lpstr>Real data from the running system</vt:lpstr>
      <vt:lpstr>Movie catalog management</vt:lpstr>
      <vt:lpstr>Shows and schedules</vt:lpstr>
      <vt:lpstr>All bookings and refund decisions</vt:lpstr>
      <vt:lpstr>QR ticket scanner at the door</vt:lpstr>
      <vt:lpstr>Sales reports</vt:lpstr>
      <vt:lpstr>Snacks, promo codes and Coming Soon</vt:lpstr>
      <vt:lpstr>Users, review moderation and activity log</vt:lpstr>
      <vt:lpstr>Engineering</vt:lpstr>
      <vt:lpstr>No seat can ever be sold twice</vt:lpstr>
      <vt:lpstr>Security built into every page</vt:lpstr>
      <vt:lpstr>Business rules in numbers</vt:lpstr>
      <vt:lpstr>Testing: end-to-end scenarios</vt:lpstr>
      <vt:lpstr>Conclusion</vt:lpstr>
      <vt:lpstr>Team and contributions</vt:lpstr>
      <vt:lpstr>Thank you</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CineMax Karachi - Online Movie Ticket Booking System</dc:title>
  <dc:creator>Abdul Rafay and Umair</dc:creator>
  <dc:subject>Final Year Project 2026</dc:subject>
  <cp:lastModifiedBy>Rafay</cp:lastModifiedBy>
  <cp:revision>3</cp:revision>
  <dcterms:created xsi:type="dcterms:W3CDTF">2026-10-06T10:01:00Z</dcterms:created>
  <dcterms:modified xsi:type="dcterms:W3CDTF">2026-10-06T10:08:59Z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3F0EBBCBC31B461B950533AB977CA38C_12</vt:lpwstr>
  </property>
  <property fmtid="{D5CDD505-2E9C-101B-9397-08002B2CF9AE}" pid="3" name="KSOProductBuildVer">
    <vt:lpwstr>1033-12.1.0.28485</vt:lpwstr>
  </property>
</Properties>
</file>